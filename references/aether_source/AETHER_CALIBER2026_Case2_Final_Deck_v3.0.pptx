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ikm8cehwtqhwUraU0qgx3a2pAS5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2E4A7D4-D2CB-402E-B673-409BCF92103C}">
  <a:tblStyle styleId="{E2E4A7D4-D2CB-402E-B673-409BCF92103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are [team name]. Our solution for CALIBER 2026 Case 2 is AETHER: operational decision intelligence for manufacturing. It turns fragmented plant signals into evidence-grounded, accountable action.</a:t>
            </a:r>
            <a:endParaRPr/>
          </a:p>
        </p:txBody>
      </p:sp>
      <p:sp>
        <p:nvSpPr>
          <p:cNvPr id="29" name="Google Shape;2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 name="Google Shape;4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case data is rich: 380 incidents, over 2,200 downtime hours, about 62 million dollars of actual loss. The investigations themselves are strong. Yet every one of the five verified RCAs names a signal that was not monitored, trended, alerted or visible. Risk tier alone does not track loss. And most follow-up actions are still recorded open. The information exists. It just does not meet at the moment of decision.</a:t>
            </a:r>
            <a:br>
              <a:rPr lang="en-US"/>
            </a:br>
            <a:br>
              <a:rPr lang="en-US"/>
            </a:br>
            <a:r>
              <a:rPr lang="en-US"/>
              <a:t>If asked: 220 of 380 incidents (57.9%) were not closed or canceled at the snapshot (Appendix A1).</a:t>
            </a:r>
            <a:br>
              <a:rPr lang="en-US"/>
            </a:br>
            <a:br>
              <a:rPr lang="en-US"/>
            </a:br>
            <a:r>
              <a:rPr lang="en-US"/>
              <a:t>Caution: say 'at the snapshot', never 'overdue'. Do not say dashboards are redundant or that attention is misallocated.</a:t>
            </a:r>
            <a:endParaRPr/>
          </a:p>
        </p:txBody>
      </p:sp>
      <p:sp>
        <p:nvSpPr>
          <p:cNvPr id="45" name="Google Shape;4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AETHER is one operating loop with eight stages. Read the top lane first: the machine reads the data, builds context per asset, ranks problems in the Problem Tank with the reason shown, and proposes a probable cause with its evidence and similar verified cases. That is an indication, nothing more. The dashed line is the decision boundary. Below it, a named person acknowledges or re-ranks, assigns the RCA owner, accepts or rejects the cause, approves an owned action, and a different person signs off effectiveness. Only verified knowledge feeds back.</a:t>
            </a:r>
            <a:br>
              <a:rPr lang="en-US"/>
            </a:br>
            <a:br>
              <a:rPr lang="en-US"/>
            </a:br>
            <a:r>
              <a:rPr lang="en-US"/>
              <a:t>Caution: never 'AI identifies the root cause'; say 'probable cause to verify'. No accuracy, confidence or similarity percentages. Energy only as illustrative / future integration. AETHER alerts are not process alarms.</a:t>
            </a:r>
            <a:endParaRPr/>
          </a:p>
        </p:txBody>
      </p:sp>
      <p:sp>
        <p:nvSpPr>
          <p:cNvPr id="108" name="Google Shape;10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Nearly all recorded loss is downtime-linked, about 24 million dollars a year in the case data. That is historical exposure, not savings, and we do not claim a percentage of it. Value has to climb the ladder: first we show that decisions change, then that case outcomes change against a counterfactual written down in advance, and only then do we count money. A case counts only when it passes all eight checks. Today, the claimed financial benefit is zero, by design.</a:t>
            </a:r>
            <a:br>
              <a:rPr lang="en-US"/>
            </a:br>
            <a:br>
              <a:rPr lang="en-US"/>
            </a:br>
            <a:r>
              <a:rPr lang="en-US"/>
              <a:t>Prohibited: ROI, payback, NPV, any savings figure, any percentage improvement. If open loss is mentioned: US$44.33M on open incidents = US$39.03M already realized + US$5.31M potential (not cash).</a:t>
            </a:r>
            <a:endParaRPr/>
          </a:p>
        </p:txBody>
      </p:sp>
      <p:sp>
        <p:nvSpPr>
          <p:cNvPr id="163" name="Google Shape;16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AETHER sits around the systems the plant already has. It reads from them, one way. It hands evidence, never a command, to a named person, and that person decides inside the existing RCA and CAPA process. There is no write path to the DCS or any control system, and AETHER never closes anything by itself. We roll out in gates: visibility first, then decision support, then accountability and learning, and we scale only on validated pilot results and real cost.</a:t>
            </a:r>
            <a:br>
              <a:rPr lang="en-US"/>
            </a:br>
            <a:br>
              <a:rPr lang="en-US"/>
            </a:br>
            <a:r>
              <a:rPr lang="en-US"/>
              <a:t>Caution: no 'IEC 62443 compliant/certified'. No real system or vendor names. No claim that integration exists today. Legal line and durations still to be confirmed by Thoriq.</a:t>
            </a:r>
            <a:endParaRPr/>
          </a:p>
        </p:txBody>
      </p:sp>
      <p:sp>
        <p:nvSpPr>
          <p:cNvPr id="238" name="Google Shape;23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Gate 6 core message: AETHER makes every emerging problem reach the right person with its priority, evidence, a cause to verify and an owned action.</a:t>
            </a:r>
            <a:br>
              <a:rPr lang="en-US"/>
            </a:br>
            <a:br>
              <a:rPr lang="en-US"/>
            </a:br>
            <a:r>
              <a:rPr lang="en-US"/>
              <a:t>AETHER is not another dashboard and not a black-box predictor. It is the decision loop the plant's data is missing: fragmented information becomes governed context, then an evidence-grounded decision, an accountable action and verified learning. From fragmented signals to an accountable, verified decision. Read-only to the plant, with a person in charge at every step.</a:t>
            </a:r>
            <a:br>
              <a:rPr lang="en-US"/>
            </a:br>
            <a:br>
              <a:rPr lang="en-US"/>
            </a:br>
            <a:r>
              <a:rPr lang="en-US"/>
              <a:t>Takeaways if time allows: it answers all three Case 2 questions in one loop; it is built on the case's own evidence; value is measured, not assumed. Expected outcomes [TARGET, direction only]: problems surfaced as early as the available evidence supports, with the trigger shown; ranked by condition and consequence; every accepted action owned and verified.</a:t>
            </a:r>
            <a:endParaRPr/>
          </a:p>
        </p:txBody>
      </p:sp>
      <p:sp>
        <p:nvSpPr>
          <p:cNvPr id="300" name="Google Shape;30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Introduce each member and their contribution. Verify every field before export; nothing on this slide may be guessed. Photos only if supplied.</a:t>
            </a:r>
            <a:endParaRPr/>
          </a:p>
        </p:txBody>
      </p:sp>
      <p:sp>
        <p:nvSpPr>
          <p:cNvPr id="344" name="Google Shape;34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7" name="Google Shape;39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 name="Google Shape;39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 name="Google Shape;41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0" name="Google Shape;42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 name="Google Shape;44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9" name="Google Shape;44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5" name="Google Shape;46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2" name="Google Shape;48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3" name="Google Shape;48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3" name="Google Shape;49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4" name="Google Shape;49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5" name="Google Shape;51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6" name="Google Shape;51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E_COVER">
  <p:cSld name="AE_COVER">
    <p:bg>
      <p:bgPr>
        <a:solidFill>
          <a:srgbClr val="FFFFFF"/>
        </a:solidFill>
      </p:bgPr>
    </p:bg>
    <p:spTree>
      <p:nvGrpSpPr>
        <p:cNvPr id="11" name="Shape 11"/>
        <p:cNvGrpSpPr/>
        <p:nvPr/>
      </p:nvGrpSpPr>
      <p:grpSpPr>
        <a:xfrm>
          <a:off x="0" y="0"/>
          <a:ext cx="0" cy="0"/>
          <a:chOff x="0" y="0"/>
          <a:chExt cx="0" cy="0"/>
        </a:xfrm>
      </p:grpSpPr>
      <p:sp>
        <p:nvSpPr>
          <p:cNvPr id="12" name="Google Shape;12;p17"/>
          <p:cNvSpPr txBox="1"/>
          <p:nvPr>
            <p:ph type="title"/>
          </p:nvPr>
        </p:nvSpPr>
        <p:spPr>
          <a:xfrm>
            <a:off x="731520" y="3246120"/>
            <a:ext cx="6492240" cy="10515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1E2430"/>
              </a:buClr>
              <a:buSzPts val="3000"/>
              <a:buFont typeface="Calibri"/>
              <a:buNone/>
              <a:defRPr b="1" i="0" sz="3000" u="none" cap="none" strike="noStrike">
                <a:solidFill>
                  <a:srgbClr val="1E2430"/>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7"/>
          <p:cNvSpPr txBox="1"/>
          <p:nvPr>
            <p:ph idx="1" type="body"/>
          </p:nvPr>
        </p:nvSpPr>
        <p:spPr>
          <a:xfrm>
            <a:off x="731520" y="4389120"/>
            <a:ext cx="6400800" cy="64008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40"/>
              </a:spcBef>
              <a:spcAft>
                <a:spcPts val="0"/>
              </a:spcAft>
              <a:buClr>
                <a:srgbClr val="5B6573"/>
              </a:buClr>
              <a:buSzPts val="1700"/>
              <a:buFont typeface="Arial"/>
              <a:buNone/>
              <a:defRPr b="0" i="0" sz="1700" u="none" cap="none" strike="noStrike">
                <a:solidFill>
                  <a:srgbClr val="5B6573"/>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E_CONTENT">
  <p:cSld name="AE_CONTENT">
    <p:bg>
      <p:bgPr>
        <a:solidFill>
          <a:srgbClr val="F4F6F9"/>
        </a:solidFill>
      </p:bgPr>
    </p:bg>
    <p:spTree>
      <p:nvGrpSpPr>
        <p:cNvPr id="14" name="Shape 14"/>
        <p:cNvGrpSpPr/>
        <p:nvPr/>
      </p:nvGrpSpPr>
      <p:grpSpPr>
        <a:xfrm>
          <a:off x="0" y="0"/>
          <a:ext cx="0" cy="0"/>
          <a:chOff x="0" y="0"/>
          <a:chExt cx="0" cy="0"/>
        </a:xfrm>
      </p:grpSpPr>
      <p:sp>
        <p:nvSpPr>
          <p:cNvPr id="15" name="Google Shape;15;p18"/>
          <p:cNvSpPr/>
          <p:nvPr/>
        </p:nvSpPr>
        <p:spPr>
          <a:xfrm>
            <a:off x="0" y="0"/>
            <a:ext cx="12191695" cy="1188720"/>
          </a:xfrm>
          <a:prstGeom prst="rect">
            <a:avLst/>
          </a:prstGeom>
          <a:solidFill>
            <a:srgbClr val="192F7B"/>
          </a:solidFill>
          <a:ln cap="flat" cmpd="sng" w="12700">
            <a:solidFill>
              <a:srgbClr val="192F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8"/>
          <p:cNvSpPr txBox="1"/>
          <p:nvPr>
            <p:ph type="title"/>
          </p:nvPr>
        </p:nvSpPr>
        <p:spPr>
          <a:xfrm>
            <a:off x="502920" y="384048"/>
            <a:ext cx="11183112" cy="74980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2400"/>
              <a:buFont typeface="Calibri"/>
              <a:buNone/>
              <a:defRPr b="1" i="0" sz="2400" u="none" cap="none" strike="noStrike">
                <a:solidFill>
                  <a:srgbClr val="FFFFF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cxnSp>
        <p:nvCxnSpPr>
          <p:cNvPr id="17" name="Google Shape;17;p18"/>
          <p:cNvCxnSpPr/>
          <p:nvPr/>
        </p:nvCxnSpPr>
        <p:spPr>
          <a:xfrm>
            <a:off x="502920" y="6400800"/>
            <a:ext cx="11183112" cy="0"/>
          </a:xfrm>
          <a:prstGeom prst="straightConnector1">
            <a:avLst/>
          </a:prstGeom>
          <a:noFill/>
          <a:ln cap="flat" cmpd="sng" w="9525">
            <a:solidFill>
              <a:srgbClr val="D3DAE4"/>
            </a:solidFill>
            <a:prstDash val="solid"/>
            <a:round/>
            <a:headEnd len="sm" w="sm" type="none"/>
            <a:tailEnd len="sm" w="sm" type="none"/>
          </a:ln>
        </p:spPr>
      </p:cxnSp>
      <p:sp>
        <p:nvSpPr>
          <p:cNvPr id="18" name="Google Shape;18;p18"/>
          <p:cNvSpPr/>
          <p:nvPr/>
        </p:nvSpPr>
        <p:spPr>
          <a:xfrm>
            <a:off x="502920" y="6473952"/>
            <a:ext cx="6400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3"/>
              </a:buClr>
              <a:buSzPts val="900"/>
              <a:buFont typeface="Calibri"/>
              <a:buNone/>
            </a:pPr>
            <a:r>
              <a:rPr b="0" i="0" lang="en-US" sz="900" u="none" cap="none" strike="noStrike">
                <a:solidFill>
                  <a:srgbClr val="5B6573"/>
                </a:solidFill>
                <a:latin typeface="Calibri"/>
                <a:ea typeface="Calibri"/>
                <a:cs typeface="Calibri"/>
                <a:sym typeface="Calibri"/>
              </a:rPr>
              <a:t>AETHER  |  CALIBER 2026  |  Case 2: Intelligent Manufacturing Dashboard</a:t>
            </a:r>
            <a:endParaRPr b="0" i="0" sz="900" u="none" cap="none" strike="noStrike">
              <a:solidFill>
                <a:schemeClr val="dk1"/>
              </a:solidFill>
              <a:latin typeface="Calibri"/>
              <a:ea typeface="Calibri"/>
              <a:cs typeface="Calibri"/>
              <a:sym typeface="Calibri"/>
            </a:endParaRPr>
          </a:p>
        </p:txBody>
      </p:sp>
      <p:sp>
        <p:nvSpPr>
          <p:cNvPr id="19" name="Google Shape;19;p18"/>
          <p:cNvSpPr txBox="1"/>
          <p:nvPr>
            <p:ph idx="12" type="sldNum"/>
          </p:nvPr>
        </p:nvSpPr>
        <p:spPr>
          <a:xfrm>
            <a:off x="11228832" y="6473952"/>
            <a:ext cx="457200" cy="2286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900" u="none" cap="none" strike="noStrike">
                <a:solidFill>
                  <a:srgbClr val="5B6573"/>
                </a:solidFill>
                <a:latin typeface="Calibri"/>
                <a:ea typeface="Calibri"/>
                <a:cs typeface="Calibri"/>
                <a:sym typeface="Calibri"/>
              </a:defRPr>
            </a:lvl1pPr>
            <a:lvl2pPr indent="0" lvl="1" marL="0" marR="0" algn="r">
              <a:spcBef>
                <a:spcPts val="0"/>
              </a:spcBef>
              <a:buNone/>
              <a:defRPr b="0" i="0" sz="900" u="none" cap="none" strike="noStrike">
                <a:solidFill>
                  <a:srgbClr val="5B6573"/>
                </a:solidFill>
                <a:latin typeface="Calibri"/>
                <a:ea typeface="Calibri"/>
                <a:cs typeface="Calibri"/>
                <a:sym typeface="Calibri"/>
              </a:defRPr>
            </a:lvl2pPr>
            <a:lvl3pPr indent="0" lvl="2" marL="0" marR="0" algn="r">
              <a:spcBef>
                <a:spcPts val="0"/>
              </a:spcBef>
              <a:buNone/>
              <a:defRPr b="0" i="0" sz="900" u="none" cap="none" strike="noStrike">
                <a:solidFill>
                  <a:srgbClr val="5B6573"/>
                </a:solidFill>
                <a:latin typeface="Calibri"/>
                <a:ea typeface="Calibri"/>
                <a:cs typeface="Calibri"/>
                <a:sym typeface="Calibri"/>
              </a:defRPr>
            </a:lvl3pPr>
            <a:lvl4pPr indent="0" lvl="3" marL="0" marR="0" algn="r">
              <a:spcBef>
                <a:spcPts val="0"/>
              </a:spcBef>
              <a:buNone/>
              <a:defRPr b="0" i="0" sz="900" u="none" cap="none" strike="noStrike">
                <a:solidFill>
                  <a:srgbClr val="5B6573"/>
                </a:solidFill>
                <a:latin typeface="Calibri"/>
                <a:ea typeface="Calibri"/>
                <a:cs typeface="Calibri"/>
                <a:sym typeface="Calibri"/>
              </a:defRPr>
            </a:lvl4pPr>
            <a:lvl5pPr indent="0" lvl="4" marL="0" marR="0" algn="r">
              <a:spcBef>
                <a:spcPts val="0"/>
              </a:spcBef>
              <a:buNone/>
              <a:defRPr b="0" i="0" sz="900" u="none" cap="none" strike="noStrike">
                <a:solidFill>
                  <a:srgbClr val="5B6573"/>
                </a:solidFill>
                <a:latin typeface="Calibri"/>
                <a:ea typeface="Calibri"/>
                <a:cs typeface="Calibri"/>
                <a:sym typeface="Calibri"/>
              </a:defRPr>
            </a:lvl5pPr>
            <a:lvl6pPr indent="0" lvl="5" marL="0" marR="0" algn="r">
              <a:spcBef>
                <a:spcPts val="0"/>
              </a:spcBef>
              <a:buNone/>
              <a:defRPr b="0" i="0" sz="900" u="none" cap="none" strike="noStrike">
                <a:solidFill>
                  <a:srgbClr val="5B6573"/>
                </a:solidFill>
                <a:latin typeface="Calibri"/>
                <a:ea typeface="Calibri"/>
                <a:cs typeface="Calibri"/>
                <a:sym typeface="Calibri"/>
              </a:defRPr>
            </a:lvl6pPr>
            <a:lvl7pPr indent="0" lvl="6" marL="0" marR="0" algn="r">
              <a:spcBef>
                <a:spcPts val="0"/>
              </a:spcBef>
              <a:buNone/>
              <a:defRPr b="0" i="0" sz="900" u="none" cap="none" strike="noStrike">
                <a:solidFill>
                  <a:srgbClr val="5B6573"/>
                </a:solidFill>
                <a:latin typeface="Calibri"/>
                <a:ea typeface="Calibri"/>
                <a:cs typeface="Calibri"/>
                <a:sym typeface="Calibri"/>
              </a:defRPr>
            </a:lvl7pPr>
            <a:lvl8pPr indent="0" lvl="7" marL="0" marR="0" algn="r">
              <a:spcBef>
                <a:spcPts val="0"/>
              </a:spcBef>
              <a:buNone/>
              <a:defRPr b="0" i="0" sz="900" u="none" cap="none" strike="noStrike">
                <a:solidFill>
                  <a:srgbClr val="5B6573"/>
                </a:solidFill>
                <a:latin typeface="Calibri"/>
                <a:ea typeface="Calibri"/>
                <a:cs typeface="Calibri"/>
                <a:sym typeface="Calibri"/>
              </a:defRPr>
            </a:lvl8pPr>
            <a:lvl9pPr indent="0" lvl="8" marL="0" marR="0" algn="r">
              <a:spcBef>
                <a:spcPts val="0"/>
              </a:spcBef>
              <a:buNone/>
              <a:defRPr b="0" i="0" sz="900" u="none" cap="none" strike="noStrike">
                <a:solidFill>
                  <a:srgbClr val="5B65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E_NAVY">
  <p:cSld name="AE_NAVY">
    <p:bg>
      <p:bgPr>
        <a:solidFill>
          <a:srgbClr val="192F7B"/>
        </a:solidFill>
      </p:bgPr>
    </p:bg>
    <p:spTree>
      <p:nvGrpSpPr>
        <p:cNvPr id="20" name="Shape 20"/>
        <p:cNvGrpSpPr/>
        <p:nvPr/>
      </p:nvGrpSpPr>
      <p:grpSpPr>
        <a:xfrm>
          <a:off x="0" y="0"/>
          <a:ext cx="0" cy="0"/>
          <a:chOff x="0" y="0"/>
          <a:chExt cx="0" cy="0"/>
        </a:xfrm>
      </p:grpSpPr>
      <p:sp>
        <p:nvSpPr>
          <p:cNvPr id="21" name="Google Shape;21;p19"/>
          <p:cNvSpPr txBox="1"/>
          <p:nvPr>
            <p:ph type="title"/>
          </p:nvPr>
        </p:nvSpPr>
        <p:spPr>
          <a:xfrm>
            <a:off x="502920" y="548640"/>
            <a:ext cx="11183112" cy="8229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3000"/>
              <a:buFont typeface="Calibri"/>
              <a:buNone/>
              <a:defRPr b="1" i="0" sz="3000" u="none" cap="none" strike="noStrike">
                <a:solidFill>
                  <a:srgbClr val="FFFFF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cxnSp>
        <p:nvCxnSpPr>
          <p:cNvPr id="22" name="Google Shape;22;p19"/>
          <p:cNvCxnSpPr/>
          <p:nvPr/>
        </p:nvCxnSpPr>
        <p:spPr>
          <a:xfrm>
            <a:off x="502920" y="6400800"/>
            <a:ext cx="11183112" cy="0"/>
          </a:xfrm>
          <a:prstGeom prst="straightConnector1">
            <a:avLst/>
          </a:prstGeom>
          <a:noFill/>
          <a:ln cap="flat" cmpd="sng" w="9525">
            <a:solidFill>
              <a:srgbClr val="33478C"/>
            </a:solidFill>
            <a:prstDash val="solid"/>
            <a:round/>
            <a:headEnd len="sm" w="sm" type="none"/>
            <a:tailEnd len="sm" w="sm" type="none"/>
          </a:ln>
        </p:spPr>
      </p:cxnSp>
      <p:sp>
        <p:nvSpPr>
          <p:cNvPr id="23" name="Google Shape;23;p19"/>
          <p:cNvSpPr/>
          <p:nvPr/>
        </p:nvSpPr>
        <p:spPr>
          <a:xfrm>
            <a:off x="502920" y="6473952"/>
            <a:ext cx="6400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3EA"/>
              </a:buClr>
              <a:buSzPts val="900"/>
              <a:buFont typeface="Calibri"/>
              <a:buNone/>
            </a:pPr>
            <a:r>
              <a:rPr b="0" i="0" lang="en-US" sz="900" u="none" cap="none" strike="noStrike">
                <a:solidFill>
                  <a:srgbClr val="C9D3EA"/>
                </a:solidFill>
                <a:latin typeface="Calibri"/>
                <a:ea typeface="Calibri"/>
                <a:cs typeface="Calibri"/>
                <a:sym typeface="Calibri"/>
              </a:rPr>
              <a:t>AETHER  |  CALIBER 2026  |  Case 2: Intelligent Manufacturing Dashboard</a:t>
            </a:r>
            <a:endParaRPr b="0" i="0" sz="900" u="none" cap="none" strike="noStrike">
              <a:solidFill>
                <a:schemeClr val="dk1"/>
              </a:solidFill>
              <a:latin typeface="Calibri"/>
              <a:ea typeface="Calibri"/>
              <a:cs typeface="Calibri"/>
              <a:sym typeface="Calibri"/>
            </a:endParaRPr>
          </a:p>
        </p:txBody>
      </p:sp>
      <p:sp>
        <p:nvSpPr>
          <p:cNvPr id="24" name="Google Shape;24;p19"/>
          <p:cNvSpPr txBox="1"/>
          <p:nvPr>
            <p:ph idx="12" type="sldNum"/>
          </p:nvPr>
        </p:nvSpPr>
        <p:spPr>
          <a:xfrm>
            <a:off x="11228832" y="6473952"/>
            <a:ext cx="457200" cy="2286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900" u="none" cap="none" strike="noStrike">
                <a:solidFill>
                  <a:srgbClr val="C9D3EA"/>
                </a:solidFill>
                <a:latin typeface="Calibri"/>
                <a:ea typeface="Calibri"/>
                <a:cs typeface="Calibri"/>
                <a:sym typeface="Calibri"/>
              </a:defRPr>
            </a:lvl1pPr>
            <a:lvl2pPr indent="0" lvl="1" marL="0" marR="0" algn="r">
              <a:spcBef>
                <a:spcPts val="0"/>
              </a:spcBef>
              <a:buNone/>
              <a:defRPr b="0" i="0" sz="900" u="none" cap="none" strike="noStrike">
                <a:solidFill>
                  <a:srgbClr val="C9D3EA"/>
                </a:solidFill>
                <a:latin typeface="Calibri"/>
                <a:ea typeface="Calibri"/>
                <a:cs typeface="Calibri"/>
                <a:sym typeface="Calibri"/>
              </a:defRPr>
            </a:lvl2pPr>
            <a:lvl3pPr indent="0" lvl="2" marL="0" marR="0" algn="r">
              <a:spcBef>
                <a:spcPts val="0"/>
              </a:spcBef>
              <a:buNone/>
              <a:defRPr b="0" i="0" sz="900" u="none" cap="none" strike="noStrike">
                <a:solidFill>
                  <a:srgbClr val="C9D3EA"/>
                </a:solidFill>
                <a:latin typeface="Calibri"/>
                <a:ea typeface="Calibri"/>
                <a:cs typeface="Calibri"/>
                <a:sym typeface="Calibri"/>
              </a:defRPr>
            </a:lvl3pPr>
            <a:lvl4pPr indent="0" lvl="3" marL="0" marR="0" algn="r">
              <a:spcBef>
                <a:spcPts val="0"/>
              </a:spcBef>
              <a:buNone/>
              <a:defRPr b="0" i="0" sz="900" u="none" cap="none" strike="noStrike">
                <a:solidFill>
                  <a:srgbClr val="C9D3EA"/>
                </a:solidFill>
                <a:latin typeface="Calibri"/>
                <a:ea typeface="Calibri"/>
                <a:cs typeface="Calibri"/>
                <a:sym typeface="Calibri"/>
              </a:defRPr>
            </a:lvl4pPr>
            <a:lvl5pPr indent="0" lvl="4" marL="0" marR="0" algn="r">
              <a:spcBef>
                <a:spcPts val="0"/>
              </a:spcBef>
              <a:buNone/>
              <a:defRPr b="0" i="0" sz="900" u="none" cap="none" strike="noStrike">
                <a:solidFill>
                  <a:srgbClr val="C9D3EA"/>
                </a:solidFill>
                <a:latin typeface="Calibri"/>
                <a:ea typeface="Calibri"/>
                <a:cs typeface="Calibri"/>
                <a:sym typeface="Calibri"/>
              </a:defRPr>
            </a:lvl5pPr>
            <a:lvl6pPr indent="0" lvl="5" marL="0" marR="0" algn="r">
              <a:spcBef>
                <a:spcPts val="0"/>
              </a:spcBef>
              <a:buNone/>
              <a:defRPr b="0" i="0" sz="900" u="none" cap="none" strike="noStrike">
                <a:solidFill>
                  <a:srgbClr val="C9D3EA"/>
                </a:solidFill>
                <a:latin typeface="Calibri"/>
                <a:ea typeface="Calibri"/>
                <a:cs typeface="Calibri"/>
                <a:sym typeface="Calibri"/>
              </a:defRPr>
            </a:lvl6pPr>
            <a:lvl7pPr indent="0" lvl="6" marL="0" marR="0" algn="r">
              <a:spcBef>
                <a:spcPts val="0"/>
              </a:spcBef>
              <a:buNone/>
              <a:defRPr b="0" i="0" sz="900" u="none" cap="none" strike="noStrike">
                <a:solidFill>
                  <a:srgbClr val="C9D3EA"/>
                </a:solidFill>
                <a:latin typeface="Calibri"/>
                <a:ea typeface="Calibri"/>
                <a:cs typeface="Calibri"/>
                <a:sym typeface="Calibri"/>
              </a:defRPr>
            </a:lvl7pPr>
            <a:lvl8pPr indent="0" lvl="7" marL="0" marR="0" algn="r">
              <a:spcBef>
                <a:spcPts val="0"/>
              </a:spcBef>
              <a:buNone/>
              <a:defRPr b="0" i="0" sz="900" u="none" cap="none" strike="noStrike">
                <a:solidFill>
                  <a:srgbClr val="C9D3EA"/>
                </a:solidFill>
                <a:latin typeface="Calibri"/>
                <a:ea typeface="Calibri"/>
                <a:cs typeface="Calibri"/>
                <a:sym typeface="Calibri"/>
              </a:defRPr>
            </a:lvl8pPr>
            <a:lvl9pPr indent="0" lvl="8" marL="0" marR="0" algn="r">
              <a:spcBef>
                <a:spcPts val="0"/>
              </a:spcBef>
              <a:buNone/>
              <a:defRPr b="0" i="0" sz="900" u="none" cap="none" strike="noStrike">
                <a:solidFill>
                  <a:srgbClr val="C9D3EA"/>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5" name="Shape 2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6"/>
          <p:cNvSpPr txBox="1"/>
          <p:nvPr>
            <p:ph idx="12" type="sldNum"/>
          </p:nvPr>
        </p:nvSpPr>
        <p:spPr>
          <a:xfrm>
            <a:off x="11228832" y="6473952"/>
            <a:ext cx="457200" cy="2286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5B6573"/>
                </a:solidFill>
                <a:latin typeface="Calibri"/>
                <a:ea typeface="Calibri"/>
                <a:cs typeface="Calibri"/>
                <a:sym typeface="Calibri"/>
              </a:defRPr>
            </a:lvl1pPr>
            <a:lvl2pPr indent="0" lvl="1" marL="0" marR="0" rtl="0" algn="r">
              <a:spcBef>
                <a:spcPts val="0"/>
              </a:spcBef>
              <a:buNone/>
              <a:defRPr b="0" i="0" sz="900" u="none" cap="none" strike="noStrike">
                <a:solidFill>
                  <a:srgbClr val="5B6573"/>
                </a:solidFill>
                <a:latin typeface="Calibri"/>
                <a:ea typeface="Calibri"/>
                <a:cs typeface="Calibri"/>
                <a:sym typeface="Calibri"/>
              </a:defRPr>
            </a:lvl2pPr>
            <a:lvl3pPr indent="0" lvl="2" marL="0" marR="0" rtl="0" algn="r">
              <a:spcBef>
                <a:spcPts val="0"/>
              </a:spcBef>
              <a:buNone/>
              <a:defRPr b="0" i="0" sz="900" u="none" cap="none" strike="noStrike">
                <a:solidFill>
                  <a:srgbClr val="5B6573"/>
                </a:solidFill>
                <a:latin typeface="Calibri"/>
                <a:ea typeface="Calibri"/>
                <a:cs typeface="Calibri"/>
                <a:sym typeface="Calibri"/>
              </a:defRPr>
            </a:lvl3pPr>
            <a:lvl4pPr indent="0" lvl="3" marL="0" marR="0" rtl="0" algn="r">
              <a:spcBef>
                <a:spcPts val="0"/>
              </a:spcBef>
              <a:buNone/>
              <a:defRPr b="0" i="0" sz="900" u="none" cap="none" strike="noStrike">
                <a:solidFill>
                  <a:srgbClr val="5B6573"/>
                </a:solidFill>
                <a:latin typeface="Calibri"/>
                <a:ea typeface="Calibri"/>
                <a:cs typeface="Calibri"/>
                <a:sym typeface="Calibri"/>
              </a:defRPr>
            </a:lvl4pPr>
            <a:lvl5pPr indent="0" lvl="4" marL="0" marR="0" rtl="0" algn="r">
              <a:spcBef>
                <a:spcPts val="0"/>
              </a:spcBef>
              <a:buNone/>
              <a:defRPr b="0" i="0" sz="900" u="none" cap="none" strike="noStrike">
                <a:solidFill>
                  <a:srgbClr val="5B6573"/>
                </a:solidFill>
                <a:latin typeface="Calibri"/>
                <a:ea typeface="Calibri"/>
                <a:cs typeface="Calibri"/>
                <a:sym typeface="Calibri"/>
              </a:defRPr>
            </a:lvl5pPr>
            <a:lvl6pPr indent="0" lvl="5" marL="0" marR="0" rtl="0" algn="r">
              <a:spcBef>
                <a:spcPts val="0"/>
              </a:spcBef>
              <a:buNone/>
              <a:defRPr b="0" i="0" sz="900" u="none" cap="none" strike="noStrike">
                <a:solidFill>
                  <a:srgbClr val="5B6573"/>
                </a:solidFill>
                <a:latin typeface="Calibri"/>
                <a:ea typeface="Calibri"/>
                <a:cs typeface="Calibri"/>
                <a:sym typeface="Calibri"/>
              </a:defRPr>
            </a:lvl6pPr>
            <a:lvl7pPr indent="0" lvl="6" marL="0" marR="0" rtl="0" algn="r">
              <a:spcBef>
                <a:spcPts val="0"/>
              </a:spcBef>
              <a:buNone/>
              <a:defRPr b="0" i="0" sz="900" u="none" cap="none" strike="noStrike">
                <a:solidFill>
                  <a:srgbClr val="5B6573"/>
                </a:solidFill>
                <a:latin typeface="Calibri"/>
                <a:ea typeface="Calibri"/>
                <a:cs typeface="Calibri"/>
                <a:sym typeface="Calibri"/>
              </a:defRPr>
            </a:lvl7pPr>
            <a:lvl8pPr indent="0" lvl="7" marL="0" marR="0" rtl="0" algn="r">
              <a:spcBef>
                <a:spcPts val="0"/>
              </a:spcBef>
              <a:buNone/>
              <a:defRPr b="0" i="0" sz="900" u="none" cap="none" strike="noStrike">
                <a:solidFill>
                  <a:srgbClr val="5B6573"/>
                </a:solidFill>
                <a:latin typeface="Calibri"/>
                <a:ea typeface="Calibri"/>
                <a:cs typeface="Calibri"/>
                <a:sym typeface="Calibri"/>
              </a:defRPr>
            </a:lvl8pPr>
            <a:lvl9pPr indent="0" lvl="8" marL="0" marR="0" rtl="0" algn="r">
              <a:spcBef>
                <a:spcPts val="0"/>
              </a:spcBef>
              <a:buNone/>
              <a:defRPr b="0" i="0" sz="900" u="none" cap="none" strike="noStrike">
                <a:solidFill>
                  <a:srgbClr val="5B657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 name="Shape 30"/>
        <p:cNvGrpSpPr/>
        <p:nvPr/>
      </p:nvGrpSpPr>
      <p:grpSpPr>
        <a:xfrm>
          <a:off x="0" y="0"/>
          <a:ext cx="0" cy="0"/>
          <a:chOff x="0" y="0"/>
          <a:chExt cx="0" cy="0"/>
        </a:xfrm>
      </p:grpSpPr>
      <p:sp>
        <p:nvSpPr>
          <p:cNvPr id="31" name="Google Shape;31;p1"/>
          <p:cNvSpPr/>
          <p:nvPr/>
        </p:nvSpPr>
        <p:spPr>
          <a:xfrm>
            <a:off x="7818120" y="0"/>
            <a:ext cx="4373575" cy="6858000"/>
          </a:xfrm>
          <a:prstGeom prst="rect">
            <a:avLst/>
          </a:prstGeom>
          <a:solidFill>
            <a:srgbClr val="192F7B"/>
          </a:solidFill>
          <a:ln cap="flat" cmpd="sng" w="12700">
            <a:solidFill>
              <a:srgbClr val="192F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1"/>
          <p:cNvSpPr txBox="1"/>
          <p:nvPr/>
        </p:nvSpPr>
        <p:spPr>
          <a:xfrm>
            <a:off x="8183880" y="2011680"/>
            <a:ext cx="35661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9D3EA"/>
              </a:buClr>
              <a:buSzPts val="1200"/>
              <a:buFont typeface="Calibri"/>
              <a:buNone/>
            </a:pPr>
            <a:r>
              <a:rPr b="1" i="0" lang="en-US" sz="1200" u="none" cap="none" strike="noStrike">
                <a:solidFill>
                  <a:srgbClr val="C9D3EA"/>
                </a:solidFill>
                <a:latin typeface="Calibri"/>
                <a:ea typeface="Calibri"/>
                <a:cs typeface="Calibri"/>
                <a:sym typeface="Calibri"/>
              </a:rPr>
              <a:t>CALIBER 2026</a:t>
            </a:r>
            <a:endParaRPr b="0" i="0" sz="1200" u="none" cap="none" strike="noStrike">
              <a:solidFill>
                <a:schemeClr val="dk1"/>
              </a:solidFill>
              <a:latin typeface="Calibri"/>
              <a:ea typeface="Calibri"/>
              <a:cs typeface="Calibri"/>
              <a:sym typeface="Calibri"/>
            </a:endParaRPr>
          </a:p>
        </p:txBody>
      </p:sp>
      <p:sp>
        <p:nvSpPr>
          <p:cNvPr id="33" name="Google Shape;33;p1"/>
          <p:cNvSpPr txBox="1"/>
          <p:nvPr/>
        </p:nvSpPr>
        <p:spPr>
          <a:xfrm>
            <a:off x="8183880" y="2331720"/>
            <a:ext cx="356616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4400"/>
              <a:buFont typeface="Calibri"/>
              <a:buNone/>
            </a:pPr>
            <a:r>
              <a:rPr b="1" i="0" lang="en-US" sz="4400" u="none" cap="none" strike="noStrike">
                <a:solidFill>
                  <a:srgbClr val="FFFFFF"/>
                </a:solidFill>
                <a:latin typeface="Calibri"/>
                <a:ea typeface="Calibri"/>
                <a:cs typeface="Calibri"/>
                <a:sym typeface="Calibri"/>
              </a:rPr>
              <a:t>Case 2</a:t>
            </a:r>
            <a:endParaRPr b="0" i="0" sz="4400" u="none" cap="none" strike="noStrike">
              <a:solidFill>
                <a:schemeClr val="dk1"/>
              </a:solidFill>
              <a:latin typeface="Calibri"/>
              <a:ea typeface="Calibri"/>
              <a:cs typeface="Calibri"/>
              <a:sym typeface="Calibri"/>
            </a:endParaRPr>
          </a:p>
        </p:txBody>
      </p:sp>
      <p:sp>
        <p:nvSpPr>
          <p:cNvPr id="34" name="Google Shape;34;p1"/>
          <p:cNvSpPr txBox="1"/>
          <p:nvPr/>
        </p:nvSpPr>
        <p:spPr>
          <a:xfrm>
            <a:off x="8183880" y="3108960"/>
            <a:ext cx="35661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Intelligent Manufacturing Dashboard</a:t>
            </a:r>
            <a:endParaRPr b="0" i="0" sz="2000" u="none" cap="none" strike="noStrike">
              <a:solidFill>
                <a:schemeClr val="dk1"/>
              </a:solidFill>
              <a:latin typeface="Calibri"/>
              <a:ea typeface="Calibri"/>
              <a:cs typeface="Calibri"/>
              <a:sym typeface="Calibri"/>
            </a:endParaRPr>
          </a:p>
        </p:txBody>
      </p:sp>
      <p:cxnSp>
        <p:nvCxnSpPr>
          <p:cNvPr id="35" name="Google Shape;35;p1"/>
          <p:cNvCxnSpPr/>
          <p:nvPr/>
        </p:nvCxnSpPr>
        <p:spPr>
          <a:xfrm>
            <a:off x="8183880" y="4114800"/>
            <a:ext cx="822960" cy="0"/>
          </a:xfrm>
          <a:prstGeom prst="straightConnector1">
            <a:avLst/>
          </a:prstGeom>
          <a:noFill/>
          <a:ln cap="flat" cmpd="sng" w="15875">
            <a:solidFill>
              <a:srgbClr val="C9D3EA"/>
            </a:solidFill>
            <a:prstDash val="solid"/>
            <a:round/>
            <a:headEnd len="sm" w="sm" type="none"/>
            <a:tailEnd len="sm" w="sm" type="none"/>
          </a:ln>
        </p:spPr>
      </p:cxnSp>
      <p:sp>
        <p:nvSpPr>
          <p:cNvPr id="36" name="Google Shape;36;p1"/>
          <p:cNvSpPr txBox="1"/>
          <p:nvPr/>
        </p:nvSpPr>
        <p:spPr>
          <a:xfrm>
            <a:off x="8183880" y="4297680"/>
            <a:ext cx="356616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9D3EA"/>
              </a:buClr>
              <a:buSzPts val="1400"/>
              <a:buFont typeface="Calibri"/>
              <a:buNone/>
            </a:pPr>
            <a:r>
              <a:rPr b="0" i="0" lang="en-US" sz="1400" u="none" cap="none" strike="noStrike">
                <a:solidFill>
                  <a:srgbClr val="C9D3EA"/>
                </a:solidFill>
                <a:latin typeface="Calibri"/>
                <a:ea typeface="Calibri"/>
                <a:cs typeface="Calibri"/>
                <a:sym typeface="Calibri"/>
              </a:rPr>
              <a:t>Unified dashboard</a:t>
            </a:r>
            <a:endParaRPr b="0" i="0" sz="14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C9D3EA"/>
              </a:buClr>
              <a:buSzPts val="1400"/>
              <a:buFont typeface="Calibri"/>
              <a:buNone/>
            </a:pPr>
            <a:r>
              <a:rPr b="0" i="0" lang="en-US" sz="1400" u="none" cap="none" strike="noStrike">
                <a:solidFill>
                  <a:srgbClr val="C9D3EA"/>
                </a:solidFill>
                <a:latin typeface="Calibri"/>
                <a:ea typeface="Calibri"/>
                <a:cs typeface="Calibri"/>
                <a:sym typeface="Calibri"/>
              </a:rPr>
              <a:t>AI insight</a:t>
            </a:r>
            <a:endParaRPr b="0" i="0" sz="14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C9D3EA"/>
              </a:buClr>
              <a:buSzPts val="1400"/>
              <a:buFont typeface="Calibri"/>
              <a:buNone/>
            </a:pPr>
            <a:r>
              <a:rPr b="0" i="0" lang="en-US" sz="1400" u="none" cap="none" strike="noStrike">
                <a:solidFill>
                  <a:srgbClr val="C9D3EA"/>
                </a:solidFill>
                <a:latin typeface="Calibri"/>
                <a:ea typeface="Calibri"/>
                <a:cs typeface="Calibri"/>
                <a:sym typeface="Calibri"/>
              </a:rPr>
              <a:t>Root cause analysis</a:t>
            </a:r>
            <a:endParaRPr b="0" i="0" sz="14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C9D3EA"/>
              </a:buClr>
              <a:buSzPts val="1400"/>
              <a:buFont typeface="Calibri"/>
              <a:buNone/>
            </a:pPr>
            <a:r>
              <a:rPr b="0" i="0" lang="en-US" sz="1400" u="none" cap="none" strike="noStrike">
                <a:solidFill>
                  <a:srgbClr val="C9D3EA"/>
                </a:solidFill>
                <a:latin typeface="Calibri"/>
                <a:ea typeface="Calibri"/>
                <a:cs typeface="Calibri"/>
                <a:sym typeface="Calibri"/>
              </a:rPr>
              <a:t>Follow-up action recommendation</a:t>
            </a:r>
            <a:endParaRPr b="0" i="0" sz="1400" u="none" cap="none" strike="noStrike">
              <a:solidFill>
                <a:schemeClr val="dk1"/>
              </a:solidFill>
              <a:latin typeface="Calibri"/>
              <a:ea typeface="Calibri"/>
              <a:cs typeface="Calibri"/>
              <a:sym typeface="Calibri"/>
            </a:endParaRPr>
          </a:p>
        </p:txBody>
      </p:sp>
      <p:sp>
        <p:nvSpPr>
          <p:cNvPr id="37" name="Google Shape;37;p1"/>
          <p:cNvSpPr txBox="1"/>
          <p:nvPr/>
        </p:nvSpPr>
        <p:spPr>
          <a:xfrm>
            <a:off x="731520" y="1691640"/>
            <a:ext cx="640080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92F7B"/>
              </a:buClr>
              <a:buSzPts val="7200"/>
              <a:buFont typeface="Calibri"/>
              <a:buNone/>
            </a:pPr>
            <a:r>
              <a:rPr b="1" i="0" lang="en-US" sz="7200" u="none" cap="none" strike="noStrike">
                <a:solidFill>
                  <a:srgbClr val="192F7B"/>
                </a:solidFill>
                <a:latin typeface="Calibri"/>
                <a:ea typeface="Calibri"/>
                <a:cs typeface="Calibri"/>
                <a:sym typeface="Calibri"/>
              </a:rPr>
              <a:t>AETHER</a:t>
            </a:r>
            <a:endParaRPr b="0" i="0" sz="7200" u="none" cap="none" strike="noStrike">
              <a:solidFill>
                <a:schemeClr val="dk1"/>
              </a:solidFill>
              <a:latin typeface="Calibri"/>
              <a:ea typeface="Calibri"/>
              <a:cs typeface="Calibri"/>
              <a:sym typeface="Calibri"/>
            </a:endParaRPr>
          </a:p>
        </p:txBody>
      </p:sp>
      <p:sp>
        <p:nvSpPr>
          <p:cNvPr id="38" name="Google Shape;38;p1"/>
          <p:cNvSpPr txBox="1"/>
          <p:nvPr>
            <p:ph type="title"/>
          </p:nvPr>
        </p:nvSpPr>
        <p:spPr>
          <a:xfrm>
            <a:off x="731520" y="3246120"/>
            <a:ext cx="6492240" cy="10515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1E2430"/>
              </a:buClr>
              <a:buSzPts val="3000"/>
              <a:buFont typeface="Calibri"/>
              <a:buNone/>
            </a:pPr>
            <a:r>
              <a:rPr lang="en-US"/>
              <a:t>what aether stands for.</a:t>
            </a:r>
            <a:endParaRPr sz="3000"/>
          </a:p>
        </p:txBody>
      </p:sp>
      <p:sp>
        <p:nvSpPr>
          <p:cNvPr id="39" name="Google Shape;39;p1"/>
          <p:cNvSpPr txBox="1"/>
          <p:nvPr>
            <p:ph idx="1" type="body"/>
          </p:nvPr>
        </p:nvSpPr>
        <p:spPr>
          <a:xfrm>
            <a:off x="731520" y="4389120"/>
            <a:ext cx="6400800" cy="6400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5B6573"/>
              </a:buClr>
              <a:buSzPts val="1700"/>
              <a:buNone/>
            </a:pPr>
            <a:r>
              <a:rPr lang="en-US"/>
              <a:t>Operational Decision Intelligence for Manufacturing. </a:t>
            </a:r>
            <a:r>
              <a:rPr lang="en-US" sz="1700">
                <a:solidFill>
                  <a:srgbClr val="5B6573"/>
                </a:solidFill>
              </a:rPr>
              <a:t>From</a:t>
            </a:r>
            <a:r>
              <a:rPr lang="en-US" sz="1700">
                <a:solidFill>
                  <a:srgbClr val="5B6573"/>
                </a:solidFill>
              </a:rPr>
              <a:t> fragmented plant signals to evidence-grounded, accountable action</a:t>
            </a:r>
            <a:endParaRPr sz="1700"/>
          </a:p>
        </p:txBody>
      </p:sp>
      <p:sp>
        <p:nvSpPr>
          <p:cNvPr id="40" name="Google Shape;40;p1"/>
          <p:cNvSpPr txBox="1"/>
          <p:nvPr/>
        </p:nvSpPr>
        <p:spPr>
          <a:xfrm>
            <a:off x="731520" y="5440680"/>
            <a:ext cx="365760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1000"/>
              <a:buFont typeface="Calibri"/>
              <a:buNone/>
            </a:pPr>
            <a:r>
              <a:rPr b="1" i="0" lang="en-US" sz="1000" u="none" cap="none" strike="noStrike">
                <a:solidFill>
                  <a:srgbClr val="5B6573"/>
                </a:solidFill>
                <a:latin typeface="Calibri"/>
                <a:ea typeface="Calibri"/>
                <a:cs typeface="Calibri"/>
                <a:sym typeface="Calibri"/>
              </a:rPr>
              <a:t>PROPOSED BY</a:t>
            </a:r>
            <a:endParaRPr b="0" i="0" sz="1000" u="none" cap="none" strike="noStrike">
              <a:solidFill>
                <a:schemeClr val="dk1"/>
              </a:solidFill>
              <a:latin typeface="Calibri"/>
              <a:ea typeface="Calibri"/>
              <a:cs typeface="Calibri"/>
              <a:sym typeface="Calibri"/>
            </a:endParaRPr>
          </a:p>
        </p:txBody>
      </p:sp>
      <p:sp>
        <p:nvSpPr>
          <p:cNvPr id="41" name="Google Shape;41;p1"/>
          <p:cNvSpPr txBox="1"/>
          <p:nvPr/>
        </p:nvSpPr>
        <p:spPr>
          <a:xfrm>
            <a:off x="731520" y="5687568"/>
            <a:ext cx="6858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430"/>
              </a:buClr>
              <a:buSzPts val="1600"/>
              <a:buFont typeface="Calibri"/>
              <a:buNone/>
            </a:pPr>
            <a:r>
              <a:rPr b="1" i="0" lang="en-US" sz="1600" u="none" cap="none" strike="noStrike">
                <a:solidFill>
                  <a:srgbClr val="1E2430"/>
                </a:solidFill>
                <a:latin typeface="Calibri"/>
                <a:ea typeface="Calibri"/>
                <a:cs typeface="Calibri"/>
                <a:sym typeface="Calibri"/>
              </a:rPr>
              <a:t>Team </a:t>
            </a:r>
            <a:r>
              <a:rPr b="1" lang="en-US" sz="1600">
                <a:solidFill>
                  <a:srgbClr val="B45309"/>
                </a:solidFill>
                <a:latin typeface="Calibri"/>
                <a:ea typeface="Calibri"/>
                <a:cs typeface="Calibri"/>
                <a:sym typeface="Calibri"/>
              </a:rPr>
              <a:t>BAP</a:t>
            </a:r>
            <a:r>
              <a:rPr b="1" i="0" lang="en-US" sz="1600" u="none" cap="none" strike="noStrike">
                <a:solidFill>
                  <a:srgbClr val="D3DAE4"/>
                </a:solidFill>
                <a:latin typeface="Calibri"/>
                <a:ea typeface="Calibri"/>
                <a:cs typeface="Calibri"/>
                <a:sym typeface="Calibri"/>
              </a:rPr>
              <a:t>  |   </a:t>
            </a:r>
            <a:r>
              <a:rPr b="1" lang="en-US" sz="1600">
                <a:solidFill>
                  <a:srgbClr val="B45309"/>
                </a:solidFill>
                <a:latin typeface="Calibri"/>
                <a:ea typeface="Calibri"/>
                <a:cs typeface="Calibri"/>
                <a:sym typeface="Calibri"/>
              </a:rPr>
              <a:t>Sepuluh Nopember Institute of Technology</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2"/>
          <p:cNvSpPr txBox="1"/>
          <p:nvPr/>
        </p:nvSpPr>
        <p:spPr>
          <a:xfrm>
            <a:off x="502920" y="146304"/>
            <a:ext cx="914400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9D3EA"/>
              </a:buClr>
              <a:buSzPts val="1000"/>
              <a:buFont typeface="Calibri"/>
              <a:buNone/>
            </a:pPr>
            <a:r>
              <a:rPr b="1" i="0" lang="en-US" sz="1000" u="none" cap="none" strike="noStrike">
                <a:solidFill>
                  <a:srgbClr val="C9D3EA"/>
                </a:solidFill>
                <a:latin typeface="Calibri"/>
                <a:ea typeface="Calibri"/>
                <a:cs typeface="Calibri"/>
                <a:sym typeface="Calibri"/>
              </a:rPr>
              <a:t>01  BACKGROUND AND PROBLEM STATEMENT</a:t>
            </a:r>
            <a:endParaRPr b="0" i="0" sz="1000" u="none" cap="none" strike="noStrike">
              <a:solidFill>
                <a:schemeClr val="dk1"/>
              </a:solidFill>
              <a:latin typeface="Calibri"/>
              <a:ea typeface="Calibri"/>
              <a:cs typeface="Calibri"/>
              <a:sym typeface="Calibri"/>
            </a:endParaRPr>
          </a:p>
        </p:txBody>
      </p:sp>
      <p:cxnSp>
        <p:nvCxnSpPr>
          <p:cNvPr id="48" name="Google Shape;48;p2"/>
          <p:cNvCxnSpPr/>
          <p:nvPr/>
        </p:nvCxnSpPr>
        <p:spPr>
          <a:xfrm>
            <a:off x="502920" y="1554480"/>
            <a:ext cx="11183112" cy="0"/>
          </a:xfrm>
          <a:prstGeom prst="straightConnector1">
            <a:avLst/>
          </a:prstGeom>
          <a:noFill/>
          <a:ln cap="flat" cmpd="sng" w="9525">
            <a:solidFill>
              <a:srgbClr val="D3DAE4"/>
            </a:solidFill>
            <a:prstDash val="solid"/>
            <a:round/>
            <a:headEnd len="sm" w="sm" type="none"/>
            <a:tailEnd len="sm" w="sm" type="none"/>
          </a:ln>
        </p:spPr>
      </p:cxnSp>
      <p:sp>
        <p:nvSpPr>
          <p:cNvPr id="49" name="Google Shape;49;p2"/>
          <p:cNvSpPr txBox="1"/>
          <p:nvPr/>
        </p:nvSpPr>
        <p:spPr>
          <a:xfrm>
            <a:off x="502920" y="1298448"/>
            <a:ext cx="1508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92F7B"/>
              </a:buClr>
              <a:buSzPts val="950"/>
              <a:buFont typeface="Calibri"/>
              <a:buNone/>
            </a:pPr>
            <a:r>
              <a:rPr b="1" i="0" lang="en-US" sz="950" u="none" cap="none" strike="noStrike">
                <a:solidFill>
                  <a:srgbClr val="192F7B"/>
                </a:solidFill>
                <a:latin typeface="Calibri"/>
                <a:ea typeface="Calibri"/>
                <a:cs typeface="Calibri"/>
                <a:sym typeface="Calibri"/>
              </a:rPr>
              <a:t>01  PROBLEM</a:t>
            </a:r>
            <a:endParaRPr b="0" i="0" sz="950" u="none" cap="none" strike="noStrike">
              <a:solidFill>
                <a:schemeClr val="dk1"/>
              </a:solidFill>
              <a:latin typeface="Calibri"/>
              <a:ea typeface="Calibri"/>
              <a:cs typeface="Calibri"/>
              <a:sym typeface="Calibri"/>
            </a:endParaRPr>
          </a:p>
        </p:txBody>
      </p:sp>
      <p:cxnSp>
        <p:nvCxnSpPr>
          <p:cNvPr id="50" name="Google Shape;50;p2"/>
          <p:cNvCxnSpPr/>
          <p:nvPr/>
        </p:nvCxnSpPr>
        <p:spPr>
          <a:xfrm>
            <a:off x="502920" y="1554480"/>
            <a:ext cx="1325880" cy="0"/>
          </a:xfrm>
          <a:prstGeom prst="straightConnector1">
            <a:avLst/>
          </a:prstGeom>
          <a:noFill/>
          <a:ln cap="flat" cmpd="sng" w="28575">
            <a:solidFill>
              <a:srgbClr val="192F7B"/>
            </a:solidFill>
            <a:prstDash val="solid"/>
            <a:round/>
            <a:headEnd len="sm" w="sm" type="none"/>
            <a:tailEnd len="sm" w="sm" type="none"/>
          </a:ln>
        </p:spPr>
      </p:cxnSp>
      <p:sp>
        <p:nvSpPr>
          <p:cNvPr id="51" name="Google Shape;51;p2"/>
          <p:cNvSpPr txBox="1"/>
          <p:nvPr/>
        </p:nvSpPr>
        <p:spPr>
          <a:xfrm>
            <a:off x="2103120" y="1298448"/>
            <a:ext cx="1508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4B2"/>
              </a:buClr>
              <a:buSzPts val="950"/>
              <a:buFont typeface="Calibri"/>
              <a:buNone/>
            </a:pPr>
            <a:r>
              <a:rPr b="0" i="0" lang="en-US" sz="950" u="none" cap="none" strike="noStrike">
                <a:solidFill>
                  <a:srgbClr val="9AA4B2"/>
                </a:solidFill>
                <a:latin typeface="Calibri"/>
                <a:ea typeface="Calibri"/>
                <a:cs typeface="Calibri"/>
                <a:sym typeface="Calibri"/>
              </a:rPr>
              <a:t>02  </a:t>
            </a:r>
            <a:r>
              <a:rPr b="0" i="0" lang="en-US" sz="950" u="none" cap="none" strike="noStrike">
                <a:solidFill>
                  <a:srgbClr val="8A94A3"/>
                </a:solidFill>
                <a:latin typeface="Calibri"/>
                <a:ea typeface="Calibri"/>
                <a:cs typeface="Calibri"/>
                <a:sym typeface="Calibri"/>
              </a:rPr>
              <a:t>SOLUTION</a:t>
            </a:r>
            <a:endParaRPr b="0" i="0" sz="950" u="none" cap="none" strike="noStrike">
              <a:solidFill>
                <a:schemeClr val="dk1"/>
              </a:solidFill>
              <a:latin typeface="Calibri"/>
              <a:ea typeface="Calibri"/>
              <a:cs typeface="Calibri"/>
              <a:sym typeface="Calibri"/>
            </a:endParaRPr>
          </a:p>
        </p:txBody>
      </p:sp>
      <p:sp>
        <p:nvSpPr>
          <p:cNvPr id="52" name="Google Shape;52;p2"/>
          <p:cNvSpPr txBox="1"/>
          <p:nvPr/>
        </p:nvSpPr>
        <p:spPr>
          <a:xfrm>
            <a:off x="3703320" y="1298448"/>
            <a:ext cx="1508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4B2"/>
              </a:buClr>
              <a:buSzPts val="950"/>
              <a:buFont typeface="Calibri"/>
              <a:buNone/>
            </a:pPr>
            <a:r>
              <a:rPr b="0" i="0" lang="en-US" sz="950" u="none" cap="none" strike="noStrike">
                <a:solidFill>
                  <a:srgbClr val="9AA4B2"/>
                </a:solidFill>
                <a:latin typeface="Calibri"/>
                <a:ea typeface="Calibri"/>
                <a:cs typeface="Calibri"/>
                <a:sym typeface="Calibri"/>
              </a:rPr>
              <a:t>03  </a:t>
            </a:r>
            <a:r>
              <a:rPr b="0" i="0" lang="en-US" sz="950" u="none" cap="none" strike="noStrike">
                <a:solidFill>
                  <a:srgbClr val="8A94A3"/>
                </a:solidFill>
                <a:latin typeface="Calibri"/>
                <a:ea typeface="Calibri"/>
                <a:cs typeface="Calibri"/>
                <a:sym typeface="Calibri"/>
              </a:rPr>
              <a:t>IMPACT</a:t>
            </a:r>
            <a:endParaRPr b="0" i="0" sz="950" u="none" cap="none" strike="noStrike">
              <a:solidFill>
                <a:schemeClr val="dk1"/>
              </a:solidFill>
              <a:latin typeface="Calibri"/>
              <a:ea typeface="Calibri"/>
              <a:cs typeface="Calibri"/>
              <a:sym typeface="Calibri"/>
            </a:endParaRPr>
          </a:p>
        </p:txBody>
      </p:sp>
      <p:sp>
        <p:nvSpPr>
          <p:cNvPr id="53" name="Google Shape;53;p2"/>
          <p:cNvSpPr txBox="1"/>
          <p:nvPr/>
        </p:nvSpPr>
        <p:spPr>
          <a:xfrm>
            <a:off x="5303520" y="1298448"/>
            <a:ext cx="1508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4B2"/>
              </a:buClr>
              <a:buSzPts val="950"/>
              <a:buFont typeface="Calibri"/>
              <a:buNone/>
            </a:pPr>
            <a:r>
              <a:rPr b="0" i="0" lang="en-US" sz="950" u="none" cap="none" strike="noStrike">
                <a:solidFill>
                  <a:srgbClr val="9AA4B2"/>
                </a:solidFill>
                <a:latin typeface="Calibri"/>
                <a:ea typeface="Calibri"/>
                <a:cs typeface="Calibri"/>
                <a:sym typeface="Calibri"/>
              </a:rPr>
              <a:t>04  </a:t>
            </a:r>
            <a:r>
              <a:rPr b="0" i="0" lang="en-US" sz="950" u="none" cap="none" strike="noStrike">
                <a:solidFill>
                  <a:srgbClr val="8A94A3"/>
                </a:solidFill>
                <a:latin typeface="Calibri"/>
                <a:ea typeface="Calibri"/>
                <a:cs typeface="Calibri"/>
                <a:sym typeface="Calibri"/>
              </a:rPr>
              <a:t>FEASIBILITY</a:t>
            </a:r>
            <a:endParaRPr b="0" i="0" sz="950" u="none" cap="none" strike="noStrike">
              <a:solidFill>
                <a:schemeClr val="dk1"/>
              </a:solidFill>
              <a:latin typeface="Calibri"/>
              <a:ea typeface="Calibri"/>
              <a:cs typeface="Calibri"/>
              <a:sym typeface="Calibri"/>
            </a:endParaRPr>
          </a:p>
        </p:txBody>
      </p:sp>
      <p:sp>
        <p:nvSpPr>
          <p:cNvPr id="54" name="Google Shape;54;p2"/>
          <p:cNvSpPr txBox="1"/>
          <p:nvPr/>
        </p:nvSpPr>
        <p:spPr>
          <a:xfrm>
            <a:off x="6903720" y="1298448"/>
            <a:ext cx="1508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4B2"/>
              </a:buClr>
              <a:buSzPts val="950"/>
              <a:buFont typeface="Calibri"/>
              <a:buNone/>
            </a:pPr>
            <a:r>
              <a:rPr b="0" i="0" lang="en-US" sz="950" u="none" cap="none" strike="noStrike">
                <a:solidFill>
                  <a:srgbClr val="9AA4B2"/>
                </a:solidFill>
                <a:latin typeface="Calibri"/>
                <a:ea typeface="Calibri"/>
                <a:cs typeface="Calibri"/>
                <a:sym typeface="Calibri"/>
              </a:rPr>
              <a:t>05  </a:t>
            </a:r>
            <a:r>
              <a:rPr b="0" i="0" lang="en-US" sz="950" u="none" cap="none" strike="noStrike">
                <a:solidFill>
                  <a:srgbClr val="8A94A3"/>
                </a:solidFill>
                <a:latin typeface="Calibri"/>
                <a:ea typeface="Calibri"/>
                <a:cs typeface="Calibri"/>
                <a:sym typeface="Calibri"/>
              </a:rPr>
              <a:t>CONCLUSION</a:t>
            </a:r>
            <a:endParaRPr b="0" i="0" sz="950" u="none" cap="none" strike="noStrike">
              <a:solidFill>
                <a:schemeClr val="dk1"/>
              </a:solidFill>
              <a:latin typeface="Calibri"/>
              <a:ea typeface="Calibri"/>
              <a:cs typeface="Calibri"/>
              <a:sym typeface="Calibri"/>
            </a:endParaRPr>
          </a:p>
        </p:txBody>
      </p:sp>
      <p:sp>
        <p:nvSpPr>
          <p:cNvPr id="55" name="Google Shape;55;p2"/>
          <p:cNvSpPr txBox="1"/>
          <p:nvPr>
            <p:ph type="title"/>
          </p:nvPr>
        </p:nvSpPr>
        <p:spPr>
          <a:xfrm>
            <a:off x="502920" y="384048"/>
            <a:ext cx="11183112" cy="749808"/>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FFFFFF"/>
              </a:buClr>
              <a:buSzPts val="2400"/>
              <a:buFont typeface="Calibri"/>
              <a:buNone/>
            </a:pPr>
            <a:r>
              <a:rPr b="1" lang="en-US" sz="2400">
                <a:solidFill>
                  <a:srgbClr val="FFFFFF"/>
                </a:solidFill>
              </a:rPr>
              <a:t>The Case Data Records US$61.9M of Actual Loss, Almost All Through Downtime, but Signals, Consequences and Follow-up Live in Separate Places</a:t>
            </a:r>
            <a:endParaRPr sz="2400"/>
          </a:p>
        </p:txBody>
      </p:sp>
      <p:sp>
        <p:nvSpPr>
          <p:cNvPr id="56" name="Google Shape;56;p2"/>
          <p:cNvSpPr txBox="1"/>
          <p:nvPr/>
        </p:nvSpPr>
        <p:spPr>
          <a:xfrm>
            <a:off x="502920" y="1755648"/>
            <a:ext cx="3611880" cy="329184"/>
          </a:xfrm>
          <a:prstGeom prst="rect">
            <a:avLst/>
          </a:prstGeom>
          <a:solidFill>
            <a:srgbClr val="192F7B"/>
          </a:solidFill>
          <a:ln cap="flat" cmpd="sng" w="9525">
            <a:solidFill>
              <a:srgbClr val="192F7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Situation: what the case data records</a:t>
            </a:r>
            <a:endParaRPr b="0" i="0" sz="1200" u="none" cap="none" strike="noStrike">
              <a:solidFill>
                <a:schemeClr val="dk1"/>
              </a:solidFill>
              <a:latin typeface="Calibri"/>
              <a:ea typeface="Calibri"/>
              <a:cs typeface="Calibri"/>
              <a:sym typeface="Calibri"/>
            </a:endParaRPr>
          </a:p>
        </p:txBody>
      </p:sp>
      <p:sp>
        <p:nvSpPr>
          <p:cNvPr id="57" name="Google Shape;57;p2"/>
          <p:cNvSpPr txBox="1"/>
          <p:nvPr/>
        </p:nvSpPr>
        <p:spPr>
          <a:xfrm>
            <a:off x="594360" y="2212848"/>
            <a:ext cx="34290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92F7B"/>
              </a:buClr>
              <a:buSzPts val="4000"/>
              <a:buFont typeface="Calibri"/>
              <a:buNone/>
            </a:pPr>
            <a:r>
              <a:rPr b="1" i="0" lang="en-US" sz="4000" u="none" cap="none" strike="noStrike">
                <a:solidFill>
                  <a:srgbClr val="192F7B"/>
                </a:solidFill>
                <a:latin typeface="Calibri"/>
                <a:ea typeface="Calibri"/>
                <a:cs typeface="Calibri"/>
                <a:sym typeface="Calibri"/>
              </a:rPr>
              <a:t>380</a:t>
            </a:r>
            <a:endParaRPr b="0" i="0" sz="4000" u="none" cap="none" strike="noStrike">
              <a:solidFill>
                <a:schemeClr val="dk1"/>
              </a:solidFill>
              <a:latin typeface="Calibri"/>
              <a:ea typeface="Calibri"/>
              <a:cs typeface="Calibri"/>
              <a:sym typeface="Calibri"/>
            </a:endParaRPr>
          </a:p>
        </p:txBody>
      </p:sp>
      <p:sp>
        <p:nvSpPr>
          <p:cNvPr id="58" name="Google Shape;58;p2"/>
          <p:cNvSpPr txBox="1"/>
          <p:nvPr/>
        </p:nvSpPr>
        <p:spPr>
          <a:xfrm>
            <a:off x="2926080" y="2286000"/>
            <a:ext cx="1097280"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B6573"/>
              </a:buClr>
              <a:buSzPts val="850"/>
              <a:buFont typeface="Calibri"/>
              <a:buNone/>
            </a:pPr>
            <a:r>
              <a:rPr b="1" i="0" lang="en-US" sz="850" u="none" cap="none" strike="noStrike">
                <a:solidFill>
                  <a:srgbClr val="5B6573"/>
                </a:solidFill>
                <a:latin typeface="Calibri"/>
                <a:ea typeface="Calibri"/>
                <a:cs typeface="Calibri"/>
                <a:sym typeface="Calibri"/>
              </a:rPr>
              <a:t>[OBSERVED]</a:t>
            </a:r>
            <a:endParaRPr b="0" i="0" sz="850" u="none" cap="none" strike="noStrike">
              <a:solidFill>
                <a:schemeClr val="dk1"/>
              </a:solidFill>
              <a:latin typeface="Calibri"/>
              <a:ea typeface="Calibri"/>
              <a:cs typeface="Calibri"/>
              <a:sym typeface="Calibri"/>
            </a:endParaRPr>
          </a:p>
        </p:txBody>
      </p:sp>
      <p:sp>
        <p:nvSpPr>
          <p:cNvPr id="59" name="Google Shape;59;p2"/>
          <p:cNvSpPr txBox="1"/>
          <p:nvPr/>
        </p:nvSpPr>
        <p:spPr>
          <a:xfrm>
            <a:off x="594360" y="2761488"/>
            <a:ext cx="3429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430"/>
              </a:buClr>
              <a:buSzPts val="1250"/>
              <a:buFont typeface="Calibri"/>
              <a:buNone/>
            </a:pPr>
            <a:r>
              <a:rPr b="0" i="0" lang="en-US" sz="1250" u="none" cap="none" strike="noStrike">
                <a:solidFill>
                  <a:srgbClr val="1E2430"/>
                </a:solidFill>
                <a:latin typeface="Calibri"/>
                <a:ea typeface="Calibri"/>
                <a:cs typeface="Calibri"/>
                <a:sym typeface="Calibri"/>
              </a:rPr>
              <a:t>incidents across 12 plants, 4 Jan 2024 to 25 Jul 2026</a:t>
            </a:r>
            <a:endParaRPr b="0" i="0" sz="1250" u="none" cap="none" strike="noStrike">
              <a:solidFill>
                <a:schemeClr val="dk1"/>
              </a:solidFill>
              <a:latin typeface="Calibri"/>
              <a:ea typeface="Calibri"/>
              <a:cs typeface="Calibri"/>
              <a:sym typeface="Calibri"/>
            </a:endParaRPr>
          </a:p>
        </p:txBody>
      </p:sp>
      <p:cxnSp>
        <p:nvCxnSpPr>
          <p:cNvPr id="60" name="Google Shape;60;p2"/>
          <p:cNvCxnSpPr/>
          <p:nvPr/>
        </p:nvCxnSpPr>
        <p:spPr>
          <a:xfrm>
            <a:off x="594360" y="3145536"/>
            <a:ext cx="3429000" cy="0"/>
          </a:xfrm>
          <a:prstGeom prst="straightConnector1">
            <a:avLst/>
          </a:prstGeom>
          <a:noFill/>
          <a:ln cap="flat" cmpd="sng" w="9525">
            <a:solidFill>
              <a:srgbClr val="D3DAE4"/>
            </a:solidFill>
            <a:prstDash val="solid"/>
            <a:round/>
            <a:headEnd len="sm" w="sm" type="none"/>
            <a:tailEnd len="sm" w="sm" type="none"/>
          </a:ln>
        </p:spPr>
      </p:cxnSp>
      <p:sp>
        <p:nvSpPr>
          <p:cNvPr id="61" name="Google Shape;61;p2"/>
          <p:cNvSpPr txBox="1"/>
          <p:nvPr/>
        </p:nvSpPr>
        <p:spPr>
          <a:xfrm>
            <a:off x="594360" y="3182112"/>
            <a:ext cx="34290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92F7B"/>
              </a:buClr>
              <a:buSzPts val="4000"/>
              <a:buFont typeface="Calibri"/>
              <a:buNone/>
            </a:pPr>
            <a:r>
              <a:rPr b="1" i="0" lang="en-US" sz="4000" u="none" cap="none" strike="noStrike">
                <a:solidFill>
                  <a:srgbClr val="192F7B"/>
                </a:solidFill>
                <a:latin typeface="Calibri"/>
                <a:ea typeface="Calibri"/>
                <a:cs typeface="Calibri"/>
                <a:sym typeface="Calibri"/>
              </a:rPr>
              <a:t>US$61.9M</a:t>
            </a:r>
            <a:endParaRPr b="0" i="0" sz="4000" u="none" cap="none" strike="noStrike">
              <a:solidFill>
                <a:schemeClr val="dk1"/>
              </a:solidFill>
              <a:latin typeface="Calibri"/>
              <a:ea typeface="Calibri"/>
              <a:cs typeface="Calibri"/>
              <a:sym typeface="Calibri"/>
            </a:endParaRPr>
          </a:p>
        </p:txBody>
      </p:sp>
      <p:sp>
        <p:nvSpPr>
          <p:cNvPr id="62" name="Google Shape;62;p2"/>
          <p:cNvSpPr txBox="1"/>
          <p:nvPr/>
        </p:nvSpPr>
        <p:spPr>
          <a:xfrm>
            <a:off x="2926080" y="3255264"/>
            <a:ext cx="1097280"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B6573"/>
              </a:buClr>
              <a:buSzPts val="850"/>
              <a:buFont typeface="Calibri"/>
              <a:buNone/>
            </a:pPr>
            <a:r>
              <a:rPr b="1" i="0" lang="en-US" sz="850" u="none" cap="none" strike="noStrike">
                <a:solidFill>
                  <a:srgbClr val="5B6573"/>
                </a:solidFill>
                <a:latin typeface="Calibri"/>
                <a:ea typeface="Calibri"/>
                <a:cs typeface="Calibri"/>
                <a:sym typeface="Calibri"/>
              </a:rPr>
              <a:t>[DERIVED]</a:t>
            </a:r>
            <a:endParaRPr b="0" i="0" sz="850" u="none" cap="none" strike="noStrike">
              <a:solidFill>
                <a:schemeClr val="dk1"/>
              </a:solidFill>
              <a:latin typeface="Calibri"/>
              <a:ea typeface="Calibri"/>
              <a:cs typeface="Calibri"/>
              <a:sym typeface="Calibri"/>
            </a:endParaRPr>
          </a:p>
        </p:txBody>
      </p:sp>
      <p:sp>
        <p:nvSpPr>
          <p:cNvPr id="63" name="Google Shape;63;p2"/>
          <p:cNvSpPr txBox="1"/>
          <p:nvPr/>
        </p:nvSpPr>
        <p:spPr>
          <a:xfrm>
            <a:off x="594360" y="3730752"/>
            <a:ext cx="3429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430"/>
              </a:buClr>
              <a:buSzPts val="1250"/>
              <a:buFont typeface="Calibri"/>
              <a:buNone/>
            </a:pPr>
            <a:r>
              <a:rPr b="0" i="0" lang="en-US" sz="1250" u="none" cap="none" strike="noStrike">
                <a:solidFill>
                  <a:srgbClr val="1E2430"/>
                </a:solidFill>
                <a:latin typeface="Calibri"/>
                <a:ea typeface="Calibri"/>
                <a:cs typeface="Calibri"/>
                <a:sym typeface="Calibri"/>
              </a:rPr>
              <a:t>actual loss; 99.7% of it sits on incidents with downtime</a:t>
            </a:r>
            <a:endParaRPr b="0" i="0" sz="1250" u="none" cap="none" strike="noStrike">
              <a:solidFill>
                <a:schemeClr val="dk1"/>
              </a:solidFill>
              <a:latin typeface="Calibri"/>
              <a:ea typeface="Calibri"/>
              <a:cs typeface="Calibri"/>
              <a:sym typeface="Calibri"/>
            </a:endParaRPr>
          </a:p>
        </p:txBody>
      </p:sp>
      <p:cxnSp>
        <p:nvCxnSpPr>
          <p:cNvPr id="64" name="Google Shape;64;p2"/>
          <p:cNvCxnSpPr/>
          <p:nvPr/>
        </p:nvCxnSpPr>
        <p:spPr>
          <a:xfrm>
            <a:off x="594360" y="4114800"/>
            <a:ext cx="3429000" cy="0"/>
          </a:xfrm>
          <a:prstGeom prst="straightConnector1">
            <a:avLst/>
          </a:prstGeom>
          <a:noFill/>
          <a:ln cap="flat" cmpd="sng" w="9525">
            <a:solidFill>
              <a:srgbClr val="D3DAE4"/>
            </a:solidFill>
            <a:prstDash val="solid"/>
            <a:round/>
            <a:headEnd len="sm" w="sm" type="none"/>
            <a:tailEnd len="sm" w="sm" type="none"/>
          </a:ln>
        </p:spPr>
      </p:cxnSp>
      <p:sp>
        <p:nvSpPr>
          <p:cNvPr id="65" name="Google Shape;65;p2"/>
          <p:cNvSpPr txBox="1"/>
          <p:nvPr/>
        </p:nvSpPr>
        <p:spPr>
          <a:xfrm>
            <a:off x="594360" y="4151376"/>
            <a:ext cx="34290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92F7B"/>
              </a:buClr>
              <a:buSzPts val="4000"/>
              <a:buFont typeface="Calibri"/>
              <a:buNone/>
            </a:pPr>
            <a:r>
              <a:rPr b="1" i="0" lang="en-US" sz="4000" u="none" cap="none" strike="noStrike">
                <a:solidFill>
                  <a:srgbClr val="192F7B"/>
                </a:solidFill>
                <a:latin typeface="Calibri"/>
                <a:ea typeface="Calibri"/>
                <a:cs typeface="Calibri"/>
                <a:sym typeface="Calibri"/>
              </a:rPr>
              <a:t>2,261 h</a:t>
            </a:r>
            <a:endParaRPr b="0" i="0" sz="4000" u="none" cap="none" strike="noStrike">
              <a:solidFill>
                <a:schemeClr val="dk1"/>
              </a:solidFill>
              <a:latin typeface="Calibri"/>
              <a:ea typeface="Calibri"/>
              <a:cs typeface="Calibri"/>
              <a:sym typeface="Calibri"/>
            </a:endParaRPr>
          </a:p>
        </p:txBody>
      </p:sp>
      <p:sp>
        <p:nvSpPr>
          <p:cNvPr id="66" name="Google Shape;66;p2"/>
          <p:cNvSpPr txBox="1"/>
          <p:nvPr/>
        </p:nvSpPr>
        <p:spPr>
          <a:xfrm>
            <a:off x="2926080" y="4224528"/>
            <a:ext cx="1097280"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B6573"/>
              </a:buClr>
              <a:buSzPts val="850"/>
              <a:buFont typeface="Calibri"/>
              <a:buNone/>
            </a:pPr>
            <a:r>
              <a:rPr b="1" i="0" lang="en-US" sz="850" u="none" cap="none" strike="noStrike">
                <a:solidFill>
                  <a:srgbClr val="5B6573"/>
                </a:solidFill>
                <a:latin typeface="Calibri"/>
                <a:ea typeface="Calibri"/>
                <a:cs typeface="Calibri"/>
                <a:sym typeface="Calibri"/>
              </a:rPr>
              <a:t>[DERIVED]</a:t>
            </a:r>
            <a:endParaRPr b="0" i="0" sz="850" u="none" cap="none" strike="noStrike">
              <a:solidFill>
                <a:schemeClr val="dk1"/>
              </a:solidFill>
              <a:latin typeface="Calibri"/>
              <a:ea typeface="Calibri"/>
              <a:cs typeface="Calibri"/>
              <a:sym typeface="Calibri"/>
            </a:endParaRPr>
          </a:p>
        </p:txBody>
      </p:sp>
      <p:sp>
        <p:nvSpPr>
          <p:cNvPr id="67" name="Google Shape;67;p2"/>
          <p:cNvSpPr txBox="1"/>
          <p:nvPr/>
        </p:nvSpPr>
        <p:spPr>
          <a:xfrm>
            <a:off x="594360" y="4700016"/>
            <a:ext cx="3429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430"/>
              </a:buClr>
              <a:buSzPts val="1250"/>
              <a:buFont typeface="Calibri"/>
              <a:buNone/>
            </a:pPr>
            <a:r>
              <a:rPr b="0" i="0" lang="en-US" sz="1250" u="none" cap="none" strike="noStrike">
                <a:solidFill>
                  <a:srgbClr val="1E2430"/>
                </a:solidFill>
                <a:latin typeface="Calibri"/>
                <a:ea typeface="Calibri"/>
                <a:cs typeface="Calibri"/>
                <a:sym typeface="Calibri"/>
              </a:rPr>
              <a:t>recorded downtime across the register</a:t>
            </a:r>
            <a:endParaRPr b="0" i="0" sz="1250" u="none" cap="none" strike="noStrike">
              <a:solidFill>
                <a:schemeClr val="dk1"/>
              </a:solidFill>
              <a:latin typeface="Calibri"/>
              <a:ea typeface="Calibri"/>
              <a:cs typeface="Calibri"/>
              <a:sym typeface="Calibri"/>
            </a:endParaRPr>
          </a:p>
        </p:txBody>
      </p:sp>
      <p:sp>
        <p:nvSpPr>
          <p:cNvPr id="68" name="Google Shape;68;p2"/>
          <p:cNvSpPr txBox="1"/>
          <p:nvPr/>
        </p:nvSpPr>
        <p:spPr>
          <a:xfrm>
            <a:off x="4480560" y="1755648"/>
            <a:ext cx="7205472" cy="329184"/>
          </a:xfrm>
          <a:prstGeom prst="rect">
            <a:avLst/>
          </a:prstGeom>
          <a:solidFill>
            <a:srgbClr val="192F7B"/>
          </a:solidFill>
          <a:ln cap="flat" cmpd="sng" w="9525">
            <a:solidFill>
              <a:srgbClr val="192F7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Complication: the chain from signal to action is broken</a:t>
            </a:r>
            <a:endParaRPr b="0" i="0" sz="1200" u="none" cap="none" strike="noStrike">
              <a:solidFill>
                <a:schemeClr val="dk1"/>
              </a:solidFill>
              <a:latin typeface="Calibri"/>
              <a:ea typeface="Calibri"/>
              <a:cs typeface="Calibri"/>
              <a:sym typeface="Calibri"/>
            </a:endParaRPr>
          </a:p>
        </p:txBody>
      </p:sp>
      <p:sp>
        <p:nvSpPr>
          <p:cNvPr id="69" name="Google Shape;69;p2"/>
          <p:cNvSpPr txBox="1"/>
          <p:nvPr/>
        </p:nvSpPr>
        <p:spPr>
          <a:xfrm>
            <a:off x="4480560" y="2212848"/>
            <a:ext cx="1325880" cy="384048"/>
          </a:xfrm>
          <a:prstGeom prst="rect">
            <a:avLst/>
          </a:prstGeom>
          <a:solidFill>
            <a:srgbClr val="FFFFFF"/>
          </a:solidFill>
          <a:ln cap="flat" cmpd="sng" w="15875">
            <a:solidFill>
              <a:srgbClr val="192F7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92F7B"/>
              </a:buClr>
              <a:buSzPts val="1200"/>
              <a:buFont typeface="Calibri"/>
              <a:buNone/>
            </a:pPr>
            <a:r>
              <a:rPr b="1" i="0" lang="en-US" sz="1200" u="none" cap="none" strike="noStrike">
                <a:solidFill>
                  <a:srgbClr val="192F7B"/>
                </a:solidFill>
                <a:latin typeface="Calibri"/>
                <a:ea typeface="Calibri"/>
                <a:cs typeface="Calibri"/>
                <a:sym typeface="Calibri"/>
              </a:rPr>
              <a:t>SIGNAL</a:t>
            </a:r>
            <a:endParaRPr b="0" i="0" sz="1200" u="none" cap="none" strike="noStrike">
              <a:solidFill>
                <a:schemeClr val="dk1"/>
              </a:solidFill>
              <a:latin typeface="Calibri"/>
              <a:ea typeface="Calibri"/>
              <a:cs typeface="Calibri"/>
              <a:sym typeface="Calibri"/>
            </a:endParaRPr>
          </a:p>
        </p:txBody>
      </p:sp>
      <p:cxnSp>
        <p:nvCxnSpPr>
          <p:cNvPr id="70" name="Google Shape;70;p2"/>
          <p:cNvCxnSpPr/>
          <p:nvPr/>
        </p:nvCxnSpPr>
        <p:spPr>
          <a:xfrm>
            <a:off x="5861304" y="2404872"/>
            <a:ext cx="115824" cy="0"/>
          </a:xfrm>
          <a:prstGeom prst="straightConnector1">
            <a:avLst/>
          </a:prstGeom>
          <a:noFill/>
          <a:ln cap="flat" cmpd="sng" w="15875">
            <a:solidFill>
              <a:srgbClr val="192F7B"/>
            </a:solidFill>
            <a:prstDash val="solid"/>
            <a:round/>
            <a:headEnd len="sm" w="sm" type="none"/>
            <a:tailEnd len="sm" w="sm" type="none"/>
          </a:ln>
        </p:spPr>
      </p:cxnSp>
      <p:cxnSp>
        <p:nvCxnSpPr>
          <p:cNvPr id="71" name="Google Shape;71;p2"/>
          <p:cNvCxnSpPr/>
          <p:nvPr/>
        </p:nvCxnSpPr>
        <p:spPr>
          <a:xfrm>
            <a:off x="6269736" y="2404872"/>
            <a:ext cx="115824" cy="0"/>
          </a:xfrm>
          <a:prstGeom prst="straightConnector1">
            <a:avLst/>
          </a:prstGeom>
          <a:noFill/>
          <a:ln cap="flat" cmpd="sng" w="15875">
            <a:solidFill>
              <a:srgbClr val="AEB6C3"/>
            </a:solidFill>
            <a:prstDash val="dash"/>
            <a:round/>
            <a:headEnd len="sm" w="sm" type="none"/>
            <a:tailEnd len="sm" w="sm" type="none"/>
          </a:ln>
        </p:spPr>
      </p:cxnSp>
      <p:sp>
        <p:nvSpPr>
          <p:cNvPr id="72" name="Google Shape;72;p2"/>
          <p:cNvSpPr txBox="1"/>
          <p:nvPr/>
        </p:nvSpPr>
        <p:spPr>
          <a:xfrm>
            <a:off x="5986272" y="2267712"/>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42318"/>
              </a:buClr>
              <a:buSzPts val="1300"/>
              <a:buFont typeface="Calibri"/>
              <a:buNone/>
            </a:pPr>
            <a:r>
              <a:rPr b="1" i="0" lang="en-US" sz="1300" u="none" cap="none" strike="noStrike">
                <a:solidFill>
                  <a:srgbClr val="B42318"/>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73" name="Google Shape;73;p2"/>
          <p:cNvSpPr txBox="1"/>
          <p:nvPr/>
        </p:nvSpPr>
        <p:spPr>
          <a:xfrm>
            <a:off x="6440424" y="2212848"/>
            <a:ext cx="1325880" cy="384048"/>
          </a:xfrm>
          <a:prstGeom prst="rect">
            <a:avLst/>
          </a:prstGeom>
          <a:solidFill>
            <a:srgbClr val="FFFFFF"/>
          </a:solidFill>
          <a:ln cap="flat" cmpd="sng" w="15875">
            <a:solidFill>
              <a:srgbClr val="192F7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92F7B"/>
              </a:buClr>
              <a:buSzPts val="1200"/>
              <a:buFont typeface="Calibri"/>
              <a:buNone/>
            </a:pPr>
            <a:r>
              <a:rPr b="1" i="0" lang="en-US" sz="1200" u="none" cap="none" strike="noStrike">
                <a:solidFill>
                  <a:srgbClr val="192F7B"/>
                </a:solidFill>
                <a:latin typeface="Calibri"/>
                <a:ea typeface="Calibri"/>
                <a:cs typeface="Calibri"/>
                <a:sym typeface="Calibri"/>
              </a:rPr>
              <a:t>CONTEXT</a:t>
            </a:r>
            <a:endParaRPr b="0" i="0" sz="1200" u="none" cap="none" strike="noStrike">
              <a:solidFill>
                <a:schemeClr val="dk1"/>
              </a:solidFill>
              <a:latin typeface="Calibri"/>
              <a:ea typeface="Calibri"/>
              <a:cs typeface="Calibri"/>
              <a:sym typeface="Calibri"/>
            </a:endParaRPr>
          </a:p>
        </p:txBody>
      </p:sp>
      <p:cxnSp>
        <p:nvCxnSpPr>
          <p:cNvPr id="74" name="Google Shape;74;p2"/>
          <p:cNvCxnSpPr/>
          <p:nvPr/>
        </p:nvCxnSpPr>
        <p:spPr>
          <a:xfrm>
            <a:off x="7821168" y="2404872"/>
            <a:ext cx="115824" cy="0"/>
          </a:xfrm>
          <a:prstGeom prst="straightConnector1">
            <a:avLst/>
          </a:prstGeom>
          <a:noFill/>
          <a:ln cap="flat" cmpd="sng" w="15875">
            <a:solidFill>
              <a:srgbClr val="192F7B"/>
            </a:solidFill>
            <a:prstDash val="solid"/>
            <a:round/>
            <a:headEnd len="sm" w="sm" type="none"/>
            <a:tailEnd len="sm" w="sm" type="none"/>
          </a:ln>
        </p:spPr>
      </p:cxnSp>
      <p:cxnSp>
        <p:nvCxnSpPr>
          <p:cNvPr id="75" name="Google Shape;75;p2"/>
          <p:cNvCxnSpPr/>
          <p:nvPr/>
        </p:nvCxnSpPr>
        <p:spPr>
          <a:xfrm>
            <a:off x="8229600" y="2404872"/>
            <a:ext cx="115824" cy="0"/>
          </a:xfrm>
          <a:prstGeom prst="straightConnector1">
            <a:avLst/>
          </a:prstGeom>
          <a:noFill/>
          <a:ln cap="flat" cmpd="sng" w="15875">
            <a:solidFill>
              <a:srgbClr val="AEB6C3"/>
            </a:solidFill>
            <a:prstDash val="dash"/>
            <a:round/>
            <a:headEnd len="sm" w="sm" type="none"/>
            <a:tailEnd len="sm" w="sm" type="none"/>
          </a:ln>
        </p:spPr>
      </p:cxnSp>
      <p:sp>
        <p:nvSpPr>
          <p:cNvPr id="76" name="Google Shape;76;p2"/>
          <p:cNvSpPr txBox="1"/>
          <p:nvPr/>
        </p:nvSpPr>
        <p:spPr>
          <a:xfrm>
            <a:off x="7946136" y="2267712"/>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42318"/>
              </a:buClr>
              <a:buSzPts val="1300"/>
              <a:buFont typeface="Calibri"/>
              <a:buNone/>
            </a:pPr>
            <a:r>
              <a:rPr b="1" i="0" lang="en-US" sz="1300" u="none" cap="none" strike="noStrike">
                <a:solidFill>
                  <a:srgbClr val="B42318"/>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77" name="Google Shape;77;p2"/>
          <p:cNvSpPr txBox="1"/>
          <p:nvPr/>
        </p:nvSpPr>
        <p:spPr>
          <a:xfrm>
            <a:off x="8400288" y="2212848"/>
            <a:ext cx="1325880" cy="384048"/>
          </a:xfrm>
          <a:prstGeom prst="rect">
            <a:avLst/>
          </a:prstGeom>
          <a:solidFill>
            <a:srgbClr val="FFFFFF"/>
          </a:solidFill>
          <a:ln cap="flat" cmpd="sng" w="15875">
            <a:solidFill>
              <a:srgbClr val="192F7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92F7B"/>
              </a:buClr>
              <a:buSzPts val="1200"/>
              <a:buFont typeface="Calibri"/>
              <a:buNone/>
            </a:pPr>
            <a:r>
              <a:rPr b="1" i="0" lang="en-US" sz="1200" u="none" cap="none" strike="noStrike">
                <a:solidFill>
                  <a:srgbClr val="192F7B"/>
                </a:solidFill>
                <a:latin typeface="Calibri"/>
                <a:ea typeface="Calibri"/>
                <a:cs typeface="Calibri"/>
                <a:sym typeface="Calibri"/>
              </a:rPr>
              <a:t>EVIDENCE</a:t>
            </a:r>
            <a:endParaRPr b="0" i="0" sz="1200" u="none" cap="none" strike="noStrike">
              <a:solidFill>
                <a:schemeClr val="dk1"/>
              </a:solidFill>
              <a:latin typeface="Calibri"/>
              <a:ea typeface="Calibri"/>
              <a:cs typeface="Calibri"/>
              <a:sym typeface="Calibri"/>
            </a:endParaRPr>
          </a:p>
        </p:txBody>
      </p:sp>
      <p:cxnSp>
        <p:nvCxnSpPr>
          <p:cNvPr id="78" name="Google Shape;78;p2"/>
          <p:cNvCxnSpPr/>
          <p:nvPr/>
        </p:nvCxnSpPr>
        <p:spPr>
          <a:xfrm>
            <a:off x="9781032" y="2404872"/>
            <a:ext cx="115824" cy="0"/>
          </a:xfrm>
          <a:prstGeom prst="straightConnector1">
            <a:avLst/>
          </a:prstGeom>
          <a:noFill/>
          <a:ln cap="flat" cmpd="sng" w="15875">
            <a:solidFill>
              <a:srgbClr val="192F7B"/>
            </a:solidFill>
            <a:prstDash val="solid"/>
            <a:round/>
            <a:headEnd len="sm" w="sm" type="none"/>
            <a:tailEnd len="sm" w="sm" type="none"/>
          </a:ln>
        </p:spPr>
      </p:cxnSp>
      <p:cxnSp>
        <p:nvCxnSpPr>
          <p:cNvPr id="79" name="Google Shape;79;p2"/>
          <p:cNvCxnSpPr/>
          <p:nvPr/>
        </p:nvCxnSpPr>
        <p:spPr>
          <a:xfrm>
            <a:off x="10189464" y="2404872"/>
            <a:ext cx="115824" cy="0"/>
          </a:xfrm>
          <a:prstGeom prst="straightConnector1">
            <a:avLst/>
          </a:prstGeom>
          <a:noFill/>
          <a:ln cap="flat" cmpd="sng" w="15875">
            <a:solidFill>
              <a:srgbClr val="AEB6C3"/>
            </a:solidFill>
            <a:prstDash val="dash"/>
            <a:round/>
            <a:headEnd len="sm" w="sm" type="none"/>
            <a:tailEnd len="sm" w="sm" type="none"/>
          </a:ln>
        </p:spPr>
      </p:cxnSp>
      <p:sp>
        <p:nvSpPr>
          <p:cNvPr id="80" name="Google Shape;80;p2"/>
          <p:cNvSpPr txBox="1"/>
          <p:nvPr/>
        </p:nvSpPr>
        <p:spPr>
          <a:xfrm>
            <a:off x="9906000" y="2267712"/>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42318"/>
              </a:buClr>
              <a:buSzPts val="1300"/>
              <a:buFont typeface="Calibri"/>
              <a:buNone/>
            </a:pPr>
            <a:r>
              <a:rPr b="1" i="0" lang="en-US" sz="1300" u="none" cap="none" strike="noStrike">
                <a:solidFill>
                  <a:srgbClr val="B42318"/>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81" name="Google Shape;81;p2"/>
          <p:cNvSpPr txBox="1"/>
          <p:nvPr/>
        </p:nvSpPr>
        <p:spPr>
          <a:xfrm>
            <a:off x="10360152" y="2212848"/>
            <a:ext cx="1325880" cy="384048"/>
          </a:xfrm>
          <a:prstGeom prst="rect">
            <a:avLst/>
          </a:prstGeom>
          <a:solidFill>
            <a:srgbClr val="FFFFFF"/>
          </a:solidFill>
          <a:ln cap="flat" cmpd="sng" w="15875">
            <a:solidFill>
              <a:srgbClr val="192F7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92F7B"/>
              </a:buClr>
              <a:buSzPts val="1200"/>
              <a:buFont typeface="Calibri"/>
              <a:buNone/>
            </a:pPr>
            <a:r>
              <a:rPr b="1" i="0" lang="en-US" sz="1200" u="none" cap="none" strike="noStrike">
                <a:solidFill>
                  <a:srgbClr val="192F7B"/>
                </a:solidFill>
                <a:latin typeface="Calibri"/>
                <a:ea typeface="Calibri"/>
                <a:cs typeface="Calibri"/>
                <a:sym typeface="Calibri"/>
              </a:rPr>
              <a:t>ACTION</a:t>
            </a:r>
            <a:endParaRPr b="0" i="0" sz="1200" u="none" cap="none" strike="noStrike">
              <a:solidFill>
                <a:schemeClr val="dk1"/>
              </a:solidFill>
              <a:latin typeface="Calibri"/>
              <a:ea typeface="Calibri"/>
              <a:cs typeface="Calibri"/>
              <a:sym typeface="Calibri"/>
            </a:endParaRPr>
          </a:p>
        </p:txBody>
      </p:sp>
      <p:sp>
        <p:nvSpPr>
          <p:cNvPr id="82" name="Google Shape;82;p2"/>
          <p:cNvSpPr txBox="1"/>
          <p:nvPr/>
        </p:nvSpPr>
        <p:spPr>
          <a:xfrm>
            <a:off x="4480560" y="2743200"/>
            <a:ext cx="457200" cy="420624"/>
          </a:xfrm>
          <a:prstGeom prst="rect">
            <a:avLst/>
          </a:prstGeom>
          <a:solidFill>
            <a:srgbClr val="192F7B"/>
          </a:solidFill>
          <a:ln cap="flat" cmpd="sng" w="9525">
            <a:solidFill>
              <a:srgbClr val="192F7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01</a:t>
            </a:r>
            <a:endParaRPr b="0" i="0" sz="1200" u="none" cap="none" strike="noStrike">
              <a:solidFill>
                <a:schemeClr val="dk1"/>
              </a:solidFill>
              <a:latin typeface="Calibri"/>
              <a:ea typeface="Calibri"/>
              <a:cs typeface="Calibri"/>
              <a:sym typeface="Calibri"/>
            </a:endParaRPr>
          </a:p>
        </p:txBody>
      </p:sp>
      <p:sp>
        <p:nvSpPr>
          <p:cNvPr id="83" name="Google Shape;83;p2"/>
          <p:cNvSpPr/>
          <p:nvPr/>
        </p:nvSpPr>
        <p:spPr>
          <a:xfrm>
            <a:off x="4974336" y="2743200"/>
            <a:ext cx="6711696" cy="420624"/>
          </a:xfrm>
          <a:prstGeom prst="rect">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
          <p:cNvSpPr txBox="1"/>
          <p:nvPr/>
        </p:nvSpPr>
        <p:spPr>
          <a:xfrm>
            <a:off x="5084064" y="2743200"/>
            <a:ext cx="224028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430"/>
              </a:buClr>
              <a:buSzPts val="1300"/>
              <a:buFont typeface="Calibri"/>
              <a:buNone/>
            </a:pPr>
            <a:r>
              <a:rPr b="1" i="0" lang="en-US" sz="1300" u="none" cap="none" strike="noStrike">
                <a:solidFill>
                  <a:srgbClr val="1E2430"/>
                </a:solidFill>
                <a:latin typeface="Calibri"/>
                <a:ea typeface="Calibri"/>
                <a:cs typeface="Calibri"/>
                <a:sym typeface="Calibri"/>
              </a:rPr>
              <a:t>Fragmented information</a:t>
            </a:r>
            <a:endParaRPr b="0" i="0" sz="1300" u="none" cap="none" strike="noStrike">
              <a:solidFill>
                <a:schemeClr val="dk1"/>
              </a:solidFill>
              <a:latin typeface="Calibri"/>
              <a:ea typeface="Calibri"/>
              <a:cs typeface="Calibri"/>
              <a:sym typeface="Calibri"/>
            </a:endParaRPr>
          </a:p>
        </p:txBody>
      </p:sp>
      <p:sp>
        <p:nvSpPr>
          <p:cNvPr id="85" name="Google Shape;85;p2"/>
          <p:cNvSpPr txBox="1"/>
          <p:nvPr/>
        </p:nvSpPr>
        <p:spPr>
          <a:xfrm>
            <a:off x="7360920" y="2743200"/>
            <a:ext cx="4233672"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3"/>
              </a:buClr>
              <a:buSzPts val="1150"/>
              <a:buFont typeface="Calibri"/>
              <a:buNone/>
            </a:pPr>
            <a:r>
              <a:rPr b="0" i="0" lang="en-US" sz="1150" u="none" cap="none" strike="noStrike">
                <a:solidFill>
                  <a:srgbClr val="5B6573"/>
                </a:solidFill>
                <a:latin typeface="Calibri"/>
                <a:ea typeface="Calibri"/>
                <a:cs typeface="Calibri"/>
                <a:sym typeface="Calibri"/>
              </a:rPr>
              <a:t>Functions use different systems, KPI definitions and reporting timelines (Case 2 statement)</a:t>
            </a:r>
            <a:endParaRPr b="0" i="0" sz="1150" u="none" cap="none" strike="noStrike">
              <a:solidFill>
                <a:schemeClr val="dk1"/>
              </a:solidFill>
              <a:latin typeface="Calibri"/>
              <a:ea typeface="Calibri"/>
              <a:cs typeface="Calibri"/>
              <a:sym typeface="Calibri"/>
            </a:endParaRPr>
          </a:p>
        </p:txBody>
      </p:sp>
      <p:sp>
        <p:nvSpPr>
          <p:cNvPr id="86" name="Google Shape;86;p2"/>
          <p:cNvSpPr txBox="1"/>
          <p:nvPr/>
        </p:nvSpPr>
        <p:spPr>
          <a:xfrm>
            <a:off x="4480560" y="3218688"/>
            <a:ext cx="457200" cy="420624"/>
          </a:xfrm>
          <a:prstGeom prst="rect">
            <a:avLst/>
          </a:prstGeom>
          <a:solidFill>
            <a:srgbClr val="192F7B"/>
          </a:solidFill>
          <a:ln cap="flat" cmpd="sng" w="9525">
            <a:solidFill>
              <a:srgbClr val="192F7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02</a:t>
            </a:r>
            <a:endParaRPr b="0" i="0" sz="1200" u="none" cap="none" strike="noStrike">
              <a:solidFill>
                <a:schemeClr val="dk1"/>
              </a:solidFill>
              <a:latin typeface="Calibri"/>
              <a:ea typeface="Calibri"/>
              <a:cs typeface="Calibri"/>
              <a:sym typeface="Calibri"/>
            </a:endParaRPr>
          </a:p>
        </p:txBody>
      </p:sp>
      <p:sp>
        <p:nvSpPr>
          <p:cNvPr id="87" name="Google Shape;87;p2"/>
          <p:cNvSpPr/>
          <p:nvPr/>
        </p:nvSpPr>
        <p:spPr>
          <a:xfrm>
            <a:off x="4974336" y="3218688"/>
            <a:ext cx="6711696" cy="420624"/>
          </a:xfrm>
          <a:prstGeom prst="rect">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
          <p:cNvSpPr txBox="1"/>
          <p:nvPr/>
        </p:nvSpPr>
        <p:spPr>
          <a:xfrm>
            <a:off x="5084064" y="3218688"/>
            <a:ext cx="224028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430"/>
              </a:buClr>
              <a:buSzPts val="1300"/>
              <a:buFont typeface="Calibri"/>
              <a:buNone/>
            </a:pPr>
            <a:r>
              <a:rPr b="1" i="0" lang="en-US" sz="1300" u="none" cap="none" strike="noStrike">
                <a:solidFill>
                  <a:srgbClr val="1E2430"/>
                </a:solidFill>
                <a:latin typeface="Calibri"/>
                <a:ea typeface="Calibri"/>
                <a:cs typeface="Calibri"/>
                <a:sym typeface="Calibri"/>
              </a:rPr>
              <a:t>Signals not turned into triggers</a:t>
            </a:r>
            <a:endParaRPr b="0" i="0" sz="1300" u="none" cap="none" strike="noStrike">
              <a:solidFill>
                <a:schemeClr val="dk1"/>
              </a:solidFill>
              <a:latin typeface="Calibri"/>
              <a:ea typeface="Calibri"/>
              <a:cs typeface="Calibri"/>
              <a:sym typeface="Calibri"/>
            </a:endParaRPr>
          </a:p>
        </p:txBody>
      </p:sp>
      <p:sp>
        <p:nvSpPr>
          <p:cNvPr id="89" name="Google Shape;89;p2"/>
          <p:cNvSpPr txBox="1"/>
          <p:nvPr/>
        </p:nvSpPr>
        <p:spPr>
          <a:xfrm>
            <a:off x="7360920" y="3218688"/>
            <a:ext cx="4233672"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3"/>
              </a:buClr>
              <a:buSzPts val="1150"/>
              <a:buFont typeface="Calibri"/>
              <a:buNone/>
            </a:pPr>
            <a:r>
              <a:rPr b="0" i="0" lang="en-US" sz="1150" u="none" cap="none" strike="noStrike">
                <a:solidFill>
                  <a:srgbClr val="5B6573"/>
                </a:solidFill>
                <a:latin typeface="Calibri"/>
                <a:ea typeface="Calibri"/>
                <a:cs typeface="Calibri"/>
                <a:sym typeface="Calibri"/>
              </a:rPr>
              <a:t>5 of 5 verified RCAs record a missing monitoring, trending, alerting, tracking or visibility link</a:t>
            </a:r>
            <a:endParaRPr b="0" i="0" sz="1150" u="none" cap="none" strike="noStrike">
              <a:solidFill>
                <a:schemeClr val="dk1"/>
              </a:solidFill>
              <a:latin typeface="Calibri"/>
              <a:ea typeface="Calibri"/>
              <a:cs typeface="Calibri"/>
              <a:sym typeface="Calibri"/>
            </a:endParaRPr>
          </a:p>
        </p:txBody>
      </p:sp>
      <p:sp>
        <p:nvSpPr>
          <p:cNvPr id="90" name="Google Shape;90;p2"/>
          <p:cNvSpPr txBox="1"/>
          <p:nvPr/>
        </p:nvSpPr>
        <p:spPr>
          <a:xfrm>
            <a:off x="4480560" y="3694176"/>
            <a:ext cx="457200" cy="420624"/>
          </a:xfrm>
          <a:prstGeom prst="rect">
            <a:avLst/>
          </a:prstGeom>
          <a:solidFill>
            <a:srgbClr val="192F7B"/>
          </a:solidFill>
          <a:ln cap="flat" cmpd="sng" w="9525">
            <a:solidFill>
              <a:srgbClr val="192F7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03</a:t>
            </a:r>
            <a:endParaRPr b="0" i="0" sz="1200" u="none" cap="none" strike="noStrike">
              <a:solidFill>
                <a:schemeClr val="dk1"/>
              </a:solidFill>
              <a:latin typeface="Calibri"/>
              <a:ea typeface="Calibri"/>
              <a:cs typeface="Calibri"/>
              <a:sym typeface="Calibri"/>
            </a:endParaRPr>
          </a:p>
        </p:txBody>
      </p:sp>
      <p:sp>
        <p:nvSpPr>
          <p:cNvPr id="91" name="Google Shape;91;p2"/>
          <p:cNvSpPr/>
          <p:nvPr/>
        </p:nvSpPr>
        <p:spPr>
          <a:xfrm>
            <a:off x="4974336" y="3694176"/>
            <a:ext cx="6711696" cy="420624"/>
          </a:xfrm>
          <a:prstGeom prst="rect">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
          <p:cNvSpPr txBox="1"/>
          <p:nvPr/>
        </p:nvSpPr>
        <p:spPr>
          <a:xfrm>
            <a:off x="5084064" y="3694176"/>
            <a:ext cx="224028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430"/>
              </a:buClr>
              <a:buSzPts val="1300"/>
              <a:buFont typeface="Calibri"/>
              <a:buNone/>
            </a:pPr>
            <a:r>
              <a:rPr b="1" i="0" lang="en-US" sz="1300" u="none" cap="none" strike="noStrike">
                <a:solidFill>
                  <a:srgbClr val="1E2430"/>
                </a:solidFill>
                <a:latin typeface="Calibri"/>
                <a:ea typeface="Calibri"/>
                <a:cs typeface="Calibri"/>
                <a:sym typeface="Calibri"/>
              </a:rPr>
              <a:t>Prioritization limits</a:t>
            </a:r>
            <a:endParaRPr b="0" i="0" sz="1300" u="none" cap="none" strike="noStrike">
              <a:solidFill>
                <a:schemeClr val="dk1"/>
              </a:solidFill>
              <a:latin typeface="Calibri"/>
              <a:ea typeface="Calibri"/>
              <a:cs typeface="Calibri"/>
              <a:sym typeface="Calibri"/>
            </a:endParaRPr>
          </a:p>
        </p:txBody>
      </p:sp>
      <p:sp>
        <p:nvSpPr>
          <p:cNvPr id="93" name="Google Shape;93;p2"/>
          <p:cNvSpPr txBox="1"/>
          <p:nvPr/>
        </p:nvSpPr>
        <p:spPr>
          <a:xfrm>
            <a:off x="7360920" y="3694176"/>
            <a:ext cx="4233672"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3"/>
              </a:buClr>
              <a:buSzPts val="1150"/>
              <a:buFont typeface="Calibri"/>
              <a:buNone/>
            </a:pPr>
            <a:r>
              <a:rPr b="0" i="0" lang="en-US" sz="1150" u="none" cap="none" strike="noStrike">
                <a:solidFill>
                  <a:srgbClr val="5B6573"/>
                </a:solidFill>
                <a:latin typeface="Calibri"/>
                <a:ea typeface="Calibri"/>
                <a:cs typeface="Calibri"/>
                <a:sym typeface="Calibri"/>
              </a:rPr>
              <a:t>Pre-Risk alone is not a sufficient consequence proxy: ρ ≈ −0.03 with actual loss; 21 of the 38 highest-loss incidents are Pre-Risk IV</a:t>
            </a:r>
            <a:endParaRPr b="0" i="0" sz="1150" u="none" cap="none" strike="noStrike">
              <a:solidFill>
                <a:schemeClr val="dk1"/>
              </a:solidFill>
              <a:latin typeface="Calibri"/>
              <a:ea typeface="Calibri"/>
              <a:cs typeface="Calibri"/>
              <a:sym typeface="Calibri"/>
            </a:endParaRPr>
          </a:p>
        </p:txBody>
      </p:sp>
      <p:sp>
        <p:nvSpPr>
          <p:cNvPr id="94" name="Google Shape;94;p2"/>
          <p:cNvSpPr txBox="1"/>
          <p:nvPr/>
        </p:nvSpPr>
        <p:spPr>
          <a:xfrm>
            <a:off x="4480560" y="4169664"/>
            <a:ext cx="457200" cy="420624"/>
          </a:xfrm>
          <a:prstGeom prst="rect">
            <a:avLst/>
          </a:prstGeom>
          <a:solidFill>
            <a:srgbClr val="192F7B"/>
          </a:solidFill>
          <a:ln cap="flat" cmpd="sng" w="9525">
            <a:solidFill>
              <a:srgbClr val="192F7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04</a:t>
            </a:r>
            <a:endParaRPr b="0" i="0" sz="1200" u="none" cap="none" strike="noStrike">
              <a:solidFill>
                <a:schemeClr val="dk1"/>
              </a:solidFill>
              <a:latin typeface="Calibri"/>
              <a:ea typeface="Calibri"/>
              <a:cs typeface="Calibri"/>
              <a:sym typeface="Calibri"/>
            </a:endParaRPr>
          </a:p>
        </p:txBody>
      </p:sp>
      <p:sp>
        <p:nvSpPr>
          <p:cNvPr id="95" name="Google Shape;95;p2"/>
          <p:cNvSpPr/>
          <p:nvPr/>
        </p:nvSpPr>
        <p:spPr>
          <a:xfrm>
            <a:off x="4974336" y="4169664"/>
            <a:ext cx="6711696" cy="420624"/>
          </a:xfrm>
          <a:prstGeom prst="rect">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
          <p:cNvSpPr txBox="1"/>
          <p:nvPr/>
        </p:nvSpPr>
        <p:spPr>
          <a:xfrm>
            <a:off x="5084064" y="4169664"/>
            <a:ext cx="224028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430"/>
              </a:buClr>
              <a:buSzPts val="1300"/>
              <a:buFont typeface="Calibri"/>
              <a:buNone/>
            </a:pPr>
            <a:r>
              <a:rPr b="1" i="0" lang="en-US" sz="1300" u="none" cap="none" strike="noStrike">
                <a:solidFill>
                  <a:srgbClr val="1E2430"/>
                </a:solidFill>
                <a:latin typeface="Calibri"/>
                <a:ea typeface="Calibri"/>
                <a:cs typeface="Calibri"/>
                <a:sym typeface="Calibri"/>
              </a:rPr>
              <a:t>Thin verified knowledge</a:t>
            </a:r>
            <a:endParaRPr b="0" i="0" sz="1300" u="none" cap="none" strike="noStrike">
              <a:solidFill>
                <a:schemeClr val="dk1"/>
              </a:solidFill>
              <a:latin typeface="Calibri"/>
              <a:ea typeface="Calibri"/>
              <a:cs typeface="Calibri"/>
              <a:sym typeface="Calibri"/>
            </a:endParaRPr>
          </a:p>
        </p:txBody>
      </p:sp>
      <p:sp>
        <p:nvSpPr>
          <p:cNvPr id="97" name="Google Shape;97;p2"/>
          <p:cNvSpPr txBox="1"/>
          <p:nvPr/>
        </p:nvSpPr>
        <p:spPr>
          <a:xfrm>
            <a:off x="7360920" y="4169664"/>
            <a:ext cx="4233672"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3"/>
              </a:buClr>
              <a:buSzPts val="1150"/>
              <a:buFont typeface="Calibri"/>
              <a:buNone/>
            </a:pPr>
            <a:r>
              <a:rPr b="0" i="0" lang="en-US" sz="1150" u="none" cap="none" strike="noStrike">
                <a:solidFill>
                  <a:srgbClr val="5B6573"/>
                </a:solidFill>
                <a:latin typeface="Calibri"/>
                <a:ea typeface="Calibri"/>
                <a:cs typeface="Calibri"/>
                <a:sym typeface="Calibri"/>
              </a:rPr>
              <a:t>Verified RCA exists for 5 of 380 incidents</a:t>
            </a:r>
            <a:endParaRPr b="0" i="0" sz="1150" u="none" cap="none" strike="noStrike">
              <a:solidFill>
                <a:schemeClr val="dk1"/>
              </a:solidFill>
              <a:latin typeface="Calibri"/>
              <a:ea typeface="Calibri"/>
              <a:cs typeface="Calibri"/>
              <a:sym typeface="Calibri"/>
            </a:endParaRPr>
          </a:p>
        </p:txBody>
      </p:sp>
      <p:sp>
        <p:nvSpPr>
          <p:cNvPr id="98" name="Google Shape;98;p2"/>
          <p:cNvSpPr txBox="1"/>
          <p:nvPr/>
        </p:nvSpPr>
        <p:spPr>
          <a:xfrm>
            <a:off x="4480560" y="4645152"/>
            <a:ext cx="457200" cy="420624"/>
          </a:xfrm>
          <a:prstGeom prst="rect">
            <a:avLst/>
          </a:prstGeom>
          <a:solidFill>
            <a:srgbClr val="192F7B"/>
          </a:solidFill>
          <a:ln cap="flat" cmpd="sng" w="9525">
            <a:solidFill>
              <a:srgbClr val="192F7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05</a:t>
            </a:r>
            <a:endParaRPr b="0" i="0" sz="1200" u="none" cap="none" strike="noStrike">
              <a:solidFill>
                <a:schemeClr val="dk1"/>
              </a:solidFill>
              <a:latin typeface="Calibri"/>
              <a:ea typeface="Calibri"/>
              <a:cs typeface="Calibri"/>
              <a:sym typeface="Calibri"/>
            </a:endParaRPr>
          </a:p>
        </p:txBody>
      </p:sp>
      <p:sp>
        <p:nvSpPr>
          <p:cNvPr id="99" name="Google Shape;99;p2"/>
          <p:cNvSpPr/>
          <p:nvPr/>
        </p:nvSpPr>
        <p:spPr>
          <a:xfrm>
            <a:off x="4974336" y="4645152"/>
            <a:ext cx="6711696" cy="420624"/>
          </a:xfrm>
          <a:prstGeom prst="rect">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
          <p:cNvSpPr txBox="1"/>
          <p:nvPr/>
        </p:nvSpPr>
        <p:spPr>
          <a:xfrm>
            <a:off x="5084064" y="4645152"/>
            <a:ext cx="224028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430"/>
              </a:buClr>
              <a:buSzPts val="1300"/>
              <a:buFont typeface="Calibri"/>
              <a:buNone/>
            </a:pPr>
            <a:r>
              <a:rPr b="1" i="0" lang="en-US" sz="1300" u="none" cap="none" strike="noStrike">
                <a:solidFill>
                  <a:srgbClr val="1E2430"/>
                </a:solidFill>
                <a:latin typeface="Calibri"/>
                <a:ea typeface="Calibri"/>
                <a:cs typeface="Calibri"/>
                <a:sym typeface="Calibri"/>
              </a:rPr>
              <a:t>Follow-up hard to see</a:t>
            </a:r>
            <a:endParaRPr b="0" i="0" sz="1300" u="none" cap="none" strike="noStrike">
              <a:solidFill>
                <a:schemeClr val="dk1"/>
              </a:solidFill>
              <a:latin typeface="Calibri"/>
              <a:ea typeface="Calibri"/>
              <a:cs typeface="Calibri"/>
              <a:sym typeface="Calibri"/>
            </a:endParaRPr>
          </a:p>
        </p:txBody>
      </p:sp>
      <p:sp>
        <p:nvSpPr>
          <p:cNvPr id="101" name="Google Shape;101;p2"/>
          <p:cNvSpPr txBox="1"/>
          <p:nvPr/>
        </p:nvSpPr>
        <p:spPr>
          <a:xfrm>
            <a:off x="7360920" y="4645152"/>
            <a:ext cx="4233672"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3"/>
              </a:buClr>
              <a:buSzPts val="1150"/>
              <a:buFont typeface="Calibri"/>
              <a:buNone/>
            </a:pPr>
            <a:r>
              <a:rPr b="0" i="0" lang="en-US" sz="1150" u="none" cap="none" strike="noStrike">
                <a:solidFill>
                  <a:srgbClr val="5B6573"/>
                </a:solidFill>
                <a:latin typeface="Calibri"/>
                <a:ea typeface="Calibri"/>
                <a:cs typeface="Calibri"/>
                <a:sym typeface="Calibri"/>
              </a:rPr>
              <a:t>14 of 20 hero-case actions are recorded Open; the register has no action-level field</a:t>
            </a:r>
            <a:endParaRPr b="0" i="0" sz="1150" u="none" cap="none" strike="noStrike">
              <a:solidFill>
                <a:schemeClr val="dk1"/>
              </a:solidFill>
              <a:latin typeface="Calibri"/>
              <a:ea typeface="Calibri"/>
              <a:cs typeface="Calibri"/>
              <a:sym typeface="Calibri"/>
            </a:endParaRPr>
          </a:p>
        </p:txBody>
      </p:sp>
      <p:sp>
        <p:nvSpPr>
          <p:cNvPr id="102" name="Google Shape;102;p2"/>
          <p:cNvSpPr txBox="1"/>
          <p:nvPr/>
        </p:nvSpPr>
        <p:spPr>
          <a:xfrm>
            <a:off x="502920" y="5285232"/>
            <a:ext cx="11183112" cy="566928"/>
          </a:xfrm>
          <a:prstGeom prst="rect">
            <a:avLst/>
          </a:prstGeom>
          <a:solidFill>
            <a:srgbClr val="192F7B"/>
          </a:solidFill>
          <a:ln cap="flat" cmpd="sng" w="9525">
            <a:solidFill>
              <a:srgbClr val="192F7B"/>
            </a:solidFill>
            <a:prstDash val="solid"/>
            <a:round/>
            <a:headEnd len="sm" w="sm" type="none"/>
            <a:tailEnd len="sm" w="sm" type="none"/>
          </a:ln>
        </p:spPr>
        <p:txBody>
          <a:bodyPr anchorCtr="0" anchor="ctr" bIns="0" lIns="177800" spcFirstLastPara="1" rIns="177800" wrap="square" tIns="0">
            <a:noAutofit/>
          </a:bodyPr>
          <a:lstStyle/>
          <a:p>
            <a:pPr indent="0" lvl="0" marL="0" marR="0" rtl="0" algn="ctr">
              <a:spcBef>
                <a:spcPts val="0"/>
              </a:spcBef>
              <a:spcAft>
                <a:spcPts val="0"/>
              </a:spcAft>
              <a:buClr>
                <a:srgbClr val="C9D3EA"/>
              </a:buClr>
              <a:buSzPts val="1100"/>
              <a:buFont typeface="Calibri"/>
              <a:buNone/>
            </a:pPr>
            <a:r>
              <a:rPr b="1" i="0" lang="en-US" sz="1100" u="none" cap="none" strike="noStrike">
                <a:solidFill>
                  <a:srgbClr val="C9D3EA"/>
                </a:solidFill>
                <a:latin typeface="Calibri"/>
                <a:ea typeface="Calibri"/>
                <a:cs typeface="Calibri"/>
                <a:sym typeface="Calibri"/>
              </a:rPr>
              <a:t>KEY QUESTION   </a:t>
            </a:r>
            <a:r>
              <a:rPr b="1" i="0" lang="en-US" sz="1500" u="none" cap="none" strike="noStrike">
                <a:solidFill>
                  <a:srgbClr val="FFFFFF"/>
                </a:solidFill>
                <a:latin typeface="Calibri"/>
                <a:ea typeface="Calibri"/>
                <a:cs typeface="Calibri"/>
                <a:sym typeface="Calibri"/>
              </a:rPr>
              <a:t>How can the plant turn fragmented signals into a prioritized, evidence-backed decision with an owner, and confirm that the action worked?</a:t>
            </a:r>
            <a:endParaRPr b="0" i="0" sz="1100" u="none" cap="none" strike="noStrike">
              <a:solidFill>
                <a:schemeClr val="dk1"/>
              </a:solidFill>
              <a:latin typeface="Calibri"/>
              <a:ea typeface="Calibri"/>
              <a:cs typeface="Calibri"/>
              <a:sym typeface="Calibri"/>
            </a:endParaRPr>
          </a:p>
        </p:txBody>
      </p:sp>
      <p:sp>
        <p:nvSpPr>
          <p:cNvPr id="103" name="Google Shape;103;p2"/>
          <p:cNvSpPr txBox="1"/>
          <p:nvPr/>
        </p:nvSpPr>
        <p:spPr>
          <a:xfrm>
            <a:off x="502920" y="5961888"/>
            <a:ext cx="11183112"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850"/>
              <a:buFont typeface="Calibri"/>
              <a:buNone/>
            </a:pPr>
            <a:r>
              <a:rPr b="0" i="0" lang="en-US" sz="850" u="none" cap="none" strike="noStrike">
                <a:solidFill>
                  <a:srgbClr val="5B6573"/>
                </a:solidFill>
                <a:latin typeface="Calibri"/>
                <a:ea typeface="Calibri"/>
                <a:cs typeface="Calibri"/>
                <a:sym typeface="Calibri"/>
              </a:rPr>
              <a:t>Sources: CALIBER 2026 Case 2 Incident Database (380 rows), five verified RCA reports, Case 2 problem statement. Derived values from the AETHER Gate 3 evidence ledger: loss sum US$61.89M; downtime sum 2,261.1 h; Spearman rank correlation, n = 380. Status read at the register snapshot, 25 Jul 2026.</a:t>
            </a:r>
            <a:endParaRPr b="0" i="0" sz="850" u="none" cap="none" strike="noStrike">
              <a:solidFill>
                <a:schemeClr val="dk1"/>
              </a:solidFill>
              <a:latin typeface="Calibri"/>
              <a:ea typeface="Calibri"/>
              <a:cs typeface="Calibri"/>
              <a:sym typeface="Calibri"/>
            </a:endParaRPr>
          </a:p>
        </p:txBody>
      </p:sp>
      <p:sp>
        <p:nvSpPr>
          <p:cNvPr id="104" name="Google Shape;104;p2"/>
          <p:cNvSpPr txBox="1"/>
          <p:nvPr>
            <p:ph idx="4294967295" type="sldNum"/>
          </p:nvPr>
        </p:nvSpPr>
        <p:spPr>
          <a:xfrm>
            <a:off x="11228832" y="6473952"/>
            <a:ext cx="4572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5B6573"/>
                </a:solidFill>
                <a:latin typeface="Calibri"/>
                <a:ea typeface="Calibri"/>
                <a:cs typeface="Calibri"/>
                <a:sym typeface="Calibri"/>
              </a:rPr>
              <a:t>‹#›</a:t>
            </a:fld>
            <a:endParaRPr b="0" i="0" sz="900" u="none" cap="none" strike="noStrike">
              <a:solidFill>
                <a:srgbClr val="5B6573"/>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3"/>
          <p:cNvSpPr txBox="1"/>
          <p:nvPr/>
        </p:nvSpPr>
        <p:spPr>
          <a:xfrm>
            <a:off x="502920" y="146304"/>
            <a:ext cx="914400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9D3EA"/>
              </a:buClr>
              <a:buSzPts val="1000"/>
              <a:buFont typeface="Calibri"/>
              <a:buNone/>
            </a:pPr>
            <a:r>
              <a:rPr b="1" i="0" lang="en-US" sz="1000" u="none" cap="none" strike="noStrike">
                <a:solidFill>
                  <a:srgbClr val="C9D3EA"/>
                </a:solidFill>
                <a:latin typeface="Calibri"/>
                <a:ea typeface="Calibri"/>
                <a:cs typeface="Calibri"/>
                <a:sym typeface="Calibri"/>
              </a:rPr>
              <a:t>02  PROPOSED SOLUTION  |  OPERATING MODEL</a:t>
            </a:r>
            <a:endParaRPr b="0" i="0" sz="1000" u="none" cap="none" strike="noStrike">
              <a:solidFill>
                <a:schemeClr val="dk1"/>
              </a:solidFill>
              <a:latin typeface="Calibri"/>
              <a:ea typeface="Calibri"/>
              <a:cs typeface="Calibri"/>
              <a:sym typeface="Calibri"/>
            </a:endParaRPr>
          </a:p>
        </p:txBody>
      </p:sp>
      <p:cxnSp>
        <p:nvCxnSpPr>
          <p:cNvPr id="111" name="Google Shape;111;p3"/>
          <p:cNvCxnSpPr/>
          <p:nvPr/>
        </p:nvCxnSpPr>
        <p:spPr>
          <a:xfrm>
            <a:off x="502920" y="1554480"/>
            <a:ext cx="11183112" cy="0"/>
          </a:xfrm>
          <a:prstGeom prst="straightConnector1">
            <a:avLst/>
          </a:prstGeom>
          <a:noFill/>
          <a:ln cap="flat" cmpd="sng" w="9525">
            <a:solidFill>
              <a:srgbClr val="D3DAE4"/>
            </a:solidFill>
            <a:prstDash val="solid"/>
            <a:round/>
            <a:headEnd len="sm" w="sm" type="none"/>
            <a:tailEnd len="sm" w="sm" type="none"/>
          </a:ln>
        </p:spPr>
      </p:cxnSp>
      <p:sp>
        <p:nvSpPr>
          <p:cNvPr id="112" name="Google Shape;112;p3"/>
          <p:cNvSpPr txBox="1"/>
          <p:nvPr/>
        </p:nvSpPr>
        <p:spPr>
          <a:xfrm>
            <a:off x="502920" y="1298448"/>
            <a:ext cx="1508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4B2"/>
              </a:buClr>
              <a:buSzPts val="950"/>
              <a:buFont typeface="Calibri"/>
              <a:buNone/>
            </a:pPr>
            <a:r>
              <a:rPr b="0" i="0" lang="en-US" sz="950" u="none" cap="none" strike="noStrike">
                <a:solidFill>
                  <a:srgbClr val="9AA4B2"/>
                </a:solidFill>
                <a:latin typeface="Calibri"/>
                <a:ea typeface="Calibri"/>
                <a:cs typeface="Calibri"/>
                <a:sym typeface="Calibri"/>
              </a:rPr>
              <a:t>01  </a:t>
            </a:r>
            <a:r>
              <a:rPr b="0" i="0" lang="en-US" sz="950" u="none" cap="none" strike="noStrike">
                <a:solidFill>
                  <a:srgbClr val="8A94A3"/>
                </a:solidFill>
                <a:latin typeface="Calibri"/>
                <a:ea typeface="Calibri"/>
                <a:cs typeface="Calibri"/>
                <a:sym typeface="Calibri"/>
              </a:rPr>
              <a:t>PROBLEM</a:t>
            </a:r>
            <a:endParaRPr b="0" i="0" sz="950" u="none" cap="none" strike="noStrike">
              <a:solidFill>
                <a:schemeClr val="dk1"/>
              </a:solidFill>
              <a:latin typeface="Calibri"/>
              <a:ea typeface="Calibri"/>
              <a:cs typeface="Calibri"/>
              <a:sym typeface="Calibri"/>
            </a:endParaRPr>
          </a:p>
        </p:txBody>
      </p:sp>
      <p:sp>
        <p:nvSpPr>
          <p:cNvPr id="113" name="Google Shape;113;p3"/>
          <p:cNvSpPr txBox="1"/>
          <p:nvPr/>
        </p:nvSpPr>
        <p:spPr>
          <a:xfrm>
            <a:off x="2103120" y="1298448"/>
            <a:ext cx="1508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92F7B"/>
              </a:buClr>
              <a:buSzPts val="950"/>
              <a:buFont typeface="Calibri"/>
              <a:buNone/>
            </a:pPr>
            <a:r>
              <a:rPr b="1" i="0" lang="en-US" sz="950" u="none" cap="none" strike="noStrike">
                <a:solidFill>
                  <a:srgbClr val="192F7B"/>
                </a:solidFill>
                <a:latin typeface="Calibri"/>
                <a:ea typeface="Calibri"/>
                <a:cs typeface="Calibri"/>
                <a:sym typeface="Calibri"/>
              </a:rPr>
              <a:t>02  SOLUTION</a:t>
            </a:r>
            <a:endParaRPr b="0" i="0" sz="950" u="none" cap="none" strike="noStrike">
              <a:solidFill>
                <a:schemeClr val="dk1"/>
              </a:solidFill>
              <a:latin typeface="Calibri"/>
              <a:ea typeface="Calibri"/>
              <a:cs typeface="Calibri"/>
              <a:sym typeface="Calibri"/>
            </a:endParaRPr>
          </a:p>
        </p:txBody>
      </p:sp>
      <p:cxnSp>
        <p:nvCxnSpPr>
          <p:cNvPr id="114" name="Google Shape;114;p3"/>
          <p:cNvCxnSpPr/>
          <p:nvPr/>
        </p:nvCxnSpPr>
        <p:spPr>
          <a:xfrm>
            <a:off x="2103120" y="1554480"/>
            <a:ext cx="1325880" cy="0"/>
          </a:xfrm>
          <a:prstGeom prst="straightConnector1">
            <a:avLst/>
          </a:prstGeom>
          <a:noFill/>
          <a:ln cap="flat" cmpd="sng" w="28575">
            <a:solidFill>
              <a:srgbClr val="192F7B"/>
            </a:solidFill>
            <a:prstDash val="solid"/>
            <a:round/>
            <a:headEnd len="sm" w="sm" type="none"/>
            <a:tailEnd len="sm" w="sm" type="none"/>
          </a:ln>
        </p:spPr>
      </p:cxnSp>
      <p:sp>
        <p:nvSpPr>
          <p:cNvPr id="115" name="Google Shape;115;p3"/>
          <p:cNvSpPr txBox="1"/>
          <p:nvPr/>
        </p:nvSpPr>
        <p:spPr>
          <a:xfrm>
            <a:off x="3703320" y="1298448"/>
            <a:ext cx="1508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4B2"/>
              </a:buClr>
              <a:buSzPts val="950"/>
              <a:buFont typeface="Calibri"/>
              <a:buNone/>
            </a:pPr>
            <a:r>
              <a:rPr b="0" i="0" lang="en-US" sz="950" u="none" cap="none" strike="noStrike">
                <a:solidFill>
                  <a:srgbClr val="9AA4B2"/>
                </a:solidFill>
                <a:latin typeface="Calibri"/>
                <a:ea typeface="Calibri"/>
                <a:cs typeface="Calibri"/>
                <a:sym typeface="Calibri"/>
              </a:rPr>
              <a:t>03  </a:t>
            </a:r>
            <a:r>
              <a:rPr b="0" i="0" lang="en-US" sz="950" u="none" cap="none" strike="noStrike">
                <a:solidFill>
                  <a:srgbClr val="8A94A3"/>
                </a:solidFill>
                <a:latin typeface="Calibri"/>
                <a:ea typeface="Calibri"/>
                <a:cs typeface="Calibri"/>
                <a:sym typeface="Calibri"/>
              </a:rPr>
              <a:t>IMPACT</a:t>
            </a:r>
            <a:endParaRPr b="0" i="0" sz="950" u="none" cap="none" strike="noStrike">
              <a:solidFill>
                <a:schemeClr val="dk1"/>
              </a:solidFill>
              <a:latin typeface="Calibri"/>
              <a:ea typeface="Calibri"/>
              <a:cs typeface="Calibri"/>
              <a:sym typeface="Calibri"/>
            </a:endParaRPr>
          </a:p>
        </p:txBody>
      </p:sp>
      <p:sp>
        <p:nvSpPr>
          <p:cNvPr id="116" name="Google Shape;116;p3"/>
          <p:cNvSpPr txBox="1"/>
          <p:nvPr/>
        </p:nvSpPr>
        <p:spPr>
          <a:xfrm>
            <a:off x="5303520" y="1298448"/>
            <a:ext cx="1508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4B2"/>
              </a:buClr>
              <a:buSzPts val="950"/>
              <a:buFont typeface="Calibri"/>
              <a:buNone/>
            </a:pPr>
            <a:r>
              <a:rPr b="0" i="0" lang="en-US" sz="950" u="none" cap="none" strike="noStrike">
                <a:solidFill>
                  <a:srgbClr val="9AA4B2"/>
                </a:solidFill>
                <a:latin typeface="Calibri"/>
                <a:ea typeface="Calibri"/>
                <a:cs typeface="Calibri"/>
                <a:sym typeface="Calibri"/>
              </a:rPr>
              <a:t>04  </a:t>
            </a:r>
            <a:r>
              <a:rPr b="0" i="0" lang="en-US" sz="950" u="none" cap="none" strike="noStrike">
                <a:solidFill>
                  <a:srgbClr val="8A94A3"/>
                </a:solidFill>
                <a:latin typeface="Calibri"/>
                <a:ea typeface="Calibri"/>
                <a:cs typeface="Calibri"/>
                <a:sym typeface="Calibri"/>
              </a:rPr>
              <a:t>FEASIBILITY</a:t>
            </a:r>
            <a:endParaRPr b="0" i="0" sz="950" u="none" cap="none" strike="noStrike">
              <a:solidFill>
                <a:schemeClr val="dk1"/>
              </a:solidFill>
              <a:latin typeface="Calibri"/>
              <a:ea typeface="Calibri"/>
              <a:cs typeface="Calibri"/>
              <a:sym typeface="Calibri"/>
            </a:endParaRPr>
          </a:p>
        </p:txBody>
      </p:sp>
      <p:sp>
        <p:nvSpPr>
          <p:cNvPr id="117" name="Google Shape;117;p3"/>
          <p:cNvSpPr txBox="1"/>
          <p:nvPr/>
        </p:nvSpPr>
        <p:spPr>
          <a:xfrm>
            <a:off x="6903720" y="1298448"/>
            <a:ext cx="1508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4B2"/>
              </a:buClr>
              <a:buSzPts val="950"/>
              <a:buFont typeface="Calibri"/>
              <a:buNone/>
            </a:pPr>
            <a:r>
              <a:rPr b="0" i="0" lang="en-US" sz="950" u="none" cap="none" strike="noStrike">
                <a:solidFill>
                  <a:srgbClr val="9AA4B2"/>
                </a:solidFill>
                <a:latin typeface="Calibri"/>
                <a:ea typeface="Calibri"/>
                <a:cs typeface="Calibri"/>
                <a:sym typeface="Calibri"/>
              </a:rPr>
              <a:t>05  </a:t>
            </a:r>
            <a:r>
              <a:rPr b="0" i="0" lang="en-US" sz="950" u="none" cap="none" strike="noStrike">
                <a:solidFill>
                  <a:srgbClr val="8A94A3"/>
                </a:solidFill>
                <a:latin typeface="Calibri"/>
                <a:ea typeface="Calibri"/>
                <a:cs typeface="Calibri"/>
                <a:sym typeface="Calibri"/>
              </a:rPr>
              <a:t>CONCLUSION</a:t>
            </a:r>
            <a:endParaRPr b="0" i="0" sz="950" u="none" cap="none" strike="noStrike">
              <a:solidFill>
                <a:schemeClr val="dk1"/>
              </a:solidFill>
              <a:latin typeface="Calibri"/>
              <a:ea typeface="Calibri"/>
              <a:cs typeface="Calibri"/>
              <a:sym typeface="Calibri"/>
            </a:endParaRPr>
          </a:p>
        </p:txBody>
      </p:sp>
      <p:sp>
        <p:nvSpPr>
          <p:cNvPr id="118" name="Google Shape;118;p3"/>
          <p:cNvSpPr txBox="1"/>
          <p:nvPr>
            <p:ph type="title"/>
          </p:nvPr>
        </p:nvSpPr>
        <p:spPr>
          <a:xfrm>
            <a:off x="502920" y="384048"/>
            <a:ext cx="11183112" cy="749808"/>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FFFFFF"/>
              </a:buClr>
              <a:buSzPts val="2400"/>
              <a:buFont typeface="Calibri"/>
              <a:buNone/>
            </a:pPr>
            <a:r>
              <a:rPr b="1" lang="en-US" sz="2400">
                <a:solidFill>
                  <a:srgbClr val="FFFFFF"/>
                </a:solidFill>
              </a:rPr>
              <a:t>AETHER Joins Signals, History and Verified RCA Knowledge in One Loop That Ends in a Verified Result</a:t>
            </a:r>
            <a:endParaRPr sz="2400"/>
          </a:p>
        </p:txBody>
      </p:sp>
      <p:sp>
        <p:nvSpPr>
          <p:cNvPr id="119" name="Google Shape;119;p3"/>
          <p:cNvSpPr txBox="1"/>
          <p:nvPr/>
        </p:nvSpPr>
        <p:spPr>
          <a:xfrm>
            <a:off x="502920" y="1783080"/>
            <a:ext cx="1481328"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3"/>
              </a:buClr>
              <a:buSzPts val="1000"/>
              <a:buFont typeface="Calibri"/>
              <a:buNone/>
            </a:pPr>
            <a:r>
              <a:rPr b="1" i="0" lang="en-US" sz="1000" u="none" cap="none" strike="noStrike">
                <a:solidFill>
                  <a:srgbClr val="5B6573"/>
                </a:solidFill>
                <a:latin typeface="Calibri"/>
                <a:ea typeface="Calibri"/>
                <a:cs typeface="Calibri"/>
                <a:sym typeface="Calibri"/>
              </a:rPr>
              <a:t>STAGE</a:t>
            </a:r>
            <a:endParaRPr b="0" i="0" sz="1000" u="none" cap="none" strike="noStrike">
              <a:solidFill>
                <a:schemeClr val="dk1"/>
              </a:solidFill>
              <a:latin typeface="Calibri"/>
              <a:ea typeface="Calibri"/>
              <a:cs typeface="Calibri"/>
              <a:sym typeface="Calibri"/>
            </a:endParaRPr>
          </a:p>
        </p:txBody>
      </p:sp>
      <p:sp>
        <p:nvSpPr>
          <p:cNvPr id="120" name="Google Shape;120;p3"/>
          <p:cNvSpPr txBox="1"/>
          <p:nvPr/>
        </p:nvSpPr>
        <p:spPr>
          <a:xfrm>
            <a:off x="2039112" y="1755648"/>
            <a:ext cx="1160145" cy="475488"/>
          </a:xfrm>
          <a:prstGeom prst="rect">
            <a:avLst/>
          </a:prstGeom>
          <a:solidFill>
            <a:srgbClr val="192F7B"/>
          </a:solidFill>
          <a:ln cap="flat" cmpd="sng" w="9525">
            <a:solidFill>
              <a:srgbClr val="192F7B"/>
            </a:solidFill>
            <a:prstDash val="solid"/>
            <a:round/>
            <a:headEnd len="sm" w="sm" type="none"/>
            <a:tailEnd len="sm" w="sm" type="none"/>
          </a:ln>
        </p:spPr>
        <p:txBody>
          <a:bodyPr anchorCtr="0" anchor="ctr" bIns="0" lIns="88900" spcFirstLastPara="1" rIns="50800" wrap="square" tIns="0">
            <a:noAutofit/>
          </a:bodyPr>
          <a:lstStyle/>
          <a:p>
            <a:pPr indent="0" lvl="0" marL="0" marR="0" rtl="0" algn="l">
              <a:spcBef>
                <a:spcPts val="0"/>
              </a:spcBef>
              <a:spcAft>
                <a:spcPts val="0"/>
              </a:spcAft>
              <a:buClr>
                <a:srgbClr val="C9D3EA"/>
              </a:buClr>
              <a:buSzPts val="900"/>
              <a:buFont typeface="Calibri"/>
              <a:buNone/>
            </a:pPr>
            <a:r>
              <a:rPr b="1" i="0" lang="en-US" sz="900" u="none" cap="none" strike="noStrike">
                <a:solidFill>
                  <a:srgbClr val="C9D3EA"/>
                </a:solidFill>
                <a:latin typeface="Calibri"/>
                <a:ea typeface="Calibri"/>
                <a:cs typeface="Calibri"/>
                <a:sym typeface="Calibri"/>
              </a:rPr>
              <a:t>01</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Data</a:t>
            </a:r>
            <a:endParaRPr b="0" i="0" sz="900" u="none" cap="none" strike="noStrike">
              <a:solidFill>
                <a:schemeClr val="dk1"/>
              </a:solidFill>
              <a:latin typeface="Calibri"/>
              <a:ea typeface="Calibri"/>
              <a:cs typeface="Calibri"/>
              <a:sym typeface="Calibri"/>
            </a:endParaRPr>
          </a:p>
        </p:txBody>
      </p:sp>
      <p:sp>
        <p:nvSpPr>
          <p:cNvPr id="121" name="Google Shape;121;p3"/>
          <p:cNvSpPr txBox="1"/>
          <p:nvPr/>
        </p:nvSpPr>
        <p:spPr>
          <a:xfrm>
            <a:off x="3244977" y="1755648"/>
            <a:ext cx="1160145" cy="475488"/>
          </a:xfrm>
          <a:prstGeom prst="rect">
            <a:avLst/>
          </a:prstGeom>
          <a:solidFill>
            <a:srgbClr val="192F7B"/>
          </a:solidFill>
          <a:ln cap="flat" cmpd="sng" w="9525">
            <a:solidFill>
              <a:srgbClr val="192F7B"/>
            </a:solidFill>
            <a:prstDash val="solid"/>
            <a:round/>
            <a:headEnd len="sm" w="sm" type="none"/>
            <a:tailEnd len="sm" w="sm" type="none"/>
          </a:ln>
        </p:spPr>
        <p:txBody>
          <a:bodyPr anchorCtr="0" anchor="ctr" bIns="0" lIns="88900" spcFirstLastPara="1" rIns="50800" wrap="square" tIns="0">
            <a:noAutofit/>
          </a:bodyPr>
          <a:lstStyle/>
          <a:p>
            <a:pPr indent="0" lvl="0" marL="0" marR="0" rtl="0" algn="l">
              <a:spcBef>
                <a:spcPts val="0"/>
              </a:spcBef>
              <a:spcAft>
                <a:spcPts val="0"/>
              </a:spcAft>
              <a:buClr>
                <a:srgbClr val="C9D3EA"/>
              </a:buClr>
              <a:buSzPts val="900"/>
              <a:buFont typeface="Calibri"/>
              <a:buNone/>
            </a:pPr>
            <a:r>
              <a:rPr b="1" i="0" lang="en-US" sz="900" u="none" cap="none" strike="noStrike">
                <a:solidFill>
                  <a:srgbClr val="C9D3EA"/>
                </a:solidFill>
                <a:latin typeface="Calibri"/>
                <a:ea typeface="Calibri"/>
                <a:cs typeface="Calibri"/>
                <a:sym typeface="Calibri"/>
              </a:rPr>
              <a:t>02</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Context</a:t>
            </a:r>
            <a:endParaRPr b="0" i="0" sz="900" u="none" cap="none" strike="noStrike">
              <a:solidFill>
                <a:schemeClr val="dk1"/>
              </a:solidFill>
              <a:latin typeface="Calibri"/>
              <a:ea typeface="Calibri"/>
              <a:cs typeface="Calibri"/>
              <a:sym typeface="Calibri"/>
            </a:endParaRPr>
          </a:p>
        </p:txBody>
      </p:sp>
      <p:sp>
        <p:nvSpPr>
          <p:cNvPr id="122" name="Google Shape;122;p3"/>
          <p:cNvSpPr txBox="1"/>
          <p:nvPr/>
        </p:nvSpPr>
        <p:spPr>
          <a:xfrm>
            <a:off x="4450842" y="1755648"/>
            <a:ext cx="1160145" cy="475488"/>
          </a:xfrm>
          <a:prstGeom prst="rect">
            <a:avLst/>
          </a:prstGeom>
          <a:solidFill>
            <a:srgbClr val="192F7B"/>
          </a:solidFill>
          <a:ln cap="flat" cmpd="sng" w="9525">
            <a:solidFill>
              <a:srgbClr val="192F7B"/>
            </a:solidFill>
            <a:prstDash val="solid"/>
            <a:round/>
            <a:headEnd len="sm" w="sm" type="none"/>
            <a:tailEnd len="sm" w="sm" type="none"/>
          </a:ln>
        </p:spPr>
        <p:txBody>
          <a:bodyPr anchorCtr="0" anchor="ctr" bIns="0" lIns="88900" spcFirstLastPara="1" rIns="50800" wrap="square" tIns="0">
            <a:noAutofit/>
          </a:bodyPr>
          <a:lstStyle/>
          <a:p>
            <a:pPr indent="0" lvl="0" marL="0" marR="0" rtl="0" algn="l">
              <a:spcBef>
                <a:spcPts val="0"/>
              </a:spcBef>
              <a:spcAft>
                <a:spcPts val="0"/>
              </a:spcAft>
              <a:buClr>
                <a:srgbClr val="C9D3EA"/>
              </a:buClr>
              <a:buSzPts val="900"/>
              <a:buFont typeface="Calibri"/>
              <a:buNone/>
            </a:pPr>
            <a:r>
              <a:rPr b="1" i="0" lang="en-US" sz="900" u="none" cap="none" strike="noStrike">
                <a:solidFill>
                  <a:srgbClr val="C9D3EA"/>
                </a:solidFill>
                <a:latin typeface="Calibri"/>
                <a:ea typeface="Calibri"/>
                <a:cs typeface="Calibri"/>
                <a:sym typeface="Calibri"/>
              </a:rPr>
              <a:t>03</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Problem</a:t>
            </a:r>
            <a:endParaRPr b="0" i="0" sz="900" u="none" cap="none" strike="noStrike">
              <a:solidFill>
                <a:schemeClr val="dk1"/>
              </a:solidFill>
              <a:latin typeface="Calibri"/>
              <a:ea typeface="Calibri"/>
              <a:cs typeface="Calibri"/>
              <a:sym typeface="Calibri"/>
            </a:endParaRPr>
          </a:p>
        </p:txBody>
      </p:sp>
      <p:sp>
        <p:nvSpPr>
          <p:cNvPr id="123" name="Google Shape;123;p3"/>
          <p:cNvSpPr txBox="1"/>
          <p:nvPr/>
        </p:nvSpPr>
        <p:spPr>
          <a:xfrm>
            <a:off x="5656707" y="1755648"/>
            <a:ext cx="1160145" cy="475488"/>
          </a:xfrm>
          <a:prstGeom prst="rect">
            <a:avLst/>
          </a:prstGeom>
          <a:solidFill>
            <a:srgbClr val="192F7B"/>
          </a:solidFill>
          <a:ln cap="flat" cmpd="sng" w="9525">
            <a:solidFill>
              <a:srgbClr val="192F7B"/>
            </a:solidFill>
            <a:prstDash val="solid"/>
            <a:round/>
            <a:headEnd len="sm" w="sm" type="none"/>
            <a:tailEnd len="sm" w="sm" type="none"/>
          </a:ln>
        </p:spPr>
        <p:txBody>
          <a:bodyPr anchorCtr="0" anchor="ctr" bIns="0" lIns="88900" spcFirstLastPara="1" rIns="50800" wrap="square" tIns="0">
            <a:noAutofit/>
          </a:bodyPr>
          <a:lstStyle/>
          <a:p>
            <a:pPr indent="0" lvl="0" marL="0" marR="0" rtl="0" algn="l">
              <a:spcBef>
                <a:spcPts val="0"/>
              </a:spcBef>
              <a:spcAft>
                <a:spcPts val="0"/>
              </a:spcAft>
              <a:buClr>
                <a:srgbClr val="C9D3EA"/>
              </a:buClr>
              <a:buSzPts val="900"/>
              <a:buFont typeface="Calibri"/>
              <a:buNone/>
            </a:pPr>
            <a:r>
              <a:rPr b="1" i="0" lang="en-US" sz="900" u="none" cap="none" strike="noStrike">
                <a:solidFill>
                  <a:srgbClr val="C9D3EA"/>
                </a:solidFill>
                <a:latin typeface="Calibri"/>
                <a:ea typeface="Calibri"/>
                <a:cs typeface="Calibri"/>
                <a:sym typeface="Calibri"/>
              </a:rPr>
              <a:t>04</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Evidence</a:t>
            </a:r>
            <a:endParaRPr b="0" i="0" sz="900" u="none" cap="none" strike="noStrike">
              <a:solidFill>
                <a:schemeClr val="dk1"/>
              </a:solidFill>
              <a:latin typeface="Calibri"/>
              <a:ea typeface="Calibri"/>
              <a:cs typeface="Calibri"/>
              <a:sym typeface="Calibri"/>
            </a:endParaRPr>
          </a:p>
        </p:txBody>
      </p:sp>
      <p:sp>
        <p:nvSpPr>
          <p:cNvPr id="124" name="Google Shape;124;p3"/>
          <p:cNvSpPr txBox="1"/>
          <p:nvPr/>
        </p:nvSpPr>
        <p:spPr>
          <a:xfrm>
            <a:off x="6862572" y="1755648"/>
            <a:ext cx="1160145" cy="475488"/>
          </a:xfrm>
          <a:prstGeom prst="rect">
            <a:avLst/>
          </a:prstGeom>
          <a:solidFill>
            <a:srgbClr val="192F7B"/>
          </a:solidFill>
          <a:ln cap="flat" cmpd="sng" w="9525">
            <a:solidFill>
              <a:srgbClr val="192F7B"/>
            </a:solidFill>
            <a:prstDash val="solid"/>
            <a:round/>
            <a:headEnd len="sm" w="sm" type="none"/>
            <a:tailEnd len="sm" w="sm" type="none"/>
          </a:ln>
        </p:spPr>
        <p:txBody>
          <a:bodyPr anchorCtr="0" anchor="ctr" bIns="0" lIns="88900" spcFirstLastPara="1" rIns="50800" wrap="square" tIns="0">
            <a:noAutofit/>
          </a:bodyPr>
          <a:lstStyle/>
          <a:p>
            <a:pPr indent="0" lvl="0" marL="0" marR="0" rtl="0" algn="l">
              <a:spcBef>
                <a:spcPts val="0"/>
              </a:spcBef>
              <a:spcAft>
                <a:spcPts val="0"/>
              </a:spcAft>
              <a:buClr>
                <a:srgbClr val="C9D3EA"/>
              </a:buClr>
              <a:buSzPts val="900"/>
              <a:buFont typeface="Calibri"/>
              <a:buNone/>
            </a:pPr>
            <a:r>
              <a:rPr b="1" i="0" lang="en-US" sz="900" u="none" cap="none" strike="noStrike">
                <a:solidFill>
                  <a:srgbClr val="C9D3EA"/>
                </a:solidFill>
                <a:latin typeface="Calibri"/>
                <a:ea typeface="Calibri"/>
                <a:cs typeface="Calibri"/>
                <a:sym typeface="Calibri"/>
              </a:rPr>
              <a:t>05</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Decision</a:t>
            </a:r>
            <a:endParaRPr b="0" i="0" sz="900" u="none" cap="none" strike="noStrike">
              <a:solidFill>
                <a:schemeClr val="dk1"/>
              </a:solidFill>
              <a:latin typeface="Calibri"/>
              <a:ea typeface="Calibri"/>
              <a:cs typeface="Calibri"/>
              <a:sym typeface="Calibri"/>
            </a:endParaRPr>
          </a:p>
        </p:txBody>
      </p:sp>
      <p:sp>
        <p:nvSpPr>
          <p:cNvPr id="125" name="Google Shape;125;p3"/>
          <p:cNvSpPr txBox="1"/>
          <p:nvPr/>
        </p:nvSpPr>
        <p:spPr>
          <a:xfrm>
            <a:off x="8068437" y="1755648"/>
            <a:ext cx="1160145" cy="475488"/>
          </a:xfrm>
          <a:prstGeom prst="rect">
            <a:avLst/>
          </a:prstGeom>
          <a:solidFill>
            <a:srgbClr val="192F7B"/>
          </a:solidFill>
          <a:ln cap="flat" cmpd="sng" w="9525">
            <a:solidFill>
              <a:srgbClr val="192F7B"/>
            </a:solidFill>
            <a:prstDash val="solid"/>
            <a:round/>
            <a:headEnd len="sm" w="sm" type="none"/>
            <a:tailEnd len="sm" w="sm" type="none"/>
          </a:ln>
        </p:spPr>
        <p:txBody>
          <a:bodyPr anchorCtr="0" anchor="ctr" bIns="0" lIns="88900" spcFirstLastPara="1" rIns="50800" wrap="square" tIns="0">
            <a:noAutofit/>
          </a:bodyPr>
          <a:lstStyle/>
          <a:p>
            <a:pPr indent="0" lvl="0" marL="0" marR="0" rtl="0" algn="l">
              <a:spcBef>
                <a:spcPts val="0"/>
              </a:spcBef>
              <a:spcAft>
                <a:spcPts val="0"/>
              </a:spcAft>
              <a:buClr>
                <a:srgbClr val="C9D3EA"/>
              </a:buClr>
              <a:buSzPts val="900"/>
              <a:buFont typeface="Calibri"/>
              <a:buNone/>
            </a:pPr>
            <a:r>
              <a:rPr b="1" i="0" lang="en-US" sz="900" u="none" cap="none" strike="noStrike">
                <a:solidFill>
                  <a:srgbClr val="C9D3EA"/>
                </a:solidFill>
                <a:latin typeface="Calibri"/>
                <a:ea typeface="Calibri"/>
                <a:cs typeface="Calibri"/>
                <a:sym typeface="Calibri"/>
              </a:rPr>
              <a:t>06</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Action</a:t>
            </a:r>
            <a:endParaRPr b="0" i="0" sz="900" u="none" cap="none" strike="noStrike">
              <a:solidFill>
                <a:schemeClr val="dk1"/>
              </a:solidFill>
              <a:latin typeface="Calibri"/>
              <a:ea typeface="Calibri"/>
              <a:cs typeface="Calibri"/>
              <a:sym typeface="Calibri"/>
            </a:endParaRPr>
          </a:p>
        </p:txBody>
      </p:sp>
      <p:sp>
        <p:nvSpPr>
          <p:cNvPr id="126" name="Google Shape;126;p3"/>
          <p:cNvSpPr txBox="1"/>
          <p:nvPr/>
        </p:nvSpPr>
        <p:spPr>
          <a:xfrm>
            <a:off x="9274302" y="1755648"/>
            <a:ext cx="1160145" cy="475488"/>
          </a:xfrm>
          <a:prstGeom prst="rect">
            <a:avLst/>
          </a:prstGeom>
          <a:solidFill>
            <a:srgbClr val="192F7B"/>
          </a:solidFill>
          <a:ln cap="flat" cmpd="sng" w="9525">
            <a:solidFill>
              <a:srgbClr val="192F7B"/>
            </a:solidFill>
            <a:prstDash val="solid"/>
            <a:round/>
            <a:headEnd len="sm" w="sm" type="none"/>
            <a:tailEnd len="sm" w="sm" type="none"/>
          </a:ln>
        </p:spPr>
        <p:txBody>
          <a:bodyPr anchorCtr="0" anchor="ctr" bIns="0" lIns="88900" spcFirstLastPara="1" rIns="50800" wrap="square" tIns="0">
            <a:noAutofit/>
          </a:bodyPr>
          <a:lstStyle/>
          <a:p>
            <a:pPr indent="0" lvl="0" marL="0" marR="0" rtl="0" algn="l">
              <a:spcBef>
                <a:spcPts val="0"/>
              </a:spcBef>
              <a:spcAft>
                <a:spcPts val="0"/>
              </a:spcAft>
              <a:buClr>
                <a:srgbClr val="C9D3EA"/>
              </a:buClr>
              <a:buSzPts val="900"/>
              <a:buFont typeface="Calibri"/>
              <a:buNone/>
            </a:pPr>
            <a:r>
              <a:rPr b="1" i="0" lang="en-US" sz="900" u="none" cap="none" strike="noStrike">
                <a:solidFill>
                  <a:srgbClr val="C9D3EA"/>
                </a:solidFill>
                <a:latin typeface="Calibri"/>
                <a:ea typeface="Calibri"/>
                <a:cs typeface="Calibri"/>
                <a:sym typeface="Calibri"/>
              </a:rPr>
              <a:t>07</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Verification</a:t>
            </a:r>
            <a:endParaRPr b="0" i="0" sz="900" u="none" cap="none" strike="noStrike">
              <a:solidFill>
                <a:schemeClr val="dk1"/>
              </a:solidFill>
              <a:latin typeface="Calibri"/>
              <a:ea typeface="Calibri"/>
              <a:cs typeface="Calibri"/>
              <a:sym typeface="Calibri"/>
            </a:endParaRPr>
          </a:p>
        </p:txBody>
      </p:sp>
      <p:sp>
        <p:nvSpPr>
          <p:cNvPr id="127" name="Google Shape;127;p3"/>
          <p:cNvSpPr txBox="1"/>
          <p:nvPr/>
        </p:nvSpPr>
        <p:spPr>
          <a:xfrm>
            <a:off x="10480167" y="1755648"/>
            <a:ext cx="1160145" cy="475488"/>
          </a:xfrm>
          <a:prstGeom prst="rect">
            <a:avLst/>
          </a:prstGeom>
          <a:solidFill>
            <a:srgbClr val="192F7B"/>
          </a:solidFill>
          <a:ln cap="flat" cmpd="sng" w="9525">
            <a:solidFill>
              <a:srgbClr val="192F7B"/>
            </a:solidFill>
            <a:prstDash val="solid"/>
            <a:round/>
            <a:headEnd len="sm" w="sm" type="none"/>
            <a:tailEnd len="sm" w="sm" type="none"/>
          </a:ln>
        </p:spPr>
        <p:txBody>
          <a:bodyPr anchorCtr="0" anchor="ctr" bIns="0" lIns="88900" spcFirstLastPara="1" rIns="50800" wrap="square" tIns="0">
            <a:noAutofit/>
          </a:bodyPr>
          <a:lstStyle/>
          <a:p>
            <a:pPr indent="0" lvl="0" marL="0" marR="0" rtl="0" algn="l">
              <a:spcBef>
                <a:spcPts val="0"/>
              </a:spcBef>
              <a:spcAft>
                <a:spcPts val="0"/>
              </a:spcAft>
              <a:buClr>
                <a:srgbClr val="C9D3EA"/>
              </a:buClr>
              <a:buSzPts val="900"/>
              <a:buFont typeface="Calibri"/>
              <a:buNone/>
            </a:pPr>
            <a:r>
              <a:rPr b="1" i="0" lang="en-US" sz="900" u="none" cap="none" strike="noStrike">
                <a:solidFill>
                  <a:srgbClr val="C9D3EA"/>
                </a:solidFill>
                <a:latin typeface="Calibri"/>
                <a:ea typeface="Calibri"/>
                <a:cs typeface="Calibri"/>
                <a:sym typeface="Calibri"/>
              </a:rPr>
              <a:t>08</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Learning</a:t>
            </a:r>
            <a:endParaRPr b="0" i="0" sz="900" u="none" cap="none" strike="noStrike">
              <a:solidFill>
                <a:schemeClr val="dk1"/>
              </a:solidFill>
              <a:latin typeface="Calibri"/>
              <a:ea typeface="Calibri"/>
              <a:cs typeface="Calibri"/>
              <a:sym typeface="Calibri"/>
            </a:endParaRPr>
          </a:p>
        </p:txBody>
      </p:sp>
      <p:sp>
        <p:nvSpPr>
          <p:cNvPr id="128" name="Google Shape;128;p3"/>
          <p:cNvSpPr txBox="1"/>
          <p:nvPr/>
        </p:nvSpPr>
        <p:spPr>
          <a:xfrm>
            <a:off x="502920" y="2304288"/>
            <a:ext cx="1481328" cy="1188720"/>
          </a:xfrm>
          <a:prstGeom prst="rect">
            <a:avLst/>
          </a:prstGeom>
          <a:solidFill>
            <a:srgbClr val="3D6BB3"/>
          </a:solidFill>
          <a:ln cap="flat" cmpd="sng" w="9525">
            <a:solidFill>
              <a:srgbClr val="3D6BB3"/>
            </a:solidFill>
            <a:prstDash val="solid"/>
            <a:round/>
            <a:headEnd len="sm" w="sm" type="none"/>
            <a:tailEnd len="sm" w="sm" type="none"/>
          </a:ln>
        </p:spPr>
        <p:txBody>
          <a:bodyPr anchorCtr="0" anchor="ctr" bIns="0" lIns="127000" spcFirstLastPara="1" rIns="10160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MACHINE INDICATES</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AETHER computes, ranks and proposes</a:t>
            </a:r>
            <a:endParaRPr b="0" i="0" sz="1300" u="none" cap="none" strike="noStrike">
              <a:solidFill>
                <a:schemeClr val="dk1"/>
              </a:solidFill>
              <a:latin typeface="Calibri"/>
              <a:ea typeface="Calibri"/>
              <a:cs typeface="Calibri"/>
              <a:sym typeface="Calibri"/>
            </a:endParaRPr>
          </a:p>
        </p:txBody>
      </p:sp>
      <p:sp>
        <p:nvSpPr>
          <p:cNvPr id="129" name="Google Shape;129;p3"/>
          <p:cNvSpPr txBox="1"/>
          <p:nvPr/>
        </p:nvSpPr>
        <p:spPr>
          <a:xfrm>
            <a:off x="502920" y="3712464"/>
            <a:ext cx="1481328" cy="1188720"/>
          </a:xfrm>
          <a:prstGeom prst="rect">
            <a:avLst/>
          </a:prstGeom>
          <a:solidFill>
            <a:srgbClr val="23845A"/>
          </a:solidFill>
          <a:ln cap="flat" cmpd="sng" w="9525">
            <a:solidFill>
              <a:srgbClr val="23845A"/>
            </a:solidFill>
            <a:prstDash val="solid"/>
            <a:round/>
            <a:headEnd len="sm" w="sm" type="none"/>
            <a:tailEnd len="sm" w="sm" type="none"/>
          </a:ln>
        </p:spPr>
        <p:txBody>
          <a:bodyPr anchorCtr="0" anchor="ctr" bIns="0" lIns="127000" spcFirstLastPara="1" rIns="10160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HUMAN DECIDES</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A named role decides; every step is logged</a:t>
            </a:r>
            <a:endParaRPr b="0" i="0" sz="1300" u="none" cap="none" strike="noStrike">
              <a:solidFill>
                <a:schemeClr val="dk1"/>
              </a:solidFill>
              <a:latin typeface="Calibri"/>
              <a:ea typeface="Calibri"/>
              <a:cs typeface="Calibri"/>
              <a:sym typeface="Calibri"/>
            </a:endParaRPr>
          </a:p>
        </p:txBody>
      </p:sp>
      <p:sp>
        <p:nvSpPr>
          <p:cNvPr id="130" name="Google Shape;130;p3"/>
          <p:cNvSpPr txBox="1"/>
          <p:nvPr/>
        </p:nvSpPr>
        <p:spPr>
          <a:xfrm>
            <a:off x="2039112" y="2304288"/>
            <a:ext cx="1160145" cy="1188720"/>
          </a:xfrm>
          <a:prstGeom prst="rect">
            <a:avLst/>
          </a:prstGeom>
          <a:solidFill>
            <a:srgbClr val="FFFFFF"/>
          </a:solidFill>
          <a:ln cap="flat" cmpd="sng" w="9525">
            <a:solidFill>
              <a:srgbClr val="D3DAE4"/>
            </a:solidFill>
            <a:prstDash val="solid"/>
            <a:round/>
            <a:headEnd len="sm" w="sm" type="none"/>
            <a:tailEnd len="sm" w="sm" type="none"/>
          </a:ln>
        </p:spPr>
        <p:txBody>
          <a:bodyPr anchorCtr="0" anchor="t" bIns="50800" lIns="88900" spcFirstLastPara="1" rIns="76200" wrap="square" tIns="88900">
            <a:noAutofit/>
          </a:bodyPr>
          <a:lstStyle/>
          <a:p>
            <a:pPr indent="0" lvl="0" marL="0" marR="0" rtl="0" algn="l">
              <a:spcBef>
                <a:spcPts val="0"/>
              </a:spcBef>
              <a:spcAft>
                <a:spcPts val="0"/>
              </a:spcAft>
              <a:buClr>
                <a:srgbClr val="1E2430"/>
              </a:buClr>
              <a:buSzPts val="1100"/>
              <a:buFont typeface="Calibri"/>
              <a:buNone/>
            </a:pPr>
            <a:r>
              <a:rPr b="0" i="0" lang="en-US" sz="1100" u="none" cap="none" strike="noStrike">
                <a:solidFill>
                  <a:srgbClr val="1E2430"/>
                </a:solidFill>
                <a:latin typeface="Calibri"/>
                <a:ea typeface="Calibri"/>
                <a:cs typeface="Calibri"/>
                <a:sym typeface="Calibri"/>
              </a:rPr>
              <a:t>Reads register, RCAs, condition and production data, read-only</a:t>
            </a:r>
            <a:endParaRPr b="0" i="0" sz="1100" u="none" cap="none" strike="noStrike">
              <a:solidFill>
                <a:schemeClr val="dk1"/>
              </a:solidFill>
              <a:latin typeface="Calibri"/>
              <a:ea typeface="Calibri"/>
              <a:cs typeface="Calibri"/>
              <a:sym typeface="Calibri"/>
            </a:endParaRPr>
          </a:p>
        </p:txBody>
      </p:sp>
      <p:sp>
        <p:nvSpPr>
          <p:cNvPr id="131" name="Google Shape;131;p3"/>
          <p:cNvSpPr txBox="1"/>
          <p:nvPr/>
        </p:nvSpPr>
        <p:spPr>
          <a:xfrm>
            <a:off x="3244977" y="2304288"/>
            <a:ext cx="1160145" cy="1188720"/>
          </a:xfrm>
          <a:prstGeom prst="rect">
            <a:avLst/>
          </a:prstGeom>
          <a:solidFill>
            <a:srgbClr val="FFFFFF"/>
          </a:solidFill>
          <a:ln cap="flat" cmpd="sng" w="9525">
            <a:solidFill>
              <a:srgbClr val="D3DAE4"/>
            </a:solidFill>
            <a:prstDash val="solid"/>
            <a:round/>
            <a:headEnd len="sm" w="sm" type="none"/>
            <a:tailEnd len="sm" w="sm" type="none"/>
          </a:ln>
        </p:spPr>
        <p:txBody>
          <a:bodyPr anchorCtr="0" anchor="t" bIns="50800" lIns="88900" spcFirstLastPara="1" rIns="76200" wrap="square" tIns="88900">
            <a:noAutofit/>
          </a:bodyPr>
          <a:lstStyle/>
          <a:p>
            <a:pPr indent="0" lvl="0" marL="0" marR="0" rtl="0" algn="l">
              <a:spcBef>
                <a:spcPts val="0"/>
              </a:spcBef>
              <a:spcAft>
                <a:spcPts val="0"/>
              </a:spcAft>
              <a:buClr>
                <a:srgbClr val="1E2430"/>
              </a:buClr>
              <a:buSzPts val="1100"/>
              <a:buFont typeface="Calibri"/>
              <a:buNone/>
            </a:pPr>
            <a:r>
              <a:rPr b="0" i="0" lang="en-US" sz="1100" u="none" cap="none" strike="noStrike">
                <a:solidFill>
                  <a:srgbClr val="1E2430"/>
                </a:solidFill>
                <a:latin typeface="Calibri"/>
                <a:ea typeface="Calibri"/>
                <a:cs typeface="Calibri"/>
                <a:sym typeface="Calibri"/>
              </a:rPr>
              <a:t>Joins condition and consequence per asset; status label on every number</a:t>
            </a:r>
            <a:endParaRPr b="0" i="0" sz="1100" u="none" cap="none" strike="noStrike">
              <a:solidFill>
                <a:schemeClr val="dk1"/>
              </a:solidFill>
              <a:latin typeface="Calibri"/>
              <a:ea typeface="Calibri"/>
              <a:cs typeface="Calibri"/>
              <a:sym typeface="Calibri"/>
            </a:endParaRPr>
          </a:p>
        </p:txBody>
      </p:sp>
      <p:sp>
        <p:nvSpPr>
          <p:cNvPr id="132" name="Google Shape;132;p3"/>
          <p:cNvSpPr txBox="1"/>
          <p:nvPr/>
        </p:nvSpPr>
        <p:spPr>
          <a:xfrm>
            <a:off x="4450842" y="2304288"/>
            <a:ext cx="1160145" cy="1188720"/>
          </a:xfrm>
          <a:prstGeom prst="rect">
            <a:avLst/>
          </a:prstGeom>
          <a:solidFill>
            <a:srgbClr val="FFFFFF"/>
          </a:solidFill>
          <a:ln cap="flat" cmpd="sng" w="9525">
            <a:solidFill>
              <a:srgbClr val="D3DAE4"/>
            </a:solidFill>
            <a:prstDash val="solid"/>
            <a:round/>
            <a:headEnd len="sm" w="sm" type="none"/>
            <a:tailEnd len="sm" w="sm" type="none"/>
          </a:ln>
        </p:spPr>
        <p:txBody>
          <a:bodyPr anchorCtr="0" anchor="t" bIns="50800" lIns="88900" spcFirstLastPara="1" rIns="76200" wrap="square" tIns="88900">
            <a:noAutofit/>
          </a:bodyPr>
          <a:lstStyle/>
          <a:p>
            <a:pPr indent="0" lvl="0" marL="0" marR="0" rtl="0" algn="l">
              <a:spcBef>
                <a:spcPts val="0"/>
              </a:spcBef>
              <a:spcAft>
                <a:spcPts val="0"/>
              </a:spcAft>
              <a:buClr>
                <a:srgbClr val="1E2430"/>
              </a:buClr>
              <a:buSzPts val="1100"/>
              <a:buFont typeface="Calibri"/>
              <a:buNone/>
            </a:pPr>
            <a:r>
              <a:rPr b="0" i="0" lang="en-US" sz="1100" u="none" cap="none" strike="noStrike">
                <a:solidFill>
                  <a:srgbClr val="1E2430"/>
                </a:solidFill>
                <a:latin typeface="Calibri"/>
                <a:ea typeface="Calibri"/>
                <a:cs typeface="Calibri"/>
                <a:sym typeface="Calibri"/>
              </a:rPr>
              <a:t>Problem Tank: ranks problems by condition and consequence, reason shown</a:t>
            </a:r>
            <a:endParaRPr b="0" i="0" sz="1100" u="none" cap="none" strike="noStrike">
              <a:solidFill>
                <a:schemeClr val="dk1"/>
              </a:solidFill>
              <a:latin typeface="Calibri"/>
              <a:ea typeface="Calibri"/>
              <a:cs typeface="Calibri"/>
              <a:sym typeface="Calibri"/>
            </a:endParaRPr>
          </a:p>
        </p:txBody>
      </p:sp>
      <p:sp>
        <p:nvSpPr>
          <p:cNvPr id="133" name="Google Shape;133;p3"/>
          <p:cNvSpPr txBox="1"/>
          <p:nvPr/>
        </p:nvSpPr>
        <p:spPr>
          <a:xfrm>
            <a:off x="5656707" y="2304288"/>
            <a:ext cx="1160145" cy="1188720"/>
          </a:xfrm>
          <a:prstGeom prst="rect">
            <a:avLst/>
          </a:prstGeom>
          <a:solidFill>
            <a:srgbClr val="FFFFFF"/>
          </a:solidFill>
          <a:ln cap="flat" cmpd="sng" w="19050">
            <a:solidFill>
              <a:srgbClr val="3D6BB3"/>
            </a:solidFill>
            <a:prstDash val="dash"/>
            <a:round/>
            <a:headEnd len="sm" w="sm" type="none"/>
            <a:tailEnd len="sm" w="sm" type="none"/>
          </a:ln>
        </p:spPr>
        <p:txBody>
          <a:bodyPr anchorCtr="0" anchor="t" bIns="50800" lIns="88900" spcFirstLastPara="1" rIns="76200" wrap="square" tIns="88900">
            <a:noAutofit/>
          </a:bodyPr>
          <a:lstStyle/>
          <a:p>
            <a:pPr indent="0" lvl="0" marL="0" marR="0" rtl="0" algn="l">
              <a:spcBef>
                <a:spcPts val="0"/>
              </a:spcBef>
              <a:spcAft>
                <a:spcPts val="0"/>
              </a:spcAft>
              <a:buClr>
                <a:srgbClr val="3D6BB3"/>
              </a:buClr>
              <a:buSzPts val="850"/>
              <a:buFont typeface="Calibri"/>
              <a:buNone/>
            </a:pPr>
            <a:r>
              <a:rPr b="1" i="0" lang="en-US" sz="850" u="none" cap="none" strike="noStrike">
                <a:solidFill>
                  <a:srgbClr val="3D6BB3"/>
                </a:solidFill>
                <a:latin typeface="Calibri"/>
                <a:ea typeface="Calibri"/>
                <a:cs typeface="Calibri"/>
                <a:sym typeface="Calibri"/>
              </a:rPr>
              <a:t>[AI INDICATION]</a:t>
            </a:r>
            <a:endParaRPr b="0" i="0" sz="8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1E2430"/>
              </a:buClr>
              <a:buSzPts val="1100"/>
              <a:buFont typeface="Calibri"/>
              <a:buNone/>
            </a:pPr>
            <a:r>
              <a:rPr b="0" i="0" lang="en-US" sz="1100" u="none" cap="none" strike="noStrike">
                <a:solidFill>
                  <a:srgbClr val="1E2430"/>
                </a:solidFill>
                <a:latin typeface="Calibri"/>
                <a:ea typeface="Calibri"/>
                <a:cs typeface="Calibri"/>
                <a:sym typeface="Calibri"/>
              </a:rPr>
              <a:t>Probable cause to verify, with its evidence and similar verified cases</a:t>
            </a:r>
            <a:endParaRPr b="0" i="0" sz="850" u="none" cap="none" strike="noStrike">
              <a:solidFill>
                <a:schemeClr val="dk1"/>
              </a:solidFill>
              <a:latin typeface="Calibri"/>
              <a:ea typeface="Calibri"/>
              <a:cs typeface="Calibri"/>
              <a:sym typeface="Calibri"/>
            </a:endParaRPr>
          </a:p>
        </p:txBody>
      </p:sp>
      <p:sp>
        <p:nvSpPr>
          <p:cNvPr id="134" name="Google Shape;134;p3"/>
          <p:cNvSpPr/>
          <p:nvPr/>
        </p:nvSpPr>
        <p:spPr>
          <a:xfrm>
            <a:off x="6862572" y="2304288"/>
            <a:ext cx="1160145" cy="1188720"/>
          </a:xfrm>
          <a:prstGeom prst="rect">
            <a:avLst/>
          </a:prstGeom>
          <a:solidFill>
            <a:srgbClr val="E9EDF3"/>
          </a:solidFill>
          <a:ln cap="flat" cmpd="sng" w="12700">
            <a:solidFill>
              <a:srgbClr val="E9ED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3"/>
          <p:cNvSpPr txBox="1"/>
          <p:nvPr/>
        </p:nvSpPr>
        <p:spPr>
          <a:xfrm>
            <a:off x="8068437" y="2304288"/>
            <a:ext cx="1160145" cy="1188720"/>
          </a:xfrm>
          <a:prstGeom prst="rect">
            <a:avLst/>
          </a:prstGeom>
          <a:solidFill>
            <a:srgbClr val="FFFFFF"/>
          </a:solidFill>
          <a:ln cap="flat" cmpd="sng" w="9525">
            <a:solidFill>
              <a:srgbClr val="D3DAE4"/>
            </a:solidFill>
            <a:prstDash val="solid"/>
            <a:round/>
            <a:headEnd len="sm" w="sm" type="none"/>
            <a:tailEnd len="sm" w="sm" type="none"/>
          </a:ln>
        </p:spPr>
        <p:txBody>
          <a:bodyPr anchorCtr="0" anchor="t" bIns="50800" lIns="88900" spcFirstLastPara="1" rIns="76200" wrap="square" tIns="88900">
            <a:noAutofit/>
          </a:bodyPr>
          <a:lstStyle/>
          <a:p>
            <a:pPr indent="0" lvl="0" marL="0" marR="0" rtl="0" algn="l">
              <a:spcBef>
                <a:spcPts val="0"/>
              </a:spcBef>
              <a:spcAft>
                <a:spcPts val="0"/>
              </a:spcAft>
              <a:buClr>
                <a:srgbClr val="1E2430"/>
              </a:buClr>
              <a:buSzPts val="1100"/>
              <a:buFont typeface="Calibri"/>
              <a:buNone/>
            </a:pPr>
            <a:r>
              <a:rPr b="0" i="0" lang="en-US" sz="1100" u="none" cap="none" strike="noStrike">
                <a:solidFill>
                  <a:srgbClr val="1E2430"/>
                </a:solidFill>
                <a:latin typeface="Calibri"/>
                <a:ea typeface="Calibri"/>
                <a:cs typeface="Calibri"/>
                <a:sym typeface="Calibri"/>
              </a:rPr>
              <a:t>Action guidance traced to verified RCAs; tracks execution</a:t>
            </a:r>
            <a:endParaRPr b="0" i="0" sz="1100" u="none" cap="none" strike="noStrike">
              <a:solidFill>
                <a:schemeClr val="dk1"/>
              </a:solidFill>
              <a:latin typeface="Calibri"/>
              <a:ea typeface="Calibri"/>
              <a:cs typeface="Calibri"/>
              <a:sym typeface="Calibri"/>
            </a:endParaRPr>
          </a:p>
        </p:txBody>
      </p:sp>
      <p:sp>
        <p:nvSpPr>
          <p:cNvPr id="136" name="Google Shape;136;p3"/>
          <p:cNvSpPr txBox="1"/>
          <p:nvPr/>
        </p:nvSpPr>
        <p:spPr>
          <a:xfrm>
            <a:off x="9274302" y="2304288"/>
            <a:ext cx="1160145" cy="1188720"/>
          </a:xfrm>
          <a:prstGeom prst="rect">
            <a:avLst/>
          </a:prstGeom>
          <a:solidFill>
            <a:srgbClr val="FFFFFF"/>
          </a:solidFill>
          <a:ln cap="flat" cmpd="sng" w="9525">
            <a:solidFill>
              <a:srgbClr val="D3DAE4"/>
            </a:solidFill>
            <a:prstDash val="solid"/>
            <a:round/>
            <a:headEnd len="sm" w="sm" type="none"/>
            <a:tailEnd len="sm" w="sm" type="none"/>
          </a:ln>
        </p:spPr>
        <p:txBody>
          <a:bodyPr anchorCtr="0" anchor="t" bIns="50800" lIns="88900" spcFirstLastPara="1" rIns="76200" wrap="square" tIns="88900">
            <a:noAutofit/>
          </a:bodyPr>
          <a:lstStyle/>
          <a:p>
            <a:pPr indent="0" lvl="0" marL="0" marR="0" rtl="0" algn="l">
              <a:spcBef>
                <a:spcPts val="0"/>
              </a:spcBef>
              <a:spcAft>
                <a:spcPts val="0"/>
              </a:spcAft>
              <a:buClr>
                <a:srgbClr val="1E2430"/>
              </a:buClr>
              <a:buSzPts val="1100"/>
              <a:buFont typeface="Calibri"/>
              <a:buNone/>
            </a:pPr>
            <a:r>
              <a:rPr b="0" i="0" lang="en-US" sz="1100" u="none" cap="none" strike="noStrike">
                <a:solidFill>
                  <a:srgbClr val="1E2430"/>
                </a:solidFill>
                <a:latin typeface="Calibri"/>
                <a:ea typeface="Calibri"/>
                <a:cs typeface="Calibri"/>
                <a:sym typeface="Calibri"/>
              </a:rPr>
              <a:t>Tracks effectiveness status until it is tested</a:t>
            </a:r>
            <a:endParaRPr b="0" i="0" sz="1100" u="none" cap="none" strike="noStrike">
              <a:solidFill>
                <a:schemeClr val="dk1"/>
              </a:solidFill>
              <a:latin typeface="Calibri"/>
              <a:ea typeface="Calibri"/>
              <a:cs typeface="Calibri"/>
              <a:sym typeface="Calibri"/>
            </a:endParaRPr>
          </a:p>
        </p:txBody>
      </p:sp>
      <p:sp>
        <p:nvSpPr>
          <p:cNvPr id="137" name="Google Shape;137;p3"/>
          <p:cNvSpPr txBox="1"/>
          <p:nvPr/>
        </p:nvSpPr>
        <p:spPr>
          <a:xfrm>
            <a:off x="10480167" y="2304288"/>
            <a:ext cx="1160145" cy="1188720"/>
          </a:xfrm>
          <a:prstGeom prst="rect">
            <a:avLst/>
          </a:prstGeom>
          <a:solidFill>
            <a:srgbClr val="FFFFFF"/>
          </a:solidFill>
          <a:ln cap="flat" cmpd="sng" w="9525">
            <a:solidFill>
              <a:srgbClr val="D3DAE4"/>
            </a:solidFill>
            <a:prstDash val="solid"/>
            <a:round/>
            <a:headEnd len="sm" w="sm" type="none"/>
            <a:tailEnd len="sm" w="sm" type="none"/>
          </a:ln>
        </p:spPr>
        <p:txBody>
          <a:bodyPr anchorCtr="0" anchor="t" bIns="50800" lIns="88900" spcFirstLastPara="1" rIns="76200" wrap="square" tIns="88900">
            <a:noAutofit/>
          </a:bodyPr>
          <a:lstStyle/>
          <a:p>
            <a:pPr indent="0" lvl="0" marL="0" marR="0" rtl="0" algn="l">
              <a:spcBef>
                <a:spcPts val="0"/>
              </a:spcBef>
              <a:spcAft>
                <a:spcPts val="0"/>
              </a:spcAft>
              <a:buClr>
                <a:srgbClr val="1E2430"/>
              </a:buClr>
              <a:buSzPts val="1100"/>
              <a:buFont typeface="Calibri"/>
              <a:buNone/>
            </a:pPr>
            <a:r>
              <a:rPr b="0" i="0" lang="en-US" sz="1100" u="none" cap="none" strike="noStrike">
                <a:solidFill>
                  <a:srgbClr val="1E2430"/>
                </a:solidFill>
                <a:latin typeface="Calibri"/>
                <a:ea typeface="Calibri"/>
                <a:cs typeface="Calibri"/>
                <a:sym typeface="Calibri"/>
              </a:rPr>
              <a:t>Stores verified knowledge with an append-only audit trail</a:t>
            </a:r>
            <a:endParaRPr b="0" i="0" sz="1100" u="none" cap="none" strike="noStrike">
              <a:solidFill>
                <a:schemeClr val="dk1"/>
              </a:solidFill>
              <a:latin typeface="Calibri"/>
              <a:ea typeface="Calibri"/>
              <a:cs typeface="Calibri"/>
              <a:sym typeface="Calibri"/>
            </a:endParaRPr>
          </a:p>
        </p:txBody>
      </p:sp>
      <p:sp>
        <p:nvSpPr>
          <p:cNvPr id="138" name="Google Shape;138;p3"/>
          <p:cNvSpPr txBox="1"/>
          <p:nvPr/>
        </p:nvSpPr>
        <p:spPr>
          <a:xfrm>
            <a:off x="2039112" y="3712464"/>
            <a:ext cx="1160145" cy="1188720"/>
          </a:xfrm>
          <a:prstGeom prst="rect">
            <a:avLst/>
          </a:prstGeom>
          <a:solidFill>
            <a:srgbClr val="FFFFFF"/>
          </a:solidFill>
          <a:ln cap="flat" cmpd="sng" w="9525">
            <a:solidFill>
              <a:srgbClr val="D3DAE4"/>
            </a:solidFill>
            <a:prstDash val="solid"/>
            <a:round/>
            <a:headEnd len="sm" w="sm" type="none"/>
            <a:tailEnd len="sm" w="sm" type="none"/>
          </a:ln>
        </p:spPr>
        <p:txBody>
          <a:bodyPr anchorCtr="0" anchor="t" bIns="50800" lIns="88900" spcFirstLastPara="1" rIns="76200" wrap="square" tIns="88900">
            <a:noAutofit/>
          </a:bodyPr>
          <a:lstStyle/>
          <a:p>
            <a:pPr indent="0" lvl="0" marL="0" marR="0" rtl="0" algn="l">
              <a:spcBef>
                <a:spcPts val="0"/>
              </a:spcBef>
              <a:spcAft>
                <a:spcPts val="0"/>
              </a:spcAft>
              <a:buClr>
                <a:srgbClr val="1E2430"/>
              </a:buClr>
              <a:buSzPts val="1100"/>
              <a:buFont typeface="Calibri"/>
              <a:buNone/>
            </a:pPr>
            <a:r>
              <a:rPr b="0" i="0" lang="en-US" sz="1100" u="none" cap="none" strike="noStrike">
                <a:solidFill>
                  <a:srgbClr val="1E2430"/>
                </a:solidFill>
                <a:latin typeface="Calibri"/>
                <a:ea typeface="Calibri"/>
                <a:cs typeface="Calibri"/>
                <a:sym typeface="Calibri"/>
              </a:rPr>
              <a:t>Data steward per source</a:t>
            </a:r>
            <a:endParaRPr b="0" i="0" sz="1100" u="none" cap="none" strike="noStrike">
              <a:solidFill>
                <a:schemeClr val="dk1"/>
              </a:solidFill>
              <a:latin typeface="Calibri"/>
              <a:ea typeface="Calibri"/>
              <a:cs typeface="Calibri"/>
              <a:sym typeface="Calibri"/>
            </a:endParaRPr>
          </a:p>
        </p:txBody>
      </p:sp>
      <p:sp>
        <p:nvSpPr>
          <p:cNvPr id="139" name="Google Shape;139;p3"/>
          <p:cNvSpPr/>
          <p:nvPr/>
        </p:nvSpPr>
        <p:spPr>
          <a:xfrm>
            <a:off x="3244977" y="3712464"/>
            <a:ext cx="1160145" cy="1188720"/>
          </a:xfrm>
          <a:prstGeom prst="rect">
            <a:avLst/>
          </a:prstGeom>
          <a:solidFill>
            <a:srgbClr val="E9EDF3"/>
          </a:solidFill>
          <a:ln cap="flat" cmpd="sng" w="12700">
            <a:solidFill>
              <a:srgbClr val="E9ED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3"/>
          <p:cNvSpPr txBox="1"/>
          <p:nvPr/>
        </p:nvSpPr>
        <p:spPr>
          <a:xfrm>
            <a:off x="4450842" y="3712464"/>
            <a:ext cx="1160145" cy="1188720"/>
          </a:xfrm>
          <a:prstGeom prst="rect">
            <a:avLst/>
          </a:prstGeom>
          <a:solidFill>
            <a:srgbClr val="FFFFFF"/>
          </a:solidFill>
          <a:ln cap="flat" cmpd="sng" w="9525">
            <a:solidFill>
              <a:srgbClr val="D3DAE4"/>
            </a:solidFill>
            <a:prstDash val="solid"/>
            <a:round/>
            <a:headEnd len="sm" w="sm" type="none"/>
            <a:tailEnd len="sm" w="sm" type="none"/>
          </a:ln>
        </p:spPr>
        <p:txBody>
          <a:bodyPr anchorCtr="0" anchor="t" bIns="50800" lIns="88900" spcFirstLastPara="1" rIns="76200" wrap="square" tIns="88900">
            <a:noAutofit/>
          </a:bodyPr>
          <a:lstStyle/>
          <a:p>
            <a:pPr indent="0" lvl="0" marL="0" marR="0" rtl="0" algn="l">
              <a:spcBef>
                <a:spcPts val="0"/>
              </a:spcBef>
              <a:spcAft>
                <a:spcPts val="0"/>
              </a:spcAft>
              <a:buClr>
                <a:srgbClr val="1E2430"/>
              </a:buClr>
              <a:buSzPts val="1100"/>
              <a:buFont typeface="Calibri"/>
              <a:buNone/>
            </a:pPr>
            <a:r>
              <a:rPr b="0" i="0" lang="en-US" sz="1100" u="none" cap="none" strike="noStrike">
                <a:solidFill>
                  <a:srgbClr val="1E2430"/>
                </a:solidFill>
                <a:latin typeface="Calibri"/>
                <a:ea typeface="Calibri"/>
                <a:cs typeface="Calibri"/>
                <a:sym typeface="Calibri"/>
              </a:rPr>
              <a:t>Acknowledge, dismiss or re-rank with a reason</a:t>
            </a:r>
            <a:endParaRPr b="0" i="0" sz="1100" u="none" cap="none" strike="noStrike">
              <a:solidFill>
                <a:schemeClr val="dk1"/>
              </a:solidFill>
              <a:latin typeface="Calibri"/>
              <a:ea typeface="Calibri"/>
              <a:cs typeface="Calibri"/>
              <a:sym typeface="Calibri"/>
            </a:endParaRPr>
          </a:p>
        </p:txBody>
      </p:sp>
      <p:sp>
        <p:nvSpPr>
          <p:cNvPr id="141" name="Google Shape;141;p3"/>
          <p:cNvSpPr txBox="1"/>
          <p:nvPr/>
        </p:nvSpPr>
        <p:spPr>
          <a:xfrm>
            <a:off x="5656707" y="3712464"/>
            <a:ext cx="1160145" cy="1188720"/>
          </a:xfrm>
          <a:prstGeom prst="rect">
            <a:avLst/>
          </a:prstGeom>
          <a:solidFill>
            <a:srgbClr val="FFFFFF"/>
          </a:solidFill>
          <a:ln cap="flat" cmpd="sng" w="9525">
            <a:solidFill>
              <a:srgbClr val="D3DAE4"/>
            </a:solidFill>
            <a:prstDash val="solid"/>
            <a:round/>
            <a:headEnd len="sm" w="sm" type="none"/>
            <a:tailEnd len="sm" w="sm" type="none"/>
          </a:ln>
        </p:spPr>
        <p:txBody>
          <a:bodyPr anchorCtr="0" anchor="t" bIns="50800" lIns="88900" spcFirstLastPara="1" rIns="76200" wrap="square" tIns="88900">
            <a:noAutofit/>
          </a:bodyPr>
          <a:lstStyle/>
          <a:p>
            <a:pPr indent="0" lvl="0" marL="0" marR="0" rtl="0" algn="l">
              <a:spcBef>
                <a:spcPts val="0"/>
              </a:spcBef>
              <a:spcAft>
                <a:spcPts val="0"/>
              </a:spcAft>
              <a:buClr>
                <a:srgbClr val="1E2430"/>
              </a:buClr>
              <a:buSzPts val="1100"/>
              <a:buFont typeface="Calibri"/>
              <a:buNone/>
            </a:pPr>
            <a:r>
              <a:rPr b="0" i="0" lang="en-US" sz="1100" u="none" cap="none" strike="noStrike">
                <a:solidFill>
                  <a:srgbClr val="1E2430"/>
                </a:solidFill>
                <a:latin typeface="Calibri"/>
                <a:ea typeface="Calibri"/>
                <a:cs typeface="Calibri"/>
                <a:sym typeface="Calibri"/>
              </a:rPr>
              <a:t>Assign the RCA owner</a:t>
            </a:r>
            <a:endParaRPr b="0" i="0" sz="1100" u="none" cap="none" strike="noStrike">
              <a:solidFill>
                <a:schemeClr val="dk1"/>
              </a:solidFill>
              <a:latin typeface="Calibri"/>
              <a:ea typeface="Calibri"/>
              <a:cs typeface="Calibri"/>
              <a:sym typeface="Calibri"/>
            </a:endParaRPr>
          </a:p>
        </p:txBody>
      </p:sp>
      <p:sp>
        <p:nvSpPr>
          <p:cNvPr id="142" name="Google Shape;142;p3"/>
          <p:cNvSpPr txBox="1"/>
          <p:nvPr/>
        </p:nvSpPr>
        <p:spPr>
          <a:xfrm>
            <a:off x="6862572" y="3712464"/>
            <a:ext cx="1160145" cy="1188720"/>
          </a:xfrm>
          <a:prstGeom prst="rect">
            <a:avLst/>
          </a:prstGeom>
          <a:solidFill>
            <a:srgbClr val="FFFFFF"/>
          </a:solidFill>
          <a:ln cap="flat" cmpd="sng" w="9525">
            <a:solidFill>
              <a:srgbClr val="D3DAE4"/>
            </a:solidFill>
            <a:prstDash val="solid"/>
            <a:round/>
            <a:headEnd len="sm" w="sm" type="none"/>
            <a:tailEnd len="sm" w="sm" type="none"/>
          </a:ln>
        </p:spPr>
        <p:txBody>
          <a:bodyPr anchorCtr="0" anchor="t" bIns="50800" lIns="88900" spcFirstLastPara="1" rIns="76200" wrap="square" tIns="88900">
            <a:noAutofit/>
          </a:bodyPr>
          <a:lstStyle/>
          <a:p>
            <a:pPr indent="0" lvl="0" marL="0" marR="0" rtl="0" algn="l">
              <a:spcBef>
                <a:spcPts val="0"/>
              </a:spcBef>
              <a:spcAft>
                <a:spcPts val="0"/>
              </a:spcAft>
              <a:buClr>
                <a:srgbClr val="1E2430"/>
              </a:buClr>
              <a:buSzPts val="1100"/>
              <a:buFont typeface="Calibri"/>
              <a:buNone/>
            </a:pPr>
            <a:r>
              <a:rPr b="0" i="0" lang="en-US" sz="1100" u="none" cap="none" strike="noStrike">
                <a:solidFill>
                  <a:srgbClr val="1E2430"/>
                </a:solidFill>
                <a:latin typeface="Calibri"/>
                <a:ea typeface="Calibri"/>
                <a:cs typeface="Calibri"/>
                <a:sym typeface="Calibri"/>
              </a:rPr>
              <a:t>Accept or reject the cause; record the verified root cause</a:t>
            </a:r>
            <a:endParaRPr b="0" i="0" sz="1100" u="none" cap="none" strike="noStrike">
              <a:solidFill>
                <a:schemeClr val="dk1"/>
              </a:solidFill>
              <a:latin typeface="Calibri"/>
              <a:ea typeface="Calibri"/>
              <a:cs typeface="Calibri"/>
              <a:sym typeface="Calibri"/>
            </a:endParaRPr>
          </a:p>
        </p:txBody>
      </p:sp>
      <p:sp>
        <p:nvSpPr>
          <p:cNvPr id="143" name="Google Shape;143;p3"/>
          <p:cNvSpPr txBox="1"/>
          <p:nvPr/>
        </p:nvSpPr>
        <p:spPr>
          <a:xfrm>
            <a:off x="8068437" y="3712464"/>
            <a:ext cx="1160145" cy="1188720"/>
          </a:xfrm>
          <a:prstGeom prst="rect">
            <a:avLst/>
          </a:prstGeom>
          <a:solidFill>
            <a:srgbClr val="FFFFFF"/>
          </a:solidFill>
          <a:ln cap="flat" cmpd="sng" w="9525">
            <a:solidFill>
              <a:srgbClr val="D3DAE4"/>
            </a:solidFill>
            <a:prstDash val="solid"/>
            <a:round/>
            <a:headEnd len="sm" w="sm" type="none"/>
            <a:tailEnd len="sm" w="sm" type="none"/>
          </a:ln>
        </p:spPr>
        <p:txBody>
          <a:bodyPr anchorCtr="0" anchor="t" bIns="50800" lIns="88900" spcFirstLastPara="1" rIns="76200" wrap="square" tIns="88900">
            <a:noAutofit/>
          </a:bodyPr>
          <a:lstStyle/>
          <a:p>
            <a:pPr indent="0" lvl="0" marL="0" marR="0" rtl="0" algn="l">
              <a:spcBef>
                <a:spcPts val="0"/>
              </a:spcBef>
              <a:spcAft>
                <a:spcPts val="0"/>
              </a:spcAft>
              <a:buClr>
                <a:srgbClr val="1E2430"/>
              </a:buClr>
              <a:buSzPts val="1100"/>
              <a:buFont typeface="Calibri"/>
              <a:buNone/>
            </a:pPr>
            <a:r>
              <a:rPr b="0" i="0" lang="en-US" sz="1100" u="none" cap="none" strike="noStrike">
                <a:solidFill>
                  <a:srgbClr val="1E2430"/>
                </a:solidFill>
                <a:latin typeface="Calibri"/>
                <a:ea typeface="Calibri"/>
                <a:cs typeface="Calibri"/>
                <a:sym typeface="Calibri"/>
              </a:rPr>
              <a:t>Approve the action, owner and date</a:t>
            </a:r>
            <a:endParaRPr b="0" i="0" sz="1100" u="none" cap="none" strike="noStrike">
              <a:solidFill>
                <a:schemeClr val="dk1"/>
              </a:solidFill>
              <a:latin typeface="Calibri"/>
              <a:ea typeface="Calibri"/>
              <a:cs typeface="Calibri"/>
              <a:sym typeface="Calibri"/>
            </a:endParaRPr>
          </a:p>
        </p:txBody>
      </p:sp>
      <p:sp>
        <p:nvSpPr>
          <p:cNvPr id="144" name="Google Shape;144;p3"/>
          <p:cNvSpPr txBox="1"/>
          <p:nvPr/>
        </p:nvSpPr>
        <p:spPr>
          <a:xfrm>
            <a:off x="9274302" y="3712464"/>
            <a:ext cx="1160145" cy="1188720"/>
          </a:xfrm>
          <a:prstGeom prst="rect">
            <a:avLst/>
          </a:prstGeom>
          <a:solidFill>
            <a:srgbClr val="FFFFFF"/>
          </a:solidFill>
          <a:ln cap="flat" cmpd="sng" w="9525">
            <a:solidFill>
              <a:srgbClr val="D3DAE4"/>
            </a:solidFill>
            <a:prstDash val="solid"/>
            <a:round/>
            <a:headEnd len="sm" w="sm" type="none"/>
            <a:tailEnd len="sm" w="sm" type="none"/>
          </a:ln>
        </p:spPr>
        <p:txBody>
          <a:bodyPr anchorCtr="0" anchor="t" bIns="50800" lIns="88900" spcFirstLastPara="1" rIns="76200" wrap="square" tIns="88900">
            <a:noAutofit/>
          </a:bodyPr>
          <a:lstStyle/>
          <a:p>
            <a:pPr indent="0" lvl="0" marL="0" marR="0" rtl="0" algn="l">
              <a:spcBef>
                <a:spcPts val="0"/>
              </a:spcBef>
              <a:spcAft>
                <a:spcPts val="0"/>
              </a:spcAft>
              <a:buClr>
                <a:srgbClr val="1E2430"/>
              </a:buClr>
              <a:buSzPts val="1100"/>
              <a:buFont typeface="Calibri"/>
              <a:buNone/>
            </a:pPr>
            <a:r>
              <a:rPr b="0" i="0" lang="en-US" sz="1100" u="none" cap="none" strike="noStrike">
                <a:solidFill>
                  <a:srgbClr val="1E2430"/>
                </a:solidFill>
                <a:latin typeface="Calibri"/>
                <a:ea typeface="Calibri"/>
                <a:cs typeface="Calibri"/>
                <a:sym typeface="Calibri"/>
              </a:rPr>
              <a:t>A verifier other than the owner signs off</a:t>
            </a:r>
            <a:endParaRPr b="0" i="0" sz="1100" u="none" cap="none" strike="noStrike">
              <a:solidFill>
                <a:schemeClr val="dk1"/>
              </a:solidFill>
              <a:latin typeface="Calibri"/>
              <a:ea typeface="Calibri"/>
              <a:cs typeface="Calibri"/>
              <a:sym typeface="Calibri"/>
            </a:endParaRPr>
          </a:p>
        </p:txBody>
      </p:sp>
      <p:sp>
        <p:nvSpPr>
          <p:cNvPr id="145" name="Google Shape;145;p3"/>
          <p:cNvSpPr txBox="1"/>
          <p:nvPr/>
        </p:nvSpPr>
        <p:spPr>
          <a:xfrm>
            <a:off x="10480167" y="3712464"/>
            <a:ext cx="1160145" cy="1188720"/>
          </a:xfrm>
          <a:prstGeom prst="rect">
            <a:avLst/>
          </a:prstGeom>
          <a:solidFill>
            <a:srgbClr val="FFFFFF"/>
          </a:solidFill>
          <a:ln cap="flat" cmpd="sng" w="9525">
            <a:solidFill>
              <a:srgbClr val="D3DAE4"/>
            </a:solidFill>
            <a:prstDash val="solid"/>
            <a:round/>
            <a:headEnd len="sm" w="sm" type="none"/>
            <a:tailEnd len="sm" w="sm" type="none"/>
          </a:ln>
        </p:spPr>
        <p:txBody>
          <a:bodyPr anchorCtr="0" anchor="t" bIns="50800" lIns="88900" spcFirstLastPara="1" rIns="76200" wrap="square" tIns="88900">
            <a:noAutofit/>
          </a:bodyPr>
          <a:lstStyle/>
          <a:p>
            <a:pPr indent="0" lvl="0" marL="0" marR="0" rtl="0" algn="l">
              <a:spcBef>
                <a:spcPts val="0"/>
              </a:spcBef>
              <a:spcAft>
                <a:spcPts val="0"/>
              </a:spcAft>
              <a:buClr>
                <a:srgbClr val="1E2430"/>
              </a:buClr>
              <a:buSzPts val="1100"/>
              <a:buFont typeface="Calibri"/>
              <a:buNone/>
            </a:pPr>
            <a:r>
              <a:rPr b="0" i="0" lang="en-US" sz="1100" u="none" cap="none" strike="noStrike">
                <a:solidFill>
                  <a:srgbClr val="1E2430"/>
                </a:solidFill>
                <a:latin typeface="Calibri"/>
                <a:ea typeface="Calibri"/>
                <a:cs typeface="Calibri"/>
                <a:sym typeface="Calibri"/>
              </a:rPr>
              <a:t>Admit the knowledge or rule change</a:t>
            </a:r>
            <a:endParaRPr b="0" i="0" sz="1100" u="none" cap="none" strike="noStrike">
              <a:solidFill>
                <a:schemeClr val="dk1"/>
              </a:solidFill>
              <a:latin typeface="Calibri"/>
              <a:ea typeface="Calibri"/>
              <a:cs typeface="Calibri"/>
              <a:sym typeface="Calibri"/>
            </a:endParaRPr>
          </a:p>
        </p:txBody>
      </p:sp>
      <p:cxnSp>
        <p:nvCxnSpPr>
          <p:cNvPr id="146" name="Google Shape;146;p3"/>
          <p:cNvCxnSpPr/>
          <p:nvPr/>
        </p:nvCxnSpPr>
        <p:spPr>
          <a:xfrm>
            <a:off x="502920" y="3630168"/>
            <a:ext cx="11183112" cy="0"/>
          </a:xfrm>
          <a:prstGeom prst="straightConnector1">
            <a:avLst/>
          </a:prstGeom>
          <a:noFill/>
          <a:ln cap="flat" cmpd="sng" w="25400">
            <a:solidFill>
              <a:srgbClr val="192F7B"/>
            </a:solidFill>
            <a:prstDash val="dash"/>
            <a:round/>
            <a:headEnd len="sm" w="sm" type="none"/>
            <a:tailEnd len="sm" w="sm" type="none"/>
          </a:ln>
        </p:spPr>
      </p:cxnSp>
      <p:sp>
        <p:nvSpPr>
          <p:cNvPr id="147" name="Google Shape;147;p3"/>
          <p:cNvSpPr txBox="1"/>
          <p:nvPr/>
        </p:nvSpPr>
        <p:spPr>
          <a:xfrm>
            <a:off x="6816852" y="3529584"/>
            <a:ext cx="4846320" cy="201168"/>
          </a:xfrm>
          <a:prstGeom prst="rect">
            <a:avLst/>
          </a:prstGeom>
          <a:solidFill>
            <a:srgbClr val="F4F6F9"/>
          </a:solidFill>
          <a:ln cap="flat" cmpd="sng" w="9525">
            <a:solidFill>
              <a:srgbClr val="F4F6F9"/>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92F7B"/>
              </a:buClr>
              <a:buSzPts val="950"/>
              <a:buFont typeface="Calibri"/>
              <a:buNone/>
            </a:pPr>
            <a:r>
              <a:rPr b="1" i="0" lang="en-US" sz="950" u="none" cap="none" strike="noStrike">
                <a:solidFill>
                  <a:srgbClr val="192F7B"/>
                </a:solidFill>
                <a:latin typeface="Calibri"/>
                <a:ea typeface="Calibri"/>
                <a:cs typeface="Calibri"/>
                <a:sym typeface="Calibri"/>
              </a:rPr>
              <a:t>DECISION BOUNDARY:  AETHER INDICATES, ONLY A NAMED PERSON DECIDES</a:t>
            </a:r>
            <a:endParaRPr b="0" i="0" sz="950" u="none" cap="none" strike="noStrike">
              <a:solidFill>
                <a:schemeClr val="dk1"/>
              </a:solidFill>
              <a:latin typeface="Calibri"/>
              <a:ea typeface="Calibri"/>
              <a:cs typeface="Calibri"/>
              <a:sym typeface="Calibri"/>
            </a:endParaRPr>
          </a:p>
        </p:txBody>
      </p:sp>
      <p:cxnSp>
        <p:nvCxnSpPr>
          <p:cNvPr id="148" name="Google Shape;148;p3"/>
          <p:cNvCxnSpPr/>
          <p:nvPr/>
        </p:nvCxnSpPr>
        <p:spPr>
          <a:xfrm>
            <a:off x="11060240" y="4901184"/>
            <a:ext cx="0" cy="182880"/>
          </a:xfrm>
          <a:prstGeom prst="straightConnector1">
            <a:avLst/>
          </a:prstGeom>
          <a:noFill/>
          <a:ln cap="flat" cmpd="sng" w="15875">
            <a:solidFill>
              <a:srgbClr val="192F7B"/>
            </a:solidFill>
            <a:prstDash val="solid"/>
            <a:round/>
            <a:headEnd len="sm" w="sm" type="none"/>
            <a:tailEnd len="sm" w="sm" type="none"/>
          </a:ln>
        </p:spPr>
      </p:cxnSp>
      <p:cxnSp>
        <p:nvCxnSpPr>
          <p:cNvPr id="149" name="Google Shape;149;p3"/>
          <p:cNvCxnSpPr/>
          <p:nvPr/>
        </p:nvCxnSpPr>
        <p:spPr>
          <a:xfrm>
            <a:off x="2619185" y="5084064"/>
            <a:ext cx="8441055" cy="0"/>
          </a:xfrm>
          <a:prstGeom prst="straightConnector1">
            <a:avLst/>
          </a:prstGeom>
          <a:noFill/>
          <a:ln cap="flat" cmpd="sng" w="15875">
            <a:solidFill>
              <a:srgbClr val="192F7B"/>
            </a:solidFill>
            <a:prstDash val="solid"/>
            <a:round/>
            <a:headEnd len="sm" w="sm" type="none"/>
            <a:tailEnd len="sm" w="sm" type="none"/>
          </a:ln>
        </p:spPr>
      </p:cxnSp>
      <p:cxnSp>
        <p:nvCxnSpPr>
          <p:cNvPr id="150" name="Google Shape;150;p3"/>
          <p:cNvCxnSpPr/>
          <p:nvPr/>
        </p:nvCxnSpPr>
        <p:spPr>
          <a:xfrm rot="10800000">
            <a:off x="2619185" y="4919472"/>
            <a:ext cx="0" cy="164592"/>
          </a:xfrm>
          <a:prstGeom prst="straightConnector1">
            <a:avLst/>
          </a:prstGeom>
          <a:noFill/>
          <a:ln cap="flat" cmpd="sng" w="15875">
            <a:solidFill>
              <a:srgbClr val="192F7B"/>
            </a:solidFill>
            <a:prstDash val="solid"/>
            <a:round/>
            <a:headEnd len="sm" w="sm" type="none"/>
            <a:tailEnd len="med" w="med" type="triangle"/>
          </a:ln>
        </p:spPr>
      </p:cxnSp>
      <p:sp>
        <p:nvSpPr>
          <p:cNvPr id="151" name="Google Shape;151;p3"/>
          <p:cNvSpPr txBox="1"/>
          <p:nvPr/>
        </p:nvSpPr>
        <p:spPr>
          <a:xfrm>
            <a:off x="4450842" y="4974336"/>
            <a:ext cx="4206240" cy="219456"/>
          </a:xfrm>
          <a:prstGeom prst="rect">
            <a:avLst/>
          </a:prstGeom>
          <a:solidFill>
            <a:srgbClr val="F4F6F9"/>
          </a:solidFill>
          <a:ln cap="flat" cmpd="sng" w="9525">
            <a:solidFill>
              <a:srgbClr val="F4F6F9"/>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92F7B"/>
              </a:buClr>
              <a:buSzPts val="1050"/>
              <a:buFont typeface="Calibri"/>
              <a:buNone/>
            </a:pPr>
            <a:r>
              <a:rPr b="0" i="1" lang="en-US" sz="1050" u="none" cap="none" strike="noStrike">
                <a:solidFill>
                  <a:srgbClr val="192F7B"/>
                </a:solidFill>
                <a:latin typeface="Calibri"/>
                <a:ea typeface="Calibri"/>
                <a:cs typeface="Calibri"/>
                <a:sym typeface="Calibri"/>
              </a:rPr>
              <a:t>Verified learning feeds the next signal: the loop closes only on a verified result</a:t>
            </a:r>
            <a:endParaRPr b="0" i="0" sz="1050" u="none" cap="none" strike="noStrike">
              <a:solidFill>
                <a:schemeClr val="dk1"/>
              </a:solidFill>
              <a:latin typeface="Calibri"/>
              <a:ea typeface="Calibri"/>
              <a:cs typeface="Calibri"/>
              <a:sym typeface="Calibri"/>
            </a:endParaRPr>
          </a:p>
        </p:txBody>
      </p:sp>
      <p:cxnSp>
        <p:nvCxnSpPr>
          <p:cNvPr id="152" name="Google Shape;152;p3"/>
          <p:cNvCxnSpPr/>
          <p:nvPr/>
        </p:nvCxnSpPr>
        <p:spPr>
          <a:xfrm>
            <a:off x="502920" y="5321808"/>
            <a:ext cx="3636264" cy="0"/>
          </a:xfrm>
          <a:prstGeom prst="straightConnector1">
            <a:avLst/>
          </a:prstGeom>
          <a:noFill/>
          <a:ln cap="flat" cmpd="sng" w="19050">
            <a:solidFill>
              <a:srgbClr val="192F7B"/>
            </a:solidFill>
            <a:prstDash val="solid"/>
            <a:round/>
            <a:headEnd len="sm" w="sm" type="none"/>
            <a:tailEnd len="sm" w="sm" type="none"/>
          </a:ln>
        </p:spPr>
      </p:cxnSp>
      <p:sp>
        <p:nvSpPr>
          <p:cNvPr id="153" name="Google Shape;153;p3"/>
          <p:cNvSpPr txBox="1"/>
          <p:nvPr/>
        </p:nvSpPr>
        <p:spPr>
          <a:xfrm>
            <a:off x="502920" y="5376672"/>
            <a:ext cx="3636264"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92F7B"/>
              </a:buClr>
              <a:buSzPts val="1000"/>
              <a:buFont typeface="Calibri"/>
              <a:buNone/>
            </a:pPr>
            <a:r>
              <a:rPr b="1" i="0" lang="en-US" sz="1000" u="none" cap="none" strike="noStrike">
                <a:solidFill>
                  <a:srgbClr val="192F7B"/>
                </a:solidFill>
                <a:latin typeface="Calibri"/>
                <a:ea typeface="Calibri"/>
                <a:cs typeface="Calibri"/>
                <a:sym typeface="Calibri"/>
              </a:rPr>
              <a:t>Q1  RATIONALIZE AND INTEGRATE</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573"/>
              </a:buClr>
              <a:buSzPts val="1050"/>
              <a:buFont typeface="Calibri"/>
              <a:buNone/>
            </a:pPr>
            <a:r>
              <a:rPr b="0" i="0" lang="en-US" sz="1050" u="none" cap="none" strike="noStrike">
                <a:solidFill>
                  <a:srgbClr val="5B6573"/>
                </a:solidFill>
                <a:latin typeface="Calibri"/>
                <a:ea typeface="Calibri"/>
                <a:cs typeface="Calibri"/>
                <a:sym typeface="Calibri"/>
              </a:rPr>
              <a:t>Data source mapping into one governed foundation (stages 01, 02)</a:t>
            </a:r>
            <a:endParaRPr b="0" i="0" sz="1000" u="none" cap="none" strike="noStrike">
              <a:solidFill>
                <a:schemeClr val="dk1"/>
              </a:solidFill>
              <a:latin typeface="Calibri"/>
              <a:ea typeface="Calibri"/>
              <a:cs typeface="Calibri"/>
              <a:sym typeface="Calibri"/>
            </a:endParaRPr>
          </a:p>
        </p:txBody>
      </p:sp>
      <p:cxnSp>
        <p:nvCxnSpPr>
          <p:cNvPr id="154" name="Google Shape;154;p3"/>
          <p:cNvCxnSpPr/>
          <p:nvPr/>
        </p:nvCxnSpPr>
        <p:spPr>
          <a:xfrm>
            <a:off x="4276344" y="5321808"/>
            <a:ext cx="3636264" cy="0"/>
          </a:xfrm>
          <a:prstGeom prst="straightConnector1">
            <a:avLst/>
          </a:prstGeom>
          <a:noFill/>
          <a:ln cap="flat" cmpd="sng" w="19050">
            <a:solidFill>
              <a:srgbClr val="192F7B"/>
            </a:solidFill>
            <a:prstDash val="solid"/>
            <a:round/>
            <a:headEnd len="sm" w="sm" type="none"/>
            <a:tailEnd len="sm" w="sm" type="none"/>
          </a:ln>
        </p:spPr>
      </p:cxnSp>
      <p:sp>
        <p:nvSpPr>
          <p:cNvPr id="155" name="Google Shape;155;p3"/>
          <p:cNvSpPr txBox="1"/>
          <p:nvPr/>
        </p:nvSpPr>
        <p:spPr>
          <a:xfrm>
            <a:off x="4276344" y="5376672"/>
            <a:ext cx="3636264"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92F7B"/>
              </a:buClr>
              <a:buSzPts val="1000"/>
              <a:buFont typeface="Calibri"/>
              <a:buNone/>
            </a:pPr>
            <a:r>
              <a:rPr b="1" i="0" lang="en-US" sz="1000" u="none" cap="none" strike="noStrike">
                <a:solidFill>
                  <a:srgbClr val="192F7B"/>
                </a:solidFill>
                <a:latin typeface="Calibri"/>
                <a:ea typeface="Calibri"/>
                <a:cs typeface="Calibri"/>
                <a:sym typeface="Calibri"/>
              </a:rPr>
              <a:t>Q2  SINGLE PANE OF GLASS</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573"/>
              </a:buClr>
              <a:buSzPts val="1050"/>
              <a:buFont typeface="Calibri"/>
              <a:buNone/>
            </a:pPr>
            <a:r>
              <a:rPr b="0" i="0" lang="en-US" sz="1050" u="none" cap="none" strike="noStrike">
                <a:solidFill>
                  <a:srgbClr val="5B6573"/>
                </a:solidFill>
                <a:latin typeface="Calibri"/>
                <a:ea typeface="Calibri"/>
                <a:cs typeface="Calibri"/>
                <a:sym typeface="Calibri"/>
              </a:rPr>
              <a:t>Executive view, similar-incident retrieval, root-cause indication; energy forecasting as future integration (02 to 04)</a:t>
            </a:r>
            <a:endParaRPr b="0" i="0" sz="1000" u="none" cap="none" strike="noStrike">
              <a:solidFill>
                <a:schemeClr val="dk1"/>
              </a:solidFill>
              <a:latin typeface="Calibri"/>
              <a:ea typeface="Calibri"/>
              <a:cs typeface="Calibri"/>
              <a:sym typeface="Calibri"/>
            </a:endParaRPr>
          </a:p>
        </p:txBody>
      </p:sp>
      <p:cxnSp>
        <p:nvCxnSpPr>
          <p:cNvPr id="156" name="Google Shape;156;p3"/>
          <p:cNvCxnSpPr/>
          <p:nvPr/>
        </p:nvCxnSpPr>
        <p:spPr>
          <a:xfrm>
            <a:off x="8049768" y="5321808"/>
            <a:ext cx="3636264" cy="0"/>
          </a:xfrm>
          <a:prstGeom prst="straightConnector1">
            <a:avLst/>
          </a:prstGeom>
          <a:noFill/>
          <a:ln cap="flat" cmpd="sng" w="19050">
            <a:solidFill>
              <a:srgbClr val="192F7B"/>
            </a:solidFill>
            <a:prstDash val="solid"/>
            <a:round/>
            <a:headEnd len="sm" w="sm" type="none"/>
            <a:tailEnd len="sm" w="sm" type="none"/>
          </a:ln>
        </p:spPr>
      </p:cxnSp>
      <p:sp>
        <p:nvSpPr>
          <p:cNvPr id="157" name="Google Shape;157;p3"/>
          <p:cNvSpPr txBox="1"/>
          <p:nvPr/>
        </p:nvSpPr>
        <p:spPr>
          <a:xfrm>
            <a:off x="8049768" y="5376672"/>
            <a:ext cx="3636264"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92F7B"/>
              </a:buClr>
              <a:buSzPts val="1000"/>
              <a:buFont typeface="Calibri"/>
              <a:buNone/>
            </a:pPr>
            <a:r>
              <a:rPr b="1" i="0" lang="en-US" sz="1000" u="none" cap="none" strike="noStrike">
                <a:solidFill>
                  <a:srgbClr val="192F7B"/>
                </a:solidFill>
                <a:latin typeface="Calibri"/>
                <a:ea typeface="Calibri"/>
                <a:cs typeface="Calibri"/>
                <a:sym typeface="Calibri"/>
              </a:rPr>
              <a:t>Q3  AI TO PRIORITIZED ACTION</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573"/>
              </a:buClr>
              <a:buSzPts val="1050"/>
              <a:buFont typeface="Calibri"/>
              <a:buNone/>
            </a:pPr>
            <a:r>
              <a:rPr b="0" i="0" lang="en-US" sz="1050" u="none" cap="none" strike="noStrike">
                <a:solidFill>
                  <a:srgbClr val="5B6573"/>
                </a:solidFill>
                <a:latin typeface="Calibri"/>
                <a:ea typeface="Calibri"/>
                <a:cs typeface="Calibri"/>
                <a:sym typeface="Calibri"/>
              </a:rPr>
              <a:t>Problem Tank, alert prioritization, action guidance, action tracking (03 to 08)</a:t>
            </a:r>
            <a:endParaRPr b="0" i="0" sz="1000" u="none" cap="none" strike="noStrike">
              <a:solidFill>
                <a:schemeClr val="dk1"/>
              </a:solidFill>
              <a:latin typeface="Calibri"/>
              <a:ea typeface="Calibri"/>
              <a:cs typeface="Calibri"/>
              <a:sym typeface="Calibri"/>
            </a:endParaRPr>
          </a:p>
        </p:txBody>
      </p:sp>
      <p:sp>
        <p:nvSpPr>
          <p:cNvPr id="158" name="Google Shape;158;p3"/>
          <p:cNvSpPr txBox="1"/>
          <p:nvPr/>
        </p:nvSpPr>
        <p:spPr>
          <a:xfrm>
            <a:off x="502920" y="5961888"/>
            <a:ext cx="11183112"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850"/>
              <a:buFont typeface="Calibri"/>
              <a:buNone/>
            </a:pPr>
            <a:r>
              <a:rPr b="0" i="0" lang="en-US" sz="850" u="none" cap="none" strike="noStrike">
                <a:solidFill>
                  <a:srgbClr val="5B6573"/>
                </a:solidFill>
                <a:latin typeface="Calibri"/>
                <a:ea typeface="Calibri"/>
                <a:cs typeface="Calibri"/>
                <a:sym typeface="Calibri"/>
              </a:rPr>
              <a:t>AETHER design [PROPOSED], mapped to CALIBER 2026 Case 2 Key Questions 1 to 3. Human sign-offs follow AETHER Gate 4 (HV1 to HV9; Appendix A4). The supplied case data contains no energy or emissions dataset. Prototype screens: Appendix A6.</a:t>
            </a:r>
            <a:endParaRPr b="0" i="0" sz="850" u="none" cap="none" strike="noStrike">
              <a:solidFill>
                <a:schemeClr val="dk1"/>
              </a:solidFill>
              <a:latin typeface="Calibri"/>
              <a:ea typeface="Calibri"/>
              <a:cs typeface="Calibri"/>
              <a:sym typeface="Calibri"/>
            </a:endParaRPr>
          </a:p>
        </p:txBody>
      </p:sp>
      <p:sp>
        <p:nvSpPr>
          <p:cNvPr id="159" name="Google Shape;159;p3"/>
          <p:cNvSpPr txBox="1"/>
          <p:nvPr>
            <p:ph idx="4294967295" type="sldNum"/>
          </p:nvPr>
        </p:nvSpPr>
        <p:spPr>
          <a:xfrm>
            <a:off x="11228832" y="6473952"/>
            <a:ext cx="4572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5B6573"/>
                </a:solidFill>
                <a:latin typeface="Calibri"/>
                <a:ea typeface="Calibri"/>
                <a:cs typeface="Calibri"/>
                <a:sym typeface="Calibri"/>
              </a:rPr>
              <a:t>‹#›</a:t>
            </a:fld>
            <a:endParaRPr b="0" i="0" sz="900" u="none" cap="none" strike="noStrike">
              <a:solidFill>
                <a:srgbClr val="5B6573"/>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4"/>
          <p:cNvSpPr txBox="1"/>
          <p:nvPr/>
        </p:nvSpPr>
        <p:spPr>
          <a:xfrm>
            <a:off x="502920" y="146304"/>
            <a:ext cx="914400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9D3EA"/>
              </a:buClr>
              <a:buSzPts val="1000"/>
              <a:buFont typeface="Calibri"/>
              <a:buNone/>
            </a:pPr>
            <a:r>
              <a:rPr b="1" i="0" lang="en-US" sz="1000" u="none" cap="none" strike="noStrike">
                <a:solidFill>
                  <a:srgbClr val="C9D3EA"/>
                </a:solidFill>
                <a:latin typeface="Calibri"/>
                <a:ea typeface="Calibri"/>
                <a:cs typeface="Calibri"/>
                <a:sym typeface="Calibri"/>
              </a:rPr>
              <a:t>03  BUSINESS IMPACT  |  VALUE ATTRIBUTION</a:t>
            </a:r>
            <a:endParaRPr b="0" i="0" sz="1000" u="none" cap="none" strike="noStrike">
              <a:solidFill>
                <a:schemeClr val="dk1"/>
              </a:solidFill>
              <a:latin typeface="Calibri"/>
              <a:ea typeface="Calibri"/>
              <a:cs typeface="Calibri"/>
              <a:sym typeface="Calibri"/>
            </a:endParaRPr>
          </a:p>
        </p:txBody>
      </p:sp>
      <p:cxnSp>
        <p:nvCxnSpPr>
          <p:cNvPr id="166" name="Google Shape;166;p4"/>
          <p:cNvCxnSpPr/>
          <p:nvPr/>
        </p:nvCxnSpPr>
        <p:spPr>
          <a:xfrm>
            <a:off x="502920" y="1554480"/>
            <a:ext cx="11183112" cy="0"/>
          </a:xfrm>
          <a:prstGeom prst="straightConnector1">
            <a:avLst/>
          </a:prstGeom>
          <a:noFill/>
          <a:ln cap="flat" cmpd="sng" w="9525">
            <a:solidFill>
              <a:srgbClr val="D3DAE4"/>
            </a:solidFill>
            <a:prstDash val="solid"/>
            <a:round/>
            <a:headEnd len="sm" w="sm" type="none"/>
            <a:tailEnd len="sm" w="sm" type="none"/>
          </a:ln>
        </p:spPr>
      </p:cxnSp>
      <p:sp>
        <p:nvSpPr>
          <p:cNvPr id="167" name="Google Shape;167;p4"/>
          <p:cNvSpPr txBox="1"/>
          <p:nvPr/>
        </p:nvSpPr>
        <p:spPr>
          <a:xfrm>
            <a:off x="502920" y="1298448"/>
            <a:ext cx="1508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4B2"/>
              </a:buClr>
              <a:buSzPts val="950"/>
              <a:buFont typeface="Calibri"/>
              <a:buNone/>
            </a:pPr>
            <a:r>
              <a:rPr b="0" i="0" lang="en-US" sz="950" u="none" cap="none" strike="noStrike">
                <a:solidFill>
                  <a:srgbClr val="9AA4B2"/>
                </a:solidFill>
                <a:latin typeface="Calibri"/>
                <a:ea typeface="Calibri"/>
                <a:cs typeface="Calibri"/>
                <a:sym typeface="Calibri"/>
              </a:rPr>
              <a:t>01  </a:t>
            </a:r>
            <a:r>
              <a:rPr b="0" i="0" lang="en-US" sz="950" u="none" cap="none" strike="noStrike">
                <a:solidFill>
                  <a:srgbClr val="8A94A3"/>
                </a:solidFill>
                <a:latin typeface="Calibri"/>
                <a:ea typeface="Calibri"/>
                <a:cs typeface="Calibri"/>
                <a:sym typeface="Calibri"/>
              </a:rPr>
              <a:t>PROBLEM</a:t>
            </a:r>
            <a:endParaRPr b="0" i="0" sz="950" u="none" cap="none" strike="noStrike">
              <a:solidFill>
                <a:schemeClr val="dk1"/>
              </a:solidFill>
              <a:latin typeface="Calibri"/>
              <a:ea typeface="Calibri"/>
              <a:cs typeface="Calibri"/>
              <a:sym typeface="Calibri"/>
            </a:endParaRPr>
          </a:p>
        </p:txBody>
      </p:sp>
      <p:sp>
        <p:nvSpPr>
          <p:cNvPr id="168" name="Google Shape;168;p4"/>
          <p:cNvSpPr txBox="1"/>
          <p:nvPr/>
        </p:nvSpPr>
        <p:spPr>
          <a:xfrm>
            <a:off x="2103120" y="1298448"/>
            <a:ext cx="1508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4B2"/>
              </a:buClr>
              <a:buSzPts val="950"/>
              <a:buFont typeface="Calibri"/>
              <a:buNone/>
            </a:pPr>
            <a:r>
              <a:rPr b="0" i="0" lang="en-US" sz="950" u="none" cap="none" strike="noStrike">
                <a:solidFill>
                  <a:srgbClr val="9AA4B2"/>
                </a:solidFill>
                <a:latin typeface="Calibri"/>
                <a:ea typeface="Calibri"/>
                <a:cs typeface="Calibri"/>
                <a:sym typeface="Calibri"/>
              </a:rPr>
              <a:t>02  </a:t>
            </a:r>
            <a:r>
              <a:rPr b="0" i="0" lang="en-US" sz="950" u="none" cap="none" strike="noStrike">
                <a:solidFill>
                  <a:srgbClr val="8A94A3"/>
                </a:solidFill>
                <a:latin typeface="Calibri"/>
                <a:ea typeface="Calibri"/>
                <a:cs typeface="Calibri"/>
                <a:sym typeface="Calibri"/>
              </a:rPr>
              <a:t>SOLUTION</a:t>
            </a:r>
            <a:endParaRPr b="0" i="0" sz="950" u="none" cap="none" strike="noStrike">
              <a:solidFill>
                <a:schemeClr val="dk1"/>
              </a:solidFill>
              <a:latin typeface="Calibri"/>
              <a:ea typeface="Calibri"/>
              <a:cs typeface="Calibri"/>
              <a:sym typeface="Calibri"/>
            </a:endParaRPr>
          </a:p>
        </p:txBody>
      </p:sp>
      <p:sp>
        <p:nvSpPr>
          <p:cNvPr id="169" name="Google Shape;169;p4"/>
          <p:cNvSpPr txBox="1"/>
          <p:nvPr/>
        </p:nvSpPr>
        <p:spPr>
          <a:xfrm>
            <a:off x="3703320" y="1298448"/>
            <a:ext cx="1508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92F7B"/>
              </a:buClr>
              <a:buSzPts val="950"/>
              <a:buFont typeface="Calibri"/>
              <a:buNone/>
            </a:pPr>
            <a:r>
              <a:rPr b="1" i="0" lang="en-US" sz="950" u="none" cap="none" strike="noStrike">
                <a:solidFill>
                  <a:srgbClr val="192F7B"/>
                </a:solidFill>
                <a:latin typeface="Calibri"/>
                <a:ea typeface="Calibri"/>
                <a:cs typeface="Calibri"/>
                <a:sym typeface="Calibri"/>
              </a:rPr>
              <a:t>03  IMPACT</a:t>
            </a:r>
            <a:endParaRPr b="0" i="0" sz="950" u="none" cap="none" strike="noStrike">
              <a:solidFill>
                <a:schemeClr val="dk1"/>
              </a:solidFill>
              <a:latin typeface="Calibri"/>
              <a:ea typeface="Calibri"/>
              <a:cs typeface="Calibri"/>
              <a:sym typeface="Calibri"/>
            </a:endParaRPr>
          </a:p>
        </p:txBody>
      </p:sp>
      <p:cxnSp>
        <p:nvCxnSpPr>
          <p:cNvPr id="170" name="Google Shape;170;p4"/>
          <p:cNvCxnSpPr/>
          <p:nvPr/>
        </p:nvCxnSpPr>
        <p:spPr>
          <a:xfrm>
            <a:off x="3703320" y="1554480"/>
            <a:ext cx="1325880" cy="0"/>
          </a:xfrm>
          <a:prstGeom prst="straightConnector1">
            <a:avLst/>
          </a:prstGeom>
          <a:noFill/>
          <a:ln cap="flat" cmpd="sng" w="28575">
            <a:solidFill>
              <a:srgbClr val="192F7B"/>
            </a:solidFill>
            <a:prstDash val="solid"/>
            <a:round/>
            <a:headEnd len="sm" w="sm" type="none"/>
            <a:tailEnd len="sm" w="sm" type="none"/>
          </a:ln>
        </p:spPr>
      </p:cxnSp>
      <p:sp>
        <p:nvSpPr>
          <p:cNvPr id="171" name="Google Shape;171;p4"/>
          <p:cNvSpPr txBox="1"/>
          <p:nvPr/>
        </p:nvSpPr>
        <p:spPr>
          <a:xfrm>
            <a:off x="5303520" y="1298448"/>
            <a:ext cx="1508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4B2"/>
              </a:buClr>
              <a:buSzPts val="950"/>
              <a:buFont typeface="Calibri"/>
              <a:buNone/>
            </a:pPr>
            <a:r>
              <a:rPr b="0" i="0" lang="en-US" sz="950" u="none" cap="none" strike="noStrike">
                <a:solidFill>
                  <a:srgbClr val="9AA4B2"/>
                </a:solidFill>
                <a:latin typeface="Calibri"/>
                <a:ea typeface="Calibri"/>
                <a:cs typeface="Calibri"/>
                <a:sym typeface="Calibri"/>
              </a:rPr>
              <a:t>04  </a:t>
            </a:r>
            <a:r>
              <a:rPr b="0" i="0" lang="en-US" sz="950" u="none" cap="none" strike="noStrike">
                <a:solidFill>
                  <a:srgbClr val="8A94A3"/>
                </a:solidFill>
                <a:latin typeface="Calibri"/>
                <a:ea typeface="Calibri"/>
                <a:cs typeface="Calibri"/>
                <a:sym typeface="Calibri"/>
              </a:rPr>
              <a:t>FEASIBILITY</a:t>
            </a:r>
            <a:endParaRPr b="0" i="0" sz="950" u="none" cap="none" strike="noStrike">
              <a:solidFill>
                <a:schemeClr val="dk1"/>
              </a:solidFill>
              <a:latin typeface="Calibri"/>
              <a:ea typeface="Calibri"/>
              <a:cs typeface="Calibri"/>
              <a:sym typeface="Calibri"/>
            </a:endParaRPr>
          </a:p>
        </p:txBody>
      </p:sp>
      <p:sp>
        <p:nvSpPr>
          <p:cNvPr id="172" name="Google Shape;172;p4"/>
          <p:cNvSpPr txBox="1"/>
          <p:nvPr/>
        </p:nvSpPr>
        <p:spPr>
          <a:xfrm>
            <a:off x="6903720" y="1298448"/>
            <a:ext cx="1508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4B2"/>
              </a:buClr>
              <a:buSzPts val="950"/>
              <a:buFont typeface="Calibri"/>
              <a:buNone/>
            </a:pPr>
            <a:r>
              <a:rPr b="0" i="0" lang="en-US" sz="950" u="none" cap="none" strike="noStrike">
                <a:solidFill>
                  <a:srgbClr val="9AA4B2"/>
                </a:solidFill>
                <a:latin typeface="Calibri"/>
                <a:ea typeface="Calibri"/>
                <a:cs typeface="Calibri"/>
                <a:sym typeface="Calibri"/>
              </a:rPr>
              <a:t>05  </a:t>
            </a:r>
            <a:r>
              <a:rPr b="0" i="0" lang="en-US" sz="950" u="none" cap="none" strike="noStrike">
                <a:solidFill>
                  <a:srgbClr val="8A94A3"/>
                </a:solidFill>
                <a:latin typeface="Calibri"/>
                <a:ea typeface="Calibri"/>
                <a:cs typeface="Calibri"/>
                <a:sym typeface="Calibri"/>
              </a:rPr>
              <a:t>CONCLUSION</a:t>
            </a:r>
            <a:endParaRPr b="0" i="0" sz="950" u="none" cap="none" strike="noStrike">
              <a:solidFill>
                <a:schemeClr val="dk1"/>
              </a:solidFill>
              <a:latin typeface="Calibri"/>
              <a:ea typeface="Calibri"/>
              <a:cs typeface="Calibri"/>
              <a:sym typeface="Calibri"/>
            </a:endParaRPr>
          </a:p>
        </p:txBody>
      </p:sp>
      <p:sp>
        <p:nvSpPr>
          <p:cNvPr id="173" name="Google Shape;173;p4"/>
          <p:cNvSpPr txBox="1"/>
          <p:nvPr>
            <p:ph type="title"/>
          </p:nvPr>
        </p:nvSpPr>
        <p:spPr>
          <a:xfrm>
            <a:off x="502920" y="384048"/>
            <a:ext cx="11183112" cy="749808"/>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FFFFFF"/>
              </a:buClr>
              <a:buSzPts val="2400"/>
              <a:buFont typeface="Calibri"/>
              <a:buNone/>
            </a:pPr>
            <a:r>
              <a:rPr b="1" lang="en-US" sz="2400">
                <a:solidFill>
                  <a:srgbClr val="FFFFFF"/>
                </a:solidFill>
              </a:rPr>
              <a:t>Downtime Is Where the Money Is. AETHER Proves Value Case by Case, Not by Assumption</a:t>
            </a:r>
            <a:endParaRPr sz="2400"/>
          </a:p>
        </p:txBody>
      </p:sp>
      <p:sp>
        <p:nvSpPr>
          <p:cNvPr id="174" name="Google Shape;174;p4"/>
          <p:cNvSpPr txBox="1"/>
          <p:nvPr/>
        </p:nvSpPr>
        <p:spPr>
          <a:xfrm>
            <a:off x="502920" y="1755648"/>
            <a:ext cx="3886200" cy="329184"/>
          </a:xfrm>
          <a:prstGeom prst="rect">
            <a:avLst/>
          </a:prstGeom>
          <a:solidFill>
            <a:srgbClr val="192F7B"/>
          </a:solidFill>
          <a:ln cap="flat" cmpd="sng" w="9525">
            <a:solidFill>
              <a:srgbClr val="192F7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Historical exposure in the case data</a:t>
            </a:r>
            <a:endParaRPr b="0" i="0" sz="1200" u="none" cap="none" strike="noStrike">
              <a:solidFill>
                <a:schemeClr val="dk1"/>
              </a:solidFill>
              <a:latin typeface="Calibri"/>
              <a:ea typeface="Calibri"/>
              <a:cs typeface="Calibri"/>
              <a:sym typeface="Calibri"/>
            </a:endParaRPr>
          </a:p>
        </p:txBody>
      </p:sp>
      <p:sp>
        <p:nvSpPr>
          <p:cNvPr id="175" name="Google Shape;175;p4"/>
          <p:cNvSpPr/>
          <p:nvPr/>
        </p:nvSpPr>
        <p:spPr>
          <a:xfrm>
            <a:off x="502920" y="2084832"/>
            <a:ext cx="3886200" cy="3611880"/>
          </a:xfrm>
          <a:prstGeom prst="rect">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4"/>
          <p:cNvSpPr txBox="1"/>
          <p:nvPr/>
        </p:nvSpPr>
        <p:spPr>
          <a:xfrm>
            <a:off x="731520" y="2240280"/>
            <a:ext cx="320040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1000"/>
              <a:buFont typeface="Calibri"/>
              <a:buNone/>
            </a:pPr>
            <a:r>
              <a:rPr b="1" i="0" lang="en-US" sz="1000" u="none" cap="none" strike="noStrike">
                <a:solidFill>
                  <a:srgbClr val="5B6573"/>
                </a:solidFill>
                <a:latin typeface="Calibri"/>
                <a:ea typeface="Calibri"/>
                <a:cs typeface="Calibri"/>
                <a:sym typeface="Calibri"/>
              </a:rPr>
              <a:t>ACTUAL LOSS, 933 DAYS</a:t>
            </a:r>
            <a:endParaRPr b="0" i="0" sz="1000" u="none" cap="none" strike="noStrike">
              <a:solidFill>
                <a:schemeClr val="dk1"/>
              </a:solidFill>
              <a:latin typeface="Calibri"/>
              <a:ea typeface="Calibri"/>
              <a:cs typeface="Calibri"/>
              <a:sym typeface="Calibri"/>
            </a:endParaRPr>
          </a:p>
        </p:txBody>
      </p:sp>
      <p:sp>
        <p:nvSpPr>
          <p:cNvPr id="177" name="Google Shape;177;p4"/>
          <p:cNvSpPr txBox="1"/>
          <p:nvPr/>
        </p:nvSpPr>
        <p:spPr>
          <a:xfrm>
            <a:off x="685800" y="2468880"/>
            <a:ext cx="36118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92F7B"/>
              </a:buClr>
              <a:buSzPts val="5200"/>
              <a:buFont typeface="Calibri"/>
              <a:buNone/>
            </a:pPr>
            <a:r>
              <a:rPr b="1" i="0" lang="en-US" sz="5200" u="none" cap="none" strike="noStrike">
                <a:solidFill>
                  <a:srgbClr val="192F7B"/>
                </a:solidFill>
                <a:latin typeface="Calibri"/>
                <a:ea typeface="Calibri"/>
                <a:cs typeface="Calibri"/>
                <a:sym typeface="Calibri"/>
              </a:rPr>
              <a:t>US$61.9M</a:t>
            </a:r>
            <a:endParaRPr b="0" i="0" sz="5200" u="none" cap="none" strike="noStrike">
              <a:solidFill>
                <a:schemeClr val="dk1"/>
              </a:solidFill>
              <a:latin typeface="Calibri"/>
              <a:ea typeface="Calibri"/>
              <a:cs typeface="Calibri"/>
              <a:sym typeface="Calibri"/>
            </a:endParaRPr>
          </a:p>
        </p:txBody>
      </p:sp>
      <p:sp>
        <p:nvSpPr>
          <p:cNvPr id="178" name="Google Shape;178;p4"/>
          <p:cNvSpPr txBox="1"/>
          <p:nvPr/>
        </p:nvSpPr>
        <p:spPr>
          <a:xfrm>
            <a:off x="731520" y="3310128"/>
            <a:ext cx="35204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850"/>
              <a:buFont typeface="Calibri"/>
              <a:buNone/>
            </a:pPr>
            <a:r>
              <a:rPr b="1" i="0" lang="en-US" sz="850" u="none" cap="none" strike="noStrike">
                <a:solidFill>
                  <a:srgbClr val="5B6573"/>
                </a:solidFill>
                <a:latin typeface="Calibri"/>
                <a:ea typeface="Calibri"/>
                <a:cs typeface="Calibri"/>
                <a:sym typeface="Calibri"/>
              </a:rPr>
              <a:t>[DERIVED]</a:t>
            </a:r>
            <a:r>
              <a:rPr b="0" i="1" lang="en-US" sz="1100" u="none" cap="none" strike="noStrike">
                <a:solidFill>
                  <a:srgbClr val="5B6573"/>
                </a:solidFill>
                <a:latin typeface="Calibri"/>
                <a:ea typeface="Calibri"/>
                <a:cs typeface="Calibri"/>
                <a:sym typeface="Calibri"/>
              </a:rPr>
              <a:t>  historical exposure, not a savings opportunity</a:t>
            </a:r>
            <a:endParaRPr b="0" i="0" sz="850" u="none" cap="none" strike="noStrike">
              <a:solidFill>
                <a:schemeClr val="dk1"/>
              </a:solidFill>
              <a:latin typeface="Calibri"/>
              <a:ea typeface="Calibri"/>
              <a:cs typeface="Calibri"/>
              <a:sym typeface="Calibri"/>
            </a:endParaRPr>
          </a:p>
        </p:txBody>
      </p:sp>
      <p:sp>
        <p:nvSpPr>
          <p:cNvPr id="179" name="Google Shape;179;p4"/>
          <p:cNvSpPr txBox="1"/>
          <p:nvPr/>
        </p:nvSpPr>
        <p:spPr>
          <a:xfrm>
            <a:off x="731520" y="3730752"/>
            <a:ext cx="1325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430"/>
              </a:buClr>
              <a:buSzPts val="1100"/>
              <a:buFont typeface="Calibri"/>
              <a:buNone/>
            </a:pPr>
            <a:r>
              <a:rPr b="0" i="0" lang="en-US" sz="1100" u="none" cap="none" strike="noStrike">
                <a:solidFill>
                  <a:srgbClr val="1E2430"/>
                </a:solidFill>
                <a:latin typeface="Calibri"/>
                <a:ea typeface="Calibri"/>
                <a:cs typeface="Calibri"/>
                <a:sym typeface="Calibri"/>
              </a:rPr>
              <a:t>Total recorded loss</a:t>
            </a:r>
            <a:endParaRPr b="0" i="0" sz="1100" u="none" cap="none" strike="noStrike">
              <a:solidFill>
                <a:schemeClr val="dk1"/>
              </a:solidFill>
              <a:latin typeface="Calibri"/>
              <a:ea typeface="Calibri"/>
              <a:cs typeface="Calibri"/>
              <a:sym typeface="Calibri"/>
            </a:endParaRPr>
          </a:p>
        </p:txBody>
      </p:sp>
      <p:sp>
        <p:nvSpPr>
          <p:cNvPr id="180" name="Google Shape;180;p4"/>
          <p:cNvSpPr/>
          <p:nvPr/>
        </p:nvSpPr>
        <p:spPr>
          <a:xfrm>
            <a:off x="2103120" y="3767328"/>
            <a:ext cx="1325880" cy="201168"/>
          </a:xfrm>
          <a:prstGeom prst="rect">
            <a:avLst/>
          </a:prstGeom>
          <a:solidFill>
            <a:srgbClr val="B7C0CE"/>
          </a:solidFill>
          <a:ln cap="flat" cmpd="sng" w="12700">
            <a:solidFill>
              <a:srgbClr val="B7C0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4"/>
          <p:cNvSpPr txBox="1"/>
          <p:nvPr/>
        </p:nvSpPr>
        <p:spPr>
          <a:xfrm>
            <a:off x="3502152" y="3730752"/>
            <a:ext cx="868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430"/>
              </a:buClr>
              <a:buSzPts val="1050"/>
              <a:buFont typeface="Calibri"/>
              <a:buNone/>
            </a:pPr>
            <a:r>
              <a:rPr b="1" i="0" lang="en-US" sz="1050" u="none" cap="none" strike="noStrike">
                <a:solidFill>
                  <a:srgbClr val="1E2430"/>
                </a:solidFill>
                <a:latin typeface="Calibri"/>
                <a:ea typeface="Calibri"/>
                <a:cs typeface="Calibri"/>
                <a:sym typeface="Calibri"/>
              </a:rPr>
              <a:t>US$67.19M</a:t>
            </a:r>
            <a:endParaRPr b="0" i="0" sz="1050" u="none" cap="none" strike="noStrike">
              <a:solidFill>
                <a:schemeClr val="dk1"/>
              </a:solidFill>
              <a:latin typeface="Calibri"/>
              <a:ea typeface="Calibri"/>
              <a:cs typeface="Calibri"/>
              <a:sym typeface="Calibri"/>
            </a:endParaRPr>
          </a:p>
        </p:txBody>
      </p:sp>
      <p:sp>
        <p:nvSpPr>
          <p:cNvPr id="182" name="Google Shape;182;p4"/>
          <p:cNvSpPr txBox="1"/>
          <p:nvPr/>
        </p:nvSpPr>
        <p:spPr>
          <a:xfrm>
            <a:off x="731520" y="4096512"/>
            <a:ext cx="1325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430"/>
              </a:buClr>
              <a:buSzPts val="1100"/>
              <a:buFont typeface="Calibri"/>
              <a:buNone/>
            </a:pPr>
            <a:r>
              <a:rPr b="0" i="0" lang="en-US" sz="1100" u="none" cap="none" strike="noStrike">
                <a:solidFill>
                  <a:srgbClr val="1E2430"/>
                </a:solidFill>
                <a:latin typeface="Calibri"/>
                <a:ea typeface="Calibri"/>
                <a:cs typeface="Calibri"/>
                <a:sym typeface="Calibri"/>
              </a:rPr>
              <a:t>Realized loss</a:t>
            </a:r>
            <a:endParaRPr b="0" i="0" sz="1100" u="none" cap="none" strike="noStrike">
              <a:solidFill>
                <a:schemeClr val="dk1"/>
              </a:solidFill>
              <a:latin typeface="Calibri"/>
              <a:ea typeface="Calibri"/>
              <a:cs typeface="Calibri"/>
              <a:sym typeface="Calibri"/>
            </a:endParaRPr>
          </a:p>
        </p:txBody>
      </p:sp>
      <p:sp>
        <p:nvSpPr>
          <p:cNvPr id="183" name="Google Shape;183;p4"/>
          <p:cNvSpPr/>
          <p:nvPr/>
        </p:nvSpPr>
        <p:spPr>
          <a:xfrm>
            <a:off x="2103120" y="4133088"/>
            <a:ext cx="1221294" cy="201168"/>
          </a:xfrm>
          <a:prstGeom prst="rect">
            <a:avLst/>
          </a:prstGeom>
          <a:solidFill>
            <a:srgbClr val="7C8FB8"/>
          </a:solidFill>
          <a:ln cap="flat" cmpd="sng" w="12700">
            <a:solidFill>
              <a:srgbClr val="7C8FB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4"/>
          <p:cNvSpPr txBox="1"/>
          <p:nvPr/>
        </p:nvSpPr>
        <p:spPr>
          <a:xfrm>
            <a:off x="3397566" y="4096512"/>
            <a:ext cx="868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430"/>
              </a:buClr>
              <a:buSzPts val="1050"/>
              <a:buFont typeface="Calibri"/>
              <a:buNone/>
            </a:pPr>
            <a:r>
              <a:rPr b="1" i="0" lang="en-US" sz="1050" u="none" cap="none" strike="noStrike">
                <a:solidFill>
                  <a:srgbClr val="1E2430"/>
                </a:solidFill>
                <a:latin typeface="Calibri"/>
                <a:ea typeface="Calibri"/>
                <a:cs typeface="Calibri"/>
                <a:sym typeface="Calibri"/>
              </a:rPr>
              <a:t>US$61.89M</a:t>
            </a:r>
            <a:endParaRPr b="0" i="0" sz="1050" u="none" cap="none" strike="noStrike">
              <a:solidFill>
                <a:schemeClr val="dk1"/>
              </a:solidFill>
              <a:latin typeface="Calibri"/>
              <a:ea typeface="Calibri"/>
              <a:cs typeface="Calibri"/>
              <a:sym typeface="Calibri"/>
            </a:endParaRPr>
          </a:p>
        </p:txBody>
      </p:sp>
      <p:sp>
        <p:nvSpPr>
          <p:cNvPr id="185" name="Google Shape;185;p4"/>
          <p:cNvSpPr txBox="1"/>
          <p:nvPr/>
        </p:nvSpPr>
        <p:spPr>
          <a:xfrm>
            <a:off x="731520" y="4462272"/>
            <a:ext cx="1325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430"/>
              </a:buClr>
              <a:buSzPts val="1100"/>
              <a:buFont typeface="Calibri"/>
              <a:buNone/>
            </a:pPr>
            <a:r>
              <a:rPr b="0" i="0" lang="en-US" sz="1100" u="none" cap="none" strike="noStrike">
                <a:solidFill>
                  <a:srgbClr val="1E2430"/>
                </a:solidFill>
                <a:latin typeface="Calibri"/>
                <a:ea typeface="Calibri"/>
                <a:cs typeface="Calibri"/>
                <a:sym typeface="Calibri"/>
              </a:rPr>
              <a:t>Downtime-linked</a:t>
            </a:r>
            <a:endParaRPr b="0" i="0" sz="1100" u="none" cap="none" strike="noStrike">
              <a:solidFill>
                <a:schemeClr val="dk1"/>
              </a:solidFill>
              <a:latin typeface="Calibri"/>
              <a:ea typeface="Calibri"/>
              <a:cs typeface="Calibri"/>
              <a:sym typeface="Calibri"/>
            </a:endParaRPr>
          </a:p>
        </p:txBody>
      </p:sp>
      <p:sp>
        <p:nvSpPr>
          <p:cNvPr id="186" name="Google Shape;186;p4"/>
          <p:cNvSpPr/>
          <p:nvPr/>
        </p:nvSpPr>
        <p:spPr>
          <a:xfrm>
            <a:off x="2103120" y="4498848"/>
            <a:ext cx="1217544" cy="201168"/>
          </a:xfrm>
          <a:prstGeom prst="rect">
            <a:avLst/>
          </a:prstGeom>
          <a:solidFill>
            <a:srgbClr val="192F7B"/>
          </a:solidFill>
          <a:ln cap="flat" cmpd="sng" w="12700">
            <a:solidFill>
              <a:srgbClr val="192F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4"/>
          <p:cNvSpPr txBox="1"/>
          <p:nvPr/>
        </p:nvSpPr>
        <p:spPr>
          <a:xfrm>
            <a:off x="3393816" y="4462272"/>
            <a:ext cx="868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430"/>
              </a:buClr>
              <a:buSzPts val="1050"/>
              <a:buFont typeface="Calibri"/>
              <a:buNone/>
            </a:pPr>
            <a:r>
              <a:rPr b="1" i="0" lang="en-US" sz="1050" u="none" cap="none" strike="noStrike">
                <a:solidFill>
                  <a:srgbClr val="1E2430"/>
                </a:solidFill>
                <a:latin typeface="Calibri"/>
                <a:ea typeface="Calibri"/>
                <a:cs typeface="Calibri"/>
                <a:sym typeface="Calibri"/>
              </a:rPr>
              <a:t>US$61.70M</a:t>
            </a:r>
            <a:endParaRPr b="0" i="0" sz="1050" u="none" cap="none" strike="noStrike">
              <a:solidFill>
                <a:schemeClr val="dk1"/>
              </a:solidFill>
              <a:latin typeface="Calibri"/>
              <a:ea typeface="Calibri"/>
              <a:cs typeface="Calibri"/>
              <a:sym typeface="Calibri"/>
            </a:endParaRPr>
          </a:p>
        </p:txBody>
      </p:sp>
      <p:cxnSp>
        <p:nvCxnSpPr>
          <p:cNvPr id="188" name="Google Shape;188;p4"/>
          <p:cNvCxnSpPr/>
          <p:nvPr/>
        </p:nvCxnSpPr>
        <p:spPr>
          <a:xfrm>
            <a:off x="731520" y="4919472"/>
            <a:ext cx="3429000" cy="0"/>
          </a:xfrm>
          <a:prstGeom prst="straightConnector1">
            <a:avLst/>
          </a:prstGeom>
          <a:noFill/>
          <a:ln cap="flat" cmpd="sng" w="9525">
            <a:solidFill>
              <a:srgbClr val="D3DAE4"/>
            </a:solidFill>
            <a:prstDash val="solid"/>
            <a:round/>
            <a:headEnd len="sm" w="sm" type="none"/>
            <a:tailEnd len="sm" w="sm" type="none"/>
          </a:ln>
        </p:spPr>
      </p:cxnSp>
      <p:sp>
        <p:nvSpPr>
          <p:cNvPr id="189" name="Google Shape;189;p4"/>
          <p:cNvSpPr txBox="1"/>
          <p:nvPr/>
        </p:nvSpPr>
        <p:spPr>
          <a:xfrm>
            <a:off x="731520" y="5001768"/>
            <a:ext cx="352044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92F7B"/>
              </a:buClr>
              <a:buSzPts val="1600"/>
              <a:buFont typeface="Calibri"/>
              <a:buNone/>
            </a:pPr>
            <a:r>
              <a:rPr b="1" i="0" lang="en-US" sz="1600" u="none" cap="none" strike="noStrike">
                <a:solidFill>
                  <a:srgbClr val="192F7B"/>
                </a:solidFill>
                <a:latin typeface="Calibri"/>
                <a:ea typeface="Calibri"/>
                <a:cs typeface="Calibri"/>
                <a:sym typeface="Calibri"/>
              </a:rPr>
              <a:t>≈ US$24.15M per year</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573"/>
              </a:buClr>
              <a:buSzPts val="1050"/>
              <a:buFont typeface="Calibri"/>
              <a:buNone/>
            </a:pPr>
            <a:r>
              <a:rPr b="0" i="0" lang="en-US" sz="1050" u="none" cap="none" strike="noStrike">
                <a:solidFill>
                  <a:srgbClr val="5B6573"/>
                </a:solidFill>
                <a:latin typeface="Calibri"/>
                <a:ea typeface="Calibri"/>
                <a:cs typeface="Calibri"/>
                <a:sym typeface="Calibri"/>
              </a:rPr>
              <a:t>downtime-linked loss = 61.70 ÷ (933 ÷ 365.25)</a:t>
            </a:r>
            <a:endParaRPr b="0" i="0" sz="1600" u="none" cap="none" strike="noStrike">
              <a:solidFill>
                <a:schemeClr val="dk1"/>
              </a:solidFill>
              <a:latin typeface="Calibri"/>
              <a:ea typeface="Calibri"/>
              <a:cs typeface="Calibri"/>
              <a:sym typeface="Calibri"/>
            </a:endParaRPr>
          </a:p>
        </p:txBody>
      </p:sp>
      <p:sp>
        <p:nvSpPr>
          <p:cNvPr id="190" name="Google Shape;190;p4"/>
          <p:cNvSpPr txBox="1"/>
          <p:nvPr/>
        </p:nvSpPr>
        <p:spPr>
          <a:xfrm>
            <a:off x="4754880" y="1755648"/>
            <a:ext cx="6931152" cy="329184"/>
          </a:xfrm>
          <a:prstGeom prst="rect">
            <a:avLst/>
          </a:prstGeom>
          <a:solidFill>
            <a:srgbClr val="192F7B"/>
          </a:solidFill>
          <a:ln cap="flat" cmpd="sng" w="9525">
            <a:solidFill>
              <a:srgbClr val="192F7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From exposure to attributed value: each rung must be earned</a:t>
            </a:r>
            <a:endParaRPr b="0" i="0" sz="1200" u="none" cap="none" strike="noStrike">
              <a:solidFill>
                <a:schemeClr val="dk1"/>
              </a:solidFill>
              <a:latin typeface="Calibri"/>
              <a:ea typeface="Calibri"/>
              <a:cs typeface="Calibri"/>
              <a:sym typeface="Calibri"/>
            </a:endParaRPr>
          </a:p>
        </p:txBody>
      </p:sp>
      <p:sp>
        <p:nvSpPr>
          <p:cNvPr id="191" name="Google Shape;191;p4"/>
          <p:cNvSpPr txBox="1"/>
          <p:nvPr/>
        </p:nvSpPr>
        <p:spPr>
          <a:xfrm>
            <a:off x="4754880" y="2176272"/>
            <a:ext cx="384048" cy="475488"/>
          </a:xfrm>
          <a:prstGeom prst="rect">
            <a:avLst/>
          </a:prstGeom>
          <a:solidFill>
            <a:srgbClr val="192F7B"/>
          </a:solidFill>
          <a:ln cap="flat" cmpd="sng" w="9525">
            <a:solidFill>
              <a:srgbClr val="192F7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92" name="Google Shape;192;p4"/>
          <p:cNvSpPr/>
          <p:nvPr/>
        </p:nvSpPr>
        <p:spPr>
          <a:xfrm>
            <a:off x="5175504" y="2176272"/>
            <a:ext cx="6510528" cy="475488"/>
          </a:xfrm>
          <a:prstGeom prst="rect">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4"/>
          <p:cNvSpPr txBox="1"/>
          <p:nvPr/>
        </p:nvSpPr>
        <p:spPr>
          <a:xfrm>
            <a:off x="5303520" y="2176272"/>
            <a:ext cx="18745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430"/>
              </a:buClr>
              <a:buSzPts val="1350"/>
              <a:buFont typeface="Calibri"/>
              <a:buNone/>
            </a:pPr>
            <a:r>
              <a:rPr b="1" i="0" lang="en-US" sz="1350" u="none" cap="none" strike="noStrike">
                <a:solidFill>
                  <a:srgbClr val="1E2430"/>
                </a:solidFill>
                <a:latin typeface="Calibri"/>
                <a:ea typeface="Calibri"/>
                <a:cs typeface="Calibri"/>
                <a:sym typeface="Calibri"/>
              </a:rPr>
              <a:t>Historical exposure</a:t>
            </a:r>
            <a:endParaRPr b="0" i="0" sz="1350" u="none" cap="none" strike="noStrike">
              <a:solidFill>
                <a:schemeClr val="dk1"/>
              </a:solidFill>
              <a:latin typeface="Calibri"/>
              <a:ea typeface="Calibri"/>
              <a:cs typeface="Calibri"/>
              <a:sym typeface="Calibri"/>
            </a:endParaRPr>
          </a:p>
        </p:txBody>
      </p:sp>
      <p:sp>
        <p:nvSpPr>
          <p:cNvPr id="194" name="Google Shape;194;p4"/>
          <p:cNvSpPr txBox="1"/>
          <p:nvPr/>
        </p:nvSpPr>
        <p:spPr>
          <a:xfrm>
            <a:off x="7223760" y="2176272"/>
            <a:ext cx="28803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3"/>
              </a:buClr>
              <a:buSzPts val="1050"/>
              <a:buFont typeface="Calibri"/>
              <a:buNone/>
            </a:pPr>
            <a:r>
              <a:rPr b="0" i="0" lang="en-US" sz="1050" u="none" cap="none" strike="noStrike">
                <a:solidFill>
                  <a:srgbClr val="5B6573"/>
                </a:solidFill>
                <a:latin typeface="Calibri"/>
                <a:ea typeface="Calibri"/>
                <a:cs typeface="Calibri"/>
                <a:sym typeface="Calibri"/>
              </a:rPr>
              <a:t>Actual loss recorded in the case data</a:t>
            </a:r>
            <a:endParaRPr b="0" i="0" sz="1050" u="none" cap="none" strike="noStrike">
              <a:solidFill>
                <a:schemeClr val="dk1"/>
              </a:solidFill>
              <a:latin typeface="Calibri"/>
              <a:ea typeface="Calibri"/>
              <a:cs typeface="Calibri"/>
              <a:sym typeface="Calibri"/>
            </a:endParaRPr>
          </a:p>
        </p:txBody>
      </p:sp>
      <p:sp>
        <p:nvSpPr>
          <p:cNvPr id="195" name="Google Shape;195;p4"/>
          <p:cNvSpPr txBox="1"/>
          <p:nvPr/>
        </p:nvSpPr>
        <p:spPr>
          <a:xfrm>
            <a:off x="10085832" y="2176272"/>
            <a:ext cx="1481328" cy="4754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92F7B"/>
              </a:buClr>
              <a:buSzPts val="1500"/>
              <a:buFont typeface="Calibri"/>
              <a:buNone/>
            </a:pPr>
            <a:r>
              <a:rPr b="1" i="0" lang="en-US" sz="1500" u="none" cap="none" strike="noStrike">
                <a:solidFill>
                  <a:srgbClr val="192F7B"/>
                </a:solidFill>
                <a:latin typeface="Calibri"/>
                <a:ea typeface="Calibri"/>
                <a:cs typeface="Calibri"/>
                <a:sym typeface="Calibri"/>
              </a:rPr>
              <a:t>US$61.9M</a:t>
            </a:r>
            <a:endParaRPr b="0" i="0" sz="1500" u="none" cap="none" strike="noStrike">
              <a:solidFill>
                <a:schemeClr val="dk1"/>
              </a:solidFill>
              <a:latin typeface="Calibri"/>
              <a:ea typeface="Calibri"/>
              <a:cs typeface="Calibri"/>
              <a:sym typeface="Calibri"/>
            </a:endParaRPr>
          </a:p>
        </p:txBody>
      </p:sp>
      <p:sp>
        <p:nvSpPr>
          <p:cNvPr id="196" name="Google Shape;196;p4"/>
          <p:cNvSpPr txBox="1"/>
          <p:nvPr/>
        </p:nvSpPr>
        <p:spPr>
          <a:xfrm>
            <a:off x="4754880" y="2706624"/>
            <a:ext cx="384048" cy="475488"/>
          </a:xfrm>
          <a:prstGeom prst="rect">
            <a:avLst/>
          </a:prstGeom>
          <a:solidFill>
            <a:srgbClr val="192F7B"/>
          </a:solidFill>
          <a:ln cap="flat" cmpd="sng" w="9525">
            <a:solidFill>
              <a:srgbClr val="192F7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197" name="Google Shape;197;p4"/>
          <p:cNvSpPr/>
          <p:nvPr/>
        </p:nvSpPr>
        <p:spPr>
          <a:xfrm>
            <a:off x="5175504" y="2706624"/>
            <a:ext cx="6510528" cy="475488"/>
          </a:xfrm>
          <a:prstGeom prst="rect">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4"/>
          <p:cNvSpPr txBox="1"/>
          <p:nvPr/>
        </p:nvSpPr>
        <p:spPr>
          <a:xfrm>
            <a:off x="5303520" y="2706624"/>
            <a:ext cx="18745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430"/>
              </a:buClr>
              <a:buSzPts val="1350"/>
              <a:buFont typeface="Calibri"/>
              <a:buNone/>
            </a:pPr>
            <a:r>
              <a:rPr b="1" i="0" lang="en-US" sz="1350" u="none" cap="none" strike="noStrike">
                <a:solidFill>
                  <a:srgbClr val="1E2430"/>
                </a:solidFill>
                <a:latin typeface="Calibri"/>
                <a:ea typeface="Calibri"/>
                <a:cs typeface="Calibri"/>
                <a:sym typeface="Calibri"/>
              </a:rPr>
              <a:t>Addressable exposure</a:t>
            </a:r>
            <a:endParaRPr b="0" i="0" sz="1350" u="none" cap="none" strike="noStrike">
              <a:solidFill>
                <a:schemeClr val="dk1"/>
              </a:solidFill>
              <a:latin typeface="Calibri"/>
              <a:ea typeface="Calibri"/>
              <a:cs typeface="Calibri"/>
              <a:sym typeface="Calibri"/>
            </a:endParaRPr>
          </a:p>
        </p:txBody>
      </p:sp>
      <p:sp>
        <p:nvSpPr>
          <p:cNvPr id="199" name="Google Shape;199;p4"/>
          <p:cNvSpPr txBox="1"/>
          <p:nvPr/>
        </p:nvSpPr>
        <p:spPr>
          <a:xfrm>
            <a:off x="7223760" y="2706624"/>
            <a:ext cx="28803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3"/>
              </a:buClr>
              <a:buSzPts val="1050"/>
              <a:buFont typeface="Calibri"/>
              <a:buNone/>
            </a:pPr>
            <a:r>
              <a:rPr b="0" i="0" lang="en-US" sz="1050" u="none" cap="none" strike="noStrike">
                <a:solidFill>
                  <a:srgbClr val="5B6573"/>
                </a:solidFill>
                <a:latin typeface="Calibri"/>
                <a:ea typeface="Calibri"/>
                <a:cs typeface="Calibri"/>
                <a:sym typeface="Calibri"/>
              </a:rPr>
              <a:t>Needs engineering classification; condition data covers 5 of 380 assets today</a:t>
            </a:r>
            <a:endParaRPr b="0" i="0" sz="1050" u="none" cap="none" strike="noStrike">
              <a:solidFill>
                <a:schemeClr val="dk1"/>
              </a:solidFill>
              <a:latin typeface="Calibri"/>
              <a:ea typeface="Calibri"/>
              <a:cs typeface="Calibri"/>
              <a:sym typeface="Calibri"/>
            </a:endParaRPr>
          </a:p>
        </p:txBody>
      </p:sp>
      <p:sp>
        <p:nvSpPr>
          <p:cNvPr id="200" name="Google Shape;200;p4"/>
          <p:cNvSpPr txBox="1"/>
          <p:nvPr/>
        </p:nvSpPr>
        <p:spPr>
          <a:xfrm>
            <a:off x="10085832" y="2706624"/>
            <a:ext cx="1481328" cy="4754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573"/>
              </a:buClr>
              <a:buSzPts val="1500"/>
              <a:buFont typeface="Calibri"/>
              <a:buNone/>
            </a:pPr>
            <a:r>
              <a:rPr b="1" i="0" lang="en-US" sz="1500" u="none" cap="none" strike="noStrike">
                <a:solidFill>
                  <a:srgbClr val="5B6573"/>
                </a:solidFill>
                <a:latin typeface="Calibri"/>
                <a:ea typeface="Calibri"/>
                <a:cs typeface="Calibri"/>
                <a:sym typeface="Calibri"/>
              </a:rPr>
              <a:t>Not yet set</a:t>
            </a:r>
            <a:endParaRPr b="0" i="0" sz="1500" u="none" cap="none" strike="noStrike">
              <a:solidFill>
                <a:schemeClr val="dk1"/>
              </a:solidFill>
              <a:latin typeface="Calibri"/>
              <a:ea typeface="Calibri"/>
              <a:cs typeface="Calibri"/>
              <a:sym typeface="Calibri"/>
            </a:endParaRPr>
          </a:p>
        </p:txBody>
      </p:sp>
      <p:sp>
        <p:nvSpPr>
          <p:cNvPr id="201" name="Google Shape;201;p4"/>
          <p:cNvSpPr txBox="1"/>
          <p:nvPr/>
        </p:nvSpPr>
        <p:spPr>
          <a:xfrm>
            <a:off x="4754880" y="3236976"/>
            <a:ext cx="384048" cy="475488"/>
          </a:xfrm>
          <a:prstGeom prst="rect">
            <a:avLst/>
          </a:prstGeom>
          <a:solidFill>
            <a:srgbClr val="192F7B"/>
          </a:solidFill>
          <a:ln cap="flat" cmpd="sng" w="9525">
            <a:solidFill>
              <a:srgbClr val="192F7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202" name="Google Shape;202;p4"/>
          <p:cNvSpPr/>
          <p:nvPr/>
        </p:nvSpPr>
        <p:spPr>
          <a:xfrm>
            <a:off x="5175504" y="3236976"/>
            <a:ext cx="6510528" cy="475488"/>
          </a:xfrm>
          <a:prstGeom prst="rect">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4"/>
          <p:cNvSpPr txBox="1"/>
          <p:nvPr/>
        </p:nvSpPr>
        <p:spPr>
          <a:xfrm>
            <a:off x="5303520" y="3236976"/>
            <a:ext cx="18745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430"/>
              </a:buClr>
              <a:buSzPts val="1350"/>
              <a:buFont typeface="Calibri"/>
              <a:buNone/>
            </a:pPr>
            <a:r>
              <a:rPr b="1" i="0" lang="en-US" sz="1350" u="none" cap="none" strike="noStrike">
                <a:solidFill>
                  <a:srgbClr val="1E2430"/>
                </a:solidFill>
                <a:latin typeface="Calibri"/>
                <a:ea typeface="Calibri"/>
                <a:cs typeface="Calibri"/>
                <a:sym typeface="Calibri"/>
              </a:rPr>
              <a:t>Decision change</a:t>
            </a:r>
            <a:endParaRPr b="0" i="0" sz="1350" u="none" cap="none" strike="noStrike">
              <a:solidFill>
                <a:schemeClr val="dk1"/>
              </a:solidFill>
              <a:latin typeface="Calibri"/>
              <a:ea typeface="Calibri"/>
              <a:cs typeface="Calibri"/>
              <a:sym typeface="Calibri"/>
            </a:endParaRPr>
          </a:p>
        </p:txBody>
      </p:sp>
      <p:sp>
        <p:nvSpPr>
          <p:cNvPr id="204" name="Google Shape;204;p4"/>
          <p:cNvSpPr txBox="1"/>
          <p:nvPr/>
        </p:nvSpPr>
        <p:spPr>
          <a:xfrm>
            <a:off x="7223760" y="3236976"/>
            <a:ext cx="28803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3"/>
              </a:buClr>
              <a:buSzPts val="1050"/>
              <a:buFont typeface="Calibri"/>
              <a:buNone/>
            </a:pPr>
            <a:r>
              <a:rPr b="0" i="0" lang="en-US" sz="1050" u="none" cap="none" strike="noStrike">
                <a:solidFill>
                  <a:srgbClr val="5B6573"/>
                </a:solidFill>
                <a:latin typeface="Calibri"/>
                <a:ea typeface="Calibri"/>
                <a:cs typeface="Calibri"/>
                <a:sym typeface="Calibri"/>
              </a:rPr>
              <a:t>Pilot decision KPIs: acknowledgement time, high-consequence first, verification before closure</a:t>
            </a:r>
            <a:endParaRPr b="0" i="0" sz="1050" u="none" cap="none" strike="noStrike">
              <a:solidFill>
                <a:schemeClr val="dk1"/>
              </a:solidFill>
              <a:latin typeface="Calibri"/>
              <a:ea typeface="Calibri"/>
              <a:cs typeface="Calibri"/>
              <a:sym typeface="Calibri"/>
            </a:endParaRPr>
          </a:p>
        </p:txBody>
      </p:sp>
      <p:sp>
        <p:nvSpPr>
          <p:cNvPr id="205" name="Google Shape;205;p4"/>
          <p:cNvSpPr txBox="1"/>
          <p:nvPr/>
        </p:nvSpPr>
        <p:spPr>
          <a:xfrm>
            <a:off x="10085832" y="3236976"/>
            <a:ext cx="1481328" cy="4754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3D6BB3"/>
              </a:buClr>
              <a:buSzPts val="1500"/>
              <a:buFont typeface="Calibri"/>
              <a:buNone/>
            </a:pPr>
            <a:r>
              <a:rPr b="1" i="0" lang="en-US" sz="1500" u="none" cap="none" strike="noStrike">
                <a:solidFill>
                  <a:srgbClr val="3D6BB3"/>
                </a:solidFill>
                <a:latin typeface="Calibri"/>
                <a:ea typeface="Calibri"/>
                <a:cs typeface="Calibri"/>
                <a:sym typeface="Calibri"/>
              </a:rPr>
              <a:t>Measured first</a:t>
            </a:r>
            <a:endParaRPr b="0" i="0" sz="1500" u="none" cap="none" strike="noStrike">
              <a:solidFill>
                <a:schemeClr val="dk1"/>
              </a:solidFill>
              <a:latin typeface="Calibri"/>
              <a:ea typeface="Calibri"/>
              <a:cs typeface="Calibri"/>
              <a:sym typeface="Calibri"/>
            </a:endParaRPr>
          </a:p>
        </p:txBody>
      </p:sp>
      <p:sp>
        <p:nvSpPr>
          <p:cNvPr id="206" name="Google Shape;206;p4"/>
          <p:cNvSpPr txBox="1"/>
          <p:nvPr/>
        </p:nvSpPr>
        <p:spPr>
          <a:xfrm>
            <a:off x="4754880" y="3767328"/>
            <a:ext cx="384048" cy="475488"/>
          </a:xfrm>
          <a:prstGeom prst="rect">
            <a:avLst/>
          </a:prstGeom>
          <a:solidFill>
            <a:srgbClr val="192F7B"/>
          </a:solidFill>
          <a:ln cap="flat" cmpd="sng" w="9525">
            <a:solidFill>
              <a:srgbClr val="192F7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207" name="Google Shape;207;p4"/>
          <p:cNvSpPr/>
          <p:nvPr/>
        </p:nvSpPr>
        <p:spPr>
          <a:xfrm>
            <a:off x="5175504" y="3767328"/>
            <a:ext cx="6510528" cy="475488"/>
          </a:xfrm>
          <a:prstGeom prst="rect">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4"/>
          <p:cNvSpPr txBox="1"/>
          <p:nvPr/>
        </p:nvSpPr>
        <p:spPr>
          <a:xfrm>
            <a:off x="5303520" y="3767328"/>
            <a:ext cx="18745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430"/>
              </a:buClr>
              <a:buSzPts val="1350"/>
              <a:buFont typeface="Calibri"/>
              <a:buNone/>
            </a:pPr>
            <a:r>
              <a:rPr b="1" i="0" lang="en-US" sz="1350" u="none" cap="none" strike="noStrike">
                <a:solidFill>
                  <a:srgbClr val="1E2430"/>
                </a:solidFill>
                <a:latin typeface="Calibri"/>
                <a:ea typeface="Calibri"/>
                <a:cs typeface="Calibri"/>
                <a:sym typeface="Calibri"/>
              </a:rPr>
              <a:t>Validated outcome</a:t>
            </a:r>
            <a:endParaRPr b="0" i="0" sz="1350" u="none" cap="none" strike="noStrike">
              <a:solidFill>
                <a:schemeClr val="dk1"/>
              </a:solidFill>
              <a:latin typeface="Calibri"/>
              <a:ea typeface="Calibri"/>
              <a:cs typeface="Calibri"/>
              <a:sym typeface="Calibri"/>
            </a:endParaRPr>
          </a:p>
        </p:txBody>
      </p:sp>
      <p:sp>
        <p:nvSpPr>
          <p:cNvPr id="209" name="Google Shape;209;p4"/>
          <p:cNvSpPr txBox="1"/>
          <p:nvPr/>
        </p:nvSpPr>
        <p:spPr>
          <a:xfrm>
            <a:off x="7223760" y="3767328"/>
            <a:ext cx="28803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3"/>
              </a:buClr>
              <a:buSzPts val="1050"/>
              <a:buFont typeface="Calibri"/>
              <a:buNone/>
            </a:pPr>
            <a:r>
              <a:rPr b="0" i="0" lang="en-US" sz="1050" u="none" cap="none" strike="noStrike">
                <a:solidFill>
                  <a:srgbClr val="5B6573"/>
                </a:solidFill>
                <a:latin typeface="Calibri"/>
                <a:ea typeface="Calibri"/>
                <a:cs typeface="Calibri"/>
                <a:sym typeface="Calibri"/>
              </a:rPr>
              <a:t>Case-level counterfactual, recorded before the outcome is known</a:t>
            </a:r>
            <a:endParaRPr b="0" i="0" sz="1050" u="none" cap="none" strike="noStrike">
              <a:solidFill>
                <a:schemeClr val="dk1"/>
              </a:solidFill>
              <a:latin typeface="Calibri"/>
              <a:ea typeface="Calibri"/>
              <a:cs typeface="Calibri"/>
              <a:sym typeface="Calibri"/>
            </a:endParaRPr>
          </a:p>
        </p:txBody>
      </p:sp>
      <p:sp>
        <p:nvSpPr>
          <p:cNvPr id="210" name="Google Shape;210;p4"/>
          <p:cNvSpPr txBox="1"/>
          <p:nvPr/>
        </p:nvSpPr>
        <p:spPr>
          <a:xfrm>
            <a:off x="10085832" y="3767328"/>
            <a:ext cx="1481328" cy="4754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3D6BB3"/>
              </a:buClr>
              <a:buSzPts val="1500"/>
              <a:buFont typeface="Calibri"/>
              <a:buNone/>
            </a:pPr>
            <a:r>
              <a:rPr b="1" i="0" lang="en-US" sz="1500" u="none" cap="none" strike="noStrike">
                <a:solidFill>
                  <a:srgbClr val="3D6BB3"/>
                </a:solidFill>
                <a:latin typeface="Calibri"/>
                <a:ea typeface="Calibri"/>
                <a:cs typeface="Calibri"/>
                <a:sym typeface="Calibri"/>
              </a:rPr>
              <a:t>Measured next</a:t>
            </a:r>
            <a:endParaRPr b="0" i="0" sz="1500" u="none" cap="none" strike="noStrike">
              <a:solidFill>
                <a:schemeClr val="dk1"/>
              </a:solidFill>
              <a:latin typeface="Calibri"/>
              <a:ea typeface="Calibri"/>
              <a:cs typeface="Calibri"/>
              <a:sym typeface="Calibri"/>
            </a:endParaRPr>
          </a:p>
        </p:txBody>
      </p:sp>
      <p:sp>
        <p:nvSpPr>
          <p:cNvPr id="211" name="Google Shape;211;p4"/>
          <p:cNvSpPr/>
          <p:nvPr/>
        </p:nvSpPr>
        <p:spPr>
          <a:xfrm>
            <a:off x="4754880" y="4315968"/>
            <a:ext cx="6931152" cy="822960"/>
          </a:xfrm>
          <a:prstGeom prst="rect">
            <a:avLst/>
          </a:prstGeom>
          <a:solidFill>
            <a:srgbClr val="192F7B"/>
          </a:solidFill>
          <a:ln cap="flat" cmpd="sng" w="12700">
            <a:solidFill>
              <a:srgbClr val="192F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4"/>
          <p:cNvSpPr txBox="1"/>
          <p:nvPr/>
        </p:nvSpPr>
        <p:spPr>
          <a:xfrm>
            <a:off x="4892040" y="4379976"/>
            <a:ext cx="6656832"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9D3EA"/>
              </a:buClr>
              <a:buSzPts val="950"/>
              <a:buFont typeface="Calibri"/>
              <a:buNone/>
            </a:pPr>
            <a:r>
              <a:rPr b="1" i="0" lang="en-US" sz="950" u="none" cap="none" strike="noStrike">
                <a:solidFill>
                  <a:srgbClr val="C9D3EA"/>
                </a:solidFill>
                <a:latin typeface="Calibri"/>
                <a:ea typeface="Calibri"/>
                <a:cs typeface="Calibri"/>
                <a:sym typeface="Calibri"/>
              </a:rPr>
              <a:t>ATTRIBUTION GATE:  A CASE COUNTS ONLY IF ALL EIGHT CHECKS PASS</a:t>
            </a:r>
            <a:endParaRPr b="0" i="0" sz="950" u="none" cap="none" strike="noStrike">
              <a:solidFill>
                <a:schemeClr val="dk1"/>
              </a:solidFill>
              <a:latin typeface="Calibri"/>
              <a:ea typeface="Calibri"/>
              <a:cs typeface="Calibri"/>
              <a:sym typeface="Calibri"/>
            </a:endParaRPr>
          </a:p>
        </p:txBody>
      </p:sp>
      <p:sp>
        <p:nvSpPr>
          <p:cNvPr id="213" name="Google Shape;213;p4"/>
          <p:cNvSpPr txBox="1"/>
          <p:nvPr/>
        </p:nvSpPr>
        <p:spPr>
          <a:xfrm>
            <a:off x="4892040" y="4626864"/>
            <a:ext cx="758952"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1 </a:t>
            </a:r>
            <a:r>
              <a:rPr b="0" i="0" lang="en-US" sz="1000" u="none" cap="none" strike="noStrike">
                <a:solidFill>
                  <a:srgbClr val="FFFFFF"/>
                </a:solidFill>
                <a:latin typeface="Calibri"/>
                <a:ea typeface="Calibri"/>
                <a:cs typeface="Calibri"/>
                <a:sym typeface="Calibri"/>
              </a:rPr>
              <a:t>Observable problem</a:t>
            </a:r>
            <a:endParaRPr b="0" i="0" sz="1000" u="none" cap="none" strike="noStrike">
              <a:solidFill>
                <a:schemeClr val="dk1"/>
              </a:solidFill>
              <a:latin typeface="Calibri"/>
              <a:ea typeface="Calibri"/>
              <a:cs typeface="Calibri"/>
              <a:sym typeface="Calibri"/>
            </a:endParaRPr>
          </a:p>
        </p:txBody>
      </p:sp>
      <p:sp>
        <p:nvSpPr>
          <p:cNvPr id="214" name="Google Shape;214;p4"/>
          <p:cNvSpPr txBox="1"/>
          <p:nvPr/>
        </p:nvSpPr>
        <p:spPr>
          <a:xfrm>
            <a:off x="5724144" y="4626864"/>
            <a:ext cx="758952"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2 </a:t>
            </a:r>
            <a:r>
              <a:rPr b="0" i="0" lang="en-US" sz="1000" u="none" cap="none" strike="noStrike">
                <a:solidFill>
                  <a:srgbClr val="FFFFFF"/>
                </a:solidFill>
                <a:latin typeface="Calibri"/>
                <a:ea typeface="Calibri"/>
                <a:cs typeface="Calibri"/>
                <a:sym typeface="Calibri"/>
              </a:rPr>
              <a:t>Detectable signal</a:t>
            </a:r>
            <a:endParaRPr b="0" i="0" sz="1000" u="none" cap="none" strike="noStrike">
              <a:solidFill>
                <a:schemeClr val="dk1"/>
              </a:solidFill>
              <a:latin typeface="Calibri"/>
              <a:ea typeface="Calibri"/>
              <a:cs typeface="Calibri"/>
              <a:sym typeface="Calibri"/>
            </a:endParaRPr>
          </a:p>
        </p:txBody>
      </p:sp>
      <p:cxnSp>
        <p:nvCxnSpPr>
          <p:cNvPr id="215" name="Google Shape;215;p4"/>
          <p:cNvCxnSpPr/>
          <p:nvPr/>
        </p:nvCxnSpPr>
        <p:spPr>
          <a:xfrm>
            <a:off x="5678424" y="4645152"/>
            <a:ext cx="0" cy="384048"/>
          </a:xfrm>
          <a:prstGeom prst="straightConnector1">
            <a:avLst/>
          </a:prstGeom>
          <a:noFill/>
          <a:ln cap="flat" cmpd="sng" w="9525">
            <a:solidFill>
              <a:srgbClr val="4A5F9E"/>
            </a:solidFill>
            <a:prstDash val="solid"/>
            <a:round/>
            <a:headEnd len="sm" w="sm" type="none"/>
            <a:tailEnd len="sm" w="sm" type="none"/>
          </a:ln>
        </p:spPr>
      </p:cxnSp>
      <p:sp>
        <p:nvSpPr>
          <p:cNvPr id="216" name="Google Shape;216;p4"/>
          <p:cNvSpPr txBox="1"/>
          <p:nvPr/>
        </p:nvSpPr>
        <p:spPr>
          <a:xfrm>
            <a:off x="6556248" y="4626864"/>
            <a:ext cx="758952"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3 </a:t>
            </a:r>
            <a:r>
              <a:rPr b="0" i="0" lang="en-US" sz="1000" u="none" cap="none" strike="noStrike">
                <a:solidFill>
                  <a:srgbClr val="FFFFFF"/>
                </a:solidFill>
                <a:latin typeface="Calibri"/>
                <a:ea typeface="Calibri"/>
                <a:cs typeface="Calibri"/>
                <a:sym typeface="Calibri"/>
              </a:rPr>
              <a:t>Time to act</a:t>
            </a:r>
            <a:endParaRPr b="0" i="0" sz="1000" u="none" cap="none" strike="noStrike">
              <a:solidFill>
                <a:schemeClr val="dk1"/>
              </a:solidFill>
              <a:latin typeface="Calibri"/>
              <a:ea typeface="Calibri"/>
              <a:cs typeface="Calibri"/>
              <a:sym typeface="Calibri"/>
            </a:endParaRPr>
          </a:p>
        </p:txBody>
      </p:sp>
      <p:cxnSp>
        <p:nvCxnSpPr>
          <p:cNvPr id="217" name="Google Shape;217;p4"/>
          <p:cNvCxnSpPr/>
          <p:nvPr/>
        </p:nvCxnSpPr>
        <p:spPr>
          <a:xfrm>
            <a:off x="6510528" y="4645152"/>
            <a:ext cx="0" cy="384048"/>
          </a:xfrm>
          <a:prstGeom prst="straightConnector1">
            <a:avLst/>
          </a:prstGeom>
          <a:noFill/>
          <a:ln cap="flat" cmpd="sng" w="9525">
            <a:solidFill>
              <a:srgbClr val="4A5F9E"/>
            </a:solidFill>
            <a:prstDash val="solid"/>
            <a:round/>
            <a:headEnd len="sm" w="sm" type="none"/>
            <a:tailEnd len="sm" w="sm" type="none"/>
          </a:ln>
        </p:spPr>
      </p:cxnSp>
      <p:sp>
        <p:nvSpPr>
          <p:cNvPr id="218" name="Google Shape;218;p4"/>
          <p:cNvSpPr txBox="1"/>
          <p:nvPr/>
        </p:nvSpPr>
        <p:spPr>
          <a:xfrm>
            <a:off x="7388352" y="4626864"/>
            <a:ext cx="758952"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4 </a:t>
            </a:r>
            <a:r>
              <a:rPr b="0" i="0" lang="en-US" sz="1000" u="none" cap="none" strike="noStrike">
                <a:solidFill>
                  <a:srgbClr val="FFFFFF"/>
                </a:solidFill>
                <a:latin typeface="Calibri"/>
                <a:ea typeface="Calibri"/>
                <a:cs typeface="Calibri"/>
                <a:sym typeface="Calibri"/>
              </a:rPr>
              <a:t>Feasible intervention</a:t>
            </a:r>
            <a:endParaRPr b="0" i="0" sz="1000" u="none" cap="none" strike="noStrike">
              <a:solidFill>
                <a:schemeClr val="dk1"/>
              </a:solidFill>
              <a:latin typeface="Calibri"/>
              <a:ea typeface="Calibri"/>
              <a:cs typeface="Calibri"/>
              <a:sym typeface="Calibri"/>
            </a:endParaRPr>
          </a:p>
        </p:txBody>
      </p:sp>
      <p:cxnSp>
        <p:nvCxnSpPr>
          <p:cNvPr id="219" name="Google Shape;219;p4"/>
          <p:cNvCxnSpPr/>
          <p:nvPr/>
        </p:nvCxnSpPr>
        <p:spPr>
          <a:xfrm>
            <a:off x="7342632" y="4645152"/>
            <a:ext cx="0" cy="384048"/>
          </a:xfrm>
          <a:prstGeom prst="straightConnector1">
            <a:avLst/>
          </a:prstGeom>
          <a:noFill/>
          <a:ln cap="flat" cmpd="sng" w="9525">
            <a:solidFill>
              <a:srgbClr val="4A5F9E"/>
            </a:solidFill>
            <a:prstDash val="solid"/>
            <a:round/>
            <a:headEnd len="sm" w="sm" type="none"/>
            <a:tailEnd len="sm" w="sm" type="none"/>
          </a:ln>
        </p:spPr>
      </p:cxnSp>
      <p:sp>
        <p:nvSpPr>
          <p:cNvPr id="220" name="Google Shape;220;p4"/>
          <p:cNvSpPr txBox="1"/>
          <p:nvPr/>
        </p:nvSpPr>
        <p:spPr>
          <a:xfrm>
            <a:off x="8220456" y="4626864"/>
            <a:ext cx="758952"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5 </a:t>
            </a:r>
            <a:r>
              <a:rPr b="0" i="0" lang="en-US" sz="1000" u="none" cap="none" strike="noStrike">
                <a:solidFill>
                  <a:srgbClr val="FFFFFF"/>
                </a:solidFill>
                <a:latin typeface="Calibri"/>
                <a:ea typeface="Calibri"/>
                <a:cs typeface="Calibri"/>
                <a:sym typeface="Calibri"/>
              </a:rPr>
              <a:t>In AETHER scope</a:t>
            </a:r>
            <a:endParaRPr b="0" i="0" sz="1000" u="none" cap="none" strike="noStrike">
              <a:solidFill>
                <a:schemeClr val="dk1"/>
              </a:solidFill>
              <a:latin typeface="Calibri"/>
              <a:ea typeface="Calibri"/>
              <a:cs typeface="Calibri"/>
              <a:sym typeface="Calibri"/>
            </a:endParaRPr>
          </a:p>
        </p:txBody>
      </p:sp>
      <p:cxnSp>
        <p:nvCxnSpPr>
          <p:cNvPr id="221" name="Google Shape;221;p4"/>
          <p:cNvCxnSpPr/>
          <p:nvPr/>
        </p:nvCxnSpPr>
        <p:spPr>
          <a:xfrm>
            <a:off x="8174736" y="4645152"/>
            <a:ext cx="0" cy="384048"/>
          </a:xfrm>
          <a:prstGeom prst="straightConnector1">
            <a:avLst/>
          </a:prstGeom>
          <a:noFill/>
          <a:ln cap="flat" cmpd="sng" w="9525">
            <a:solidFill>
              <a:srgbClr val="4A5F9E"/>
            </a:solidFill>
            <a:prstDash val="solid"/>
            <a:round/>
            <a:headEnd len="sm" w="sm" type="none"/>
            <a:tailEnd len="sm" w="sm" type="none"/>
          </a:ln>
        </p:spPr>
      </p:cxnSp>
      <p:sp>
        <p:nvSpPr>
          <p:cNvPr id="222" name="Google Shape;222;p4"/>
          <p:cNvSpPr txBox="1"/>
          <p:nvPr/>
        </p:nvSpPr>
        <p:spPr>
          <a:xfrm>
            <a:off x="9052560" y="4626864"/>
            <a:ext cx="758952"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6 </a:t>
            </a:r>
            <a:r>
              <a:rPr b="0" i="0" lang="en-US" sz="1000" u="none" cap="none" strike="noStrike">
                <a:solidFill>
                  <a:srgbClr val="FFFFFF"/>
                </a:solidFill>
                <a:latin typeface="Calibri"/>
                <a:ea typeface="Calibri"/>
                <a:cs typeface="Calibri"/>
                <a:sym typeface="Calibri"/>
              </a:rPr>
              <a:t>Decision changes</a:t>
            </a:r>
            <a:endParaRPr b="0" i="0" sz="1000" u="none" cap="none" strike="noStrike">
              <a:solidFill>
                <a:schemeClr val="dk1"/>
              </a:solidFill>
              <a:latin typeface="Calibri"/>
              <a:ea typeface="Calibri"/>
              <a:cs typeface="Calibri"/>
              <a:sym typeface="Calibri"/>
            </a:endParaRPr>
          </a:p>
        </p:txBody>
      </p:sp>
      <p:cxnSp>
        <p:nvCxnSpPr>
          <p:cNvPr id="223" name="Google Shape;223;p4"/>
          <p:cNvCxnSpPr/>
          <p:nvPr/>
        </p:nvCxnSpPr>
        <p:spPr>
          <a:xfrm>
            <a:off x="9006840" y="4645152"/>
            <a:ext cx="0" cy="384048"/>
          </a:xfrm>
          <a:prstGeom prst="straightConnector1">
            <a:avLst/>
          </a:prstGeom>
          <a:noFill/>
          <a:ln cap="flat" cmpd="sng" w="9525">
            <a:solidFill>
              <a:srgbClr val="4A5F9E"/>
            </a:solidFill>
            <a:prstDash val="solid"/>
            <a:round/>
            <a:headEnd len="sm" w="sm" type="none"/>
            <a:tailEnd len="sm" w="sm" type="none"/>
          </a:ln>
        </p:spPr>
      </p:cxnSp>
      <p:sp>
        <p:nvSpPr>
          <p:cNvPr id="224" name="Google Shape;224;p4"/>
          <p:cNvSpPr txBox="1"/>
          <p:nvPr/>
        </p:nvSpPr>
        <p:spPr>
          <a:xfrm>
            <a:off x="9884664" y="4626864"/>
            <a:ext cx="758952"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7 </a:t>
            </a:r>
            <a:r>
              <a:rPr b="0" i="0" lang="en-US" sz="1000" u="none" cap="none" strike="noStrike">
                <a:solidFill>
                  <a:srgbClr val="FFFFFF"/>
                </a:solidFill>
                <a:latin typeface="Calibri"/>
                <a:ea typeface="Calibri"/>
                <a:cs typeface="Calibri"/>
                <a:sym typeface="Calibri"/>
              </a:rPr>
              <a:t>Outcome measurable</a:t>
            </a:r>
            <a:endParaRPr b="0" i="0" sz="1000" u="none" cap="none" strike="noStrike">
              <a:solidFill>
                <a:schemeClr val="dk1"/>
              </a:solidFill>
              <a:latin typeface="Calibri"/>
              <a:ea typeface="Calibri"/>
              <a:cs typeface="Calibri"/>
              <a:sym typeface="Calibri"/>
            </a:endParaRPr>
          </a:p>
        </p:txBody>
      </p:sp>
      <p:cxnSp>
        <p:nvCxnSpPr>
          <p:cNvPr id="225" name="Google Shape;225;p4"/>
          <p:cNvCxnSpPr/>
          <p:nvPr/>
        </p:nvCxnSpPr>
        <p:spPr>
          <a:xfrm>
            <a:off x="9838944" y="4645152"/>
            <a:ext cx="0" cy="384048"/>
          </a:xfrm>
          <a:prstGeom prst="straightConnector1">
            <a:avLst/>
          </a:prstGeom>
          <a:noFill/>
          <a:ln cap="flat" cmpd="sng" w="9525">
            <a:solidFill>
              <a:srgbClr val="4A5F9E"/>
            </a:solidFill>
            <a:prstDash val="solid"/>
            <a:round/>
            <a:headEnd len="sm" w="sm" type="none"/>
            <a:tailEnd len="sm" w="sm" type="none"/>
          </a:ln>
        </p:spPr>
      </p:cxnSp>
      <p:sp>
        <p:nvSpPr>
          <p:cNvPr id="226" name="Google Shape;226;p4"/>
          <p:cNvSpPr txBox="1"/>
          <p:nvPr/>
        </p:nvSpPr>
        <p:spPr>
          <a:xfrm>
            <a:off x="10716768" y="4626864"/>
            <a:ext cx="758952"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8 </a:t>
            </a:r>
            <a:r>
              <a:rPr b="0" i="0" lang="en-US" sz="1000" u="none" cap="none" strike="noStrike">
                <a:solidFill>
                  <a:srgbClr val="FFFFFF"/>
                </a:solidFill>
                <a:latin typeface="Calibri"/>
                <a:ea typeface="Calibri"/>
                <a:cs typeface="Calibri"/>
                <a:sym typeface="Calibri"/>
              </a:rPr>
              <a:t>Attributable to AETHER</a:t>
            </a:r>
            <a:endParaRPr b="0" i="0" sz="1000" u="none" cap="none" strike="noStrike">
              <a:solidFill>
                <a:schemeClr val="dk1"/>
              </a:solidFill>
              <a:latin typeface="Calibri"/>
              <a:ea typeface="Calibri"/>
              <a:cs typeface="Calibri"/>
              <a:sym typeface="Calibri"/>
            </a:endParaRPr>
          </a:p>
        </p:txBody>
      </p:sp>
      <p:cxnSp>
        <p:nvCxnSpPr>
          <p:cNvPr id="227" name="Google Shape;227;p4"/>
          <p:cNvCxnSpPr/>
          <p:nvPr/>
        </p:nvCxnSpPr>
        <p:spPr>
          <a:xfrm>
            <a:off x="10671048" y="4645152"/>
            <a:ext cx="0" cy="384048"/>
          </a:xfrm>
          <a:prstGeom prst="straightConnector1">
            <a:avLst/>
          </a:prstGeom>
          <a:noFill/>
          <a:ln cap="flat" cmpd="sng" w="9525">
            <a:solidFill>
              <a:srgbClr val="4A5F9E"/>
            </a:solidFill>
            <a:prstDash val="solid"/>
            <a:round/>
            <a:headEnd len="sm" w="sm" type="none"/>
            <a:tailEnd len="sm" w="sm" type="none"/>
          </a:ln>
        </p:spPr>
      </p:cxnSp>
      <p:sp>
        <p:nvSpPr>
          <p:cNvPr id="228" name="Google Shape;228;p4"/>
          <p:cNvSpPr txBox="1"/>
          <p:nvPr/>
        </p:nvSpPr>
        <p:spPr>
          <a:xfrm>
            <a:off x="4754880" y="5212080"/>
            <a:ext cx="384048" cy="475488"/>
          </a:xfrm>
          <a:prstGeom prst="rect">
            <a:avLst/>
          </a:prstGeom>
          <a:solidFill>
            <a:srgbClr val="192F7B"/>
          </a:solidFill>
          <a:ln cap="flat" cmpd="sng" w="9525">
            <a:solidFill>
              <a:srgbClr val="192F7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5</a:t>
            </a:r>
            <a:endParaRPr b="0" i="0" sz="1300" u="none" cap="none" strike="noStrike">
              <a:solidFill>
                <a:schemeClr val="dk1"/>
              </a:solidFill>
              <a:latin typeface="Calibri"/>
              <a:ea typeface="Calibri"/>
              <a:cs typeface="Calibri"/>
              <a:sym typeface="Calibri"/>
            </a:endParaRPr>
          </a:p>
        </p:txBody>
      </p:sp>
      <p:sp>
        <p:nvSpPr>
          <p:cNvPr id="229" name="Google Shape;229;p4"/>
          <p:cNvSpPr/>
          <p:nvPr/>
        </p:nvSpPr>
        <p:spPr>
          <a:xfrm>
            <a:off x="5175504" y="5212080"/>
            <a:ext cx="6510528" cy="475488"/>
          </a:xfrm>
          <a:prstGeom prst="rect">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4"/>
          <p:cNvSpPr txBox="1"/>
          <p:nvPr/>
        </p:nvSpPr>
        <p:spPr>
          <a:xfrm>
            <a:off x="5303520" y="5212080"/>
            <a:ext cx="18745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430"/>
              </a:buClr>
              <a:buSzPts val="1350"/>
              <a:buFont typeface="Calibri"/>
              <a:buNone/>
            </a:pPr>
            <a:r>
              <a:rPr b="1" i="0" lang="en-US" sz="1350" u="none" cap="none" strike="noStrike">
                <a:solidFill>
                  <a:srgbClr val="1E2430"/>
                </a:solidFill>
                <a:latin typeface="Calibri"/>
                <a:ea typeface="Calibri"/>
                <a:cs typeface="Calibri"/>
                <a:sym typeface="Calibri"/>
              </a:rPr>
              <a:t>Financial attribution</a:t>
            </a:r>
            <a:endParaRPr b="0" i="0" sz="1350" u="none" cap="none" strike="noStrike">
              <a:solidFill>
                <a:schemeClr val="dk1"/>
              </a:solidFill>
              <a:latin typeface="Calibri"/>
              <a:ea typeface="Calibri"/>
              <a:cs typeface="Calibri"/>
              <a:sym typeface="Calibri"/>
            </a:endParaRPr>
          </a:p>
        </p:txBody>
      </p:sp>
      <p:sp>
        <p:nvSpPr>
          <p:cNvPr id="231" name="Google Shape;231;p4"/>
          <p:cNvSpPr txBox="1"/>
          <p:nvPr/>
        </p:nvSpPr>
        <p:spPr>
          <a:xfrm>
            <a:off x="7223760" y="5212080"/>
            <a:ext cx="28803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3"/>
              </a:buClr>
              <a:buSzPts val="1050"/>
              <a:buFont typeface="Calibri"/>
              <a:buNone/>
            </a:pPr>
            <a:r>
              <a:rPr b="0" i="0" lang="en-US" sz="1050" u="none" cap="none" strike="noStrike">
                <a:solidFill>
                  <a:srgbClr val="5B6573"/>
                </a:solidFill>
                <a:latin typeface="Calibri"/>
                <a:ea typeface="Calibri"/>
                <a:cs typeface="Calibri"/>
                <a:sym typeface="Calibri"/>
              </a:rPr>
              <a:t>Cash only from avoided downtime or avoided repeat failure in cases that pass the gate</a:t>
            </a:r>
            <a:endParaRPr b="0" i="0" sz="1050" u="none" cap="none" strike="noStrike">
              <a:solidFill>
                <a:schemeClr val="dk1"/>
              </a:solidFill>
              <a:latin typeface="Calibri"/>
              <a:ea typeface="Calibri"/>
              <a:cs typeface="Calibri"/>
              <a:sym typeface="Calibri"/>
            </a:endParaRPr>
          </a:p>
        </p:txBody>
      </p:sp>
      <p:sp>
        <p:nvSpPr>
          <p:cNvPr id="232" name="Google Shape;232;p4"/>
          <p:cNvSpPr txBox="1"/>
          <p:nvPr/>
        </p:nvSpPr>
        <p:spPr>
          <a:xfrm>
            <a:off x="10085832" y="5212080"/>
            <a:ext cx="1481328" cy="4754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92F7B"/>
              </a:buClr>
              <a:buSzPts val="1500"/>
              <a:buFont typeface="Calibri"/>
              <a:buNone/>
            </a:pPr>
            <a:r>
              <a:rPr b="1" i="0" lang="en-US" sz="1500" u="none" cap="none" strike="noStrike">
                <a:solidFill>
                  <a:srgbClr val="192F7B"/>
                </a:solidFill>
                <a:latin typeface="Calibri"/>
                <a:ea typeface="Calibri"/>
                <a:cs typeface="Calibri"/>
                <a:sym typeface="Calibri"/>
              </a:rPr>
              <a:t>0 claimed</a:t>
            </a:r>
            <a:endParaRPr b="0" i="0" sz="1500" u="none" cap="none" strike="noStrike">
              <a:solidFill>
                <a:schemeClr val="dk1"/>
              </a:solidFill>
              <a:latin typeface="Calibri"/>
              <a:ea typeface="Calibri"/>
              <a:cs typeface="Calibri"/>
              <a:sym typeface="Calibri"/>
            </a:endParaRPr>
          </a:p>
        </p:txBody>
      </p:sp>
      <p:sp>
        <p:nvSpPr>
          <p:cNvPr id="233" name="Google Shape;233;p4"/>
          <p:cNvSpPr txBox="1"/>
          <p:nvPr/>
        </p:nvSpPr>
        <p:spPr>
          <a:xfrm>
            <a:off x="502920" y="5961888"/>
            <a:ext cx="11183112"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850"/>
              <a:buFont typeface="Calibri"/>
              <a:buNone/>
            </a:pPr>
            <a:r>
              <a:rPr b="0" i="0" lang="en-US" sz="850" u="none" cap="none" strike="noStrike">
                <a:solidFill>
                  <a:srgbClr val="5B6573"/>
                </a:solidFill>
                <a:latin typeface="Calibri"/>
                <a:ea typeface="Calibri"/>
                <a:cs typeface="Calibri"/>
                <a:sym typeface="Calibri"/>
              </a:rPr>
              <a:t>Sources: CALIBER 2026 Case 2 Incident Database; AETHER Gate 3 v1.0 (E31, E35), 933-day basis, 4 Jan 2024 to 25 Jul 2026. No ROI, payback, NPV or savings figure is claimed. Value formula, parameters set only from evidence, and pilot KPIs: Appendix A3.</a:t>
            </a:r>
            <a:endParaRPr b="0" i="0" sz="850" u="none" cap="none" strike="noStrike">
              <a:solidFill>
                <a:schemeClr val="dk1"/>
              </a:solidFill>
              <a:latin typeface="Calibri"/>
              <a:ea typeface="Calibri"/>
              <a:cs typeface="Calibri"/>
              <a:sym typeface="Calibri"/>
            </a:endParaRPr>
          </a:p>
        </p:txBody>
      </p:sp>
      <p:sp>
        <p:nvSpPr>
          <p:cNvPr id="234" name="Google Shape;234;p4"/>
          <p:cNvSpPr txBox="1"/>
          <p:nvPr>
            <p:ph idx="4294967295" type="sldNum"/>
          </p:nvPr>
        </p:nvSpPr>
        <p:spPr>
          <a:xfrm>
            <a:off x="11228832" y="6473952"/>
            <a:ext cx="4572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5B6573"/>
                </a:solidFill>
                <a:latin typeface="Calibri"/>
                <a:ea typeface="Calibri"/>
                <a:cs typeface="Calibri"/>
                <a:sym typeface="Calibri"/>
              </a:rPr>
              <a:t>‹#›</a:t>
            </a:fld>
            <a:endParaRPr b="0" i="0" sz="900" u="none" cap="none" strike="noStrike">
              <a:solidFill>
                <a:srgbClr val="5B6573"/>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5"/>
          <p:cNvSpPr txBox="1"/>
          <p:nvPr/>
        </p:nvSpPr>
        <p:spPr>
          <a:xfrm>
            <a:off x="502920" y="146304"/>
            <a:ext cx="914400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9D3EA"/>
              </a:buClr>
              <a:buSzPts val="1000"/>
              <a:buFont typeface="Calibri"/>
              <a:buNone/>
            </a:pPr>
            <a:r>
              <a:rPr b="1" i="0" lang="en-US" sz="1000" u="none" cap="none" strike="noStrike">
                <a:solidFill>
                  <a:srgbClr val="C9D3EA"/>
                </a:solidFill>
                <a:latin typeface="Calibri"/>
                <a:ea typeface="Calibri"/>
                <a:cs typeface="Calibri"/>
                <a:sym typeface="Calibri"/>
              </a:rPr>
              <a:t>04  FEASIBILITY AND ROADMAP  |  IMPLEMENTATION</a:t>
            </a:r>
            <a:endParaRPr b="0" i="0" sz="1000" u="none" cap="none" strike="noStrike">
              <a:solidFill>
                <a:schemeClr val="dk1"/>
              </a:solidFill>
              <a:latin typeface="Calibri"/>
              <a:ea typeface="Calibri"/>
              <a:cs typeface="Calibri"/>
              <a:sym typeface="Calibri"/>
            </a:endParaRPr>
          </a:p>
        </p:txBody>
      </p:sp>
      <p:cxnSp>
        <p:nvCxnSpPr>
          <p:cNvPr id="241" name="Google Shape;241;p5"/>
          <p:cNvCxnSpPr/>
          <p:nvPr/>
        </p:nvCxnSpPr>
        <p:spPr>
          <a:xfrm>
            <a:off x="502920" y="1554480"/>
            <a:ext cx="11183112" cy="0"/>
          </a:xfrm>
          <a:prstGeom prst="straightConnector1">
            <a:avLst/>
          </a:prstGeom>
          <a:noFill/>
          <a:ln cap="flat" cmpd="sng" w="9525">
            <a:solidFill>
              <a:srgbClr val="D3DAE4"/>
            </a:solidFill>
            <a:prstDash val="solid"/>
            <a:round/>
            <a:headEnd len="sm" w="sm" type="none"/>
            <a:tailEnd len="sm" w="sm" type="none"/>
          </a:ln>
        </p:spPr>
      </p:cxnSp>
      <p:sp>
        <p:nvSpPr>
          <p:cNvPr id="242" name="Google Shape;242;p5"/>
          <p:cNvSpPr txBox="1"/>
          <p:nvPr/>
        </p:nvSpPr>
        <p:spPr>
          <a:xfrm>
            <a:off x="502920" y="1298448"/>
            <a:ext cx="1508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4B2"/>
              </a:buClr>
              <a:buSzPts val="950"/>
              <a:buFont typeface="Calibri"/>
              <a:buNone/>
            </a:pPr>
            <a:r>
              <a:rPr b="0" i="0" lang="en-US" sz="950" u="none" cap="none" strike="noStrike">
                <a:solidFill>
                  <a:srgbClr val="9AA4B2"/>
                </a:solidFill>
                <a:latin typeface="Calibri"/>
                <a:ea typeface="Calibri"/>
                <a:cs typeface="Calibri"/>
                <a:sym typeface="Calibri"/>
              </a:rPr>
              <a:t>01  </a:t>
            </a:r>
            <a:r>
              <a:rPr b="0" i="0" lang="en-US" sz="950" u="none" cap="none" strike="noStrike">
                <a:solidFill>
                  <a:srgbClr val="8A94A3"/>
                </a:solidFill>
                <a:latin typeface="Calibri"/>
                <a:ea typeface="Calibri"/>
                <a:cs typeface="Calibri"/>
                <a:sym typeface="Calibri"/>
              </a:rPr>
              <a:t>PROBLEM</a:t>
            </a:r>
            <a:endParaRPr b="0" i="0" sz="950" u="none" cap="none" strike="noStrike">
              <a:solidFill>
                <a:schemeClr val="dk1"/>
              </a:solidFill>
              <a:latin typeface="Calibri"/>
              <a:ea typeface="Calibri"/>
              <a:cs typeface="Calibri"/>
              <a:sym typeface="Calibri"/>
            </a:endParaRPr>
          </a:p>
        </p:txBody>
      </p:sp>
      <p:sp>
        <p:nvSpPr>
          <p:cNvPr id="243" name="Google Shape;243;p5"/>
          <p:cNvSpPr txBox="1"/>
          <p:nvPr/>
        </p:nvSpPr>
        <p:spPr>
          <a:xfrm>
            <a:off x="2103120" y="1298448"/>
            <a:ext cx="1508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4B2"/>
              </a:buClr>
              <a:buSzPts val="950"/>
              <a:buFont typeface="Calibri"/>
              <a:buNone/>
            </a:pPr>
            <a:r>
              <a:rPr b="0" i="0" lang="en-US" sz="950" u="none" cap="none" strike="noStrike">
                <a:solidFill>
                  <a:srgbClr val="9AA4B2"/>
                </a:solidFill>
                <a:latin typeface="Calibri"/>
                <a:ea typeface="Calibri"/>
                <a:cs typeface="Calibri"/>
                <a:sym typeface="Calibri"/>
              </a:rPr>
              <a:t>02  </a:t>
            </a:r>
            <a:r>
              <a:rPr b="0" i="0" lang="en-US" sz="950" u="none" cap="none" strike="noStrike">
                <a:solidFill>
                  <a:srgbClr val="8A94A3"/>
                </a:solidFill>
                <a:latin typeface="Calibri"/>
                <a:ea typeface="Calibri"/>
                <a:cs typeface="Calibri"/>
                <a:sym typeface="Calibri"/>
              </a:rPr>
              <a:t>SOLUTION</a:t>
            </a:r>
            <a:endParaRPr b="0" i="0" sz="950" u="none" cap="none" strike="noStrike">
              <a:solidFill>
                <a:schemeClr val="dk1"/>
              </a:solidFill>
              <a:latin typeface="Calibri"/>
              <a:ea typeface="Calibri"/>
              <a:cs typeface="Calibri"/>
              <a:sym typeface="Calibri"/>
            </a:endParaRPr>
          </a:p>
        </p:txBody>
      </p:sp>
      <p:sp>
        <p:nvSpPr>
          <p:cNvPr id="244" name="Google Shape;244;p5"/>
          <p:cNvSpPr txBox="1"/>
          <p:nvPr/>
        </p:nvSpPr>
        <p:spPr>
          <a:xfrm>
            <a:off x="3703320" y="1298448"/>
            <a:ext cx="1508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4B2"/>
              </a:buClr>
              <a:buSzPts val="950"/>
              <a:buFont typeface="Calibri"/>
              <a:buNone/>
            </a:pPr>
            <a:r>
              <a:rPr b="0" i="0" lang="en-US" sz="950" u="none" cap="none" strike="noStrike">
                <a:solidFill>
                  <a:srgbClr val="9AA4B2"/>
                </a:solidFill>
                <a:latin typeface="Calibri"/>
                <a:ea typeface="Calibri"/>
                <a:cs typeface="Calibri"/>
                <a:sym typeface="Calibri"/>
              </a:rPr>
              <a:t>03  </a:t>
            </a:r>
            <a:r>
              <a:rPr b="0" i="0" lang="en-US" sz="950" u="none" cap="none" strike="noStrike">
                <a:solidFill>
                  <a:srgbClr val="8A94A3"/>
                </a:solidFill>
                <a:latin typeface="Calibri"/>
                <a:ea typeface="Calibri"/>
                <a:cs typeface="Calibri"/>
                <a:sym typeface="Calibri"/>
              </a:rPr>
              <a:t>IMPACT</a:t>
            </a:r>
            <a:endParaRPr b="0" i="0" sz="950" u="none" cap="none" strike="noStrike">
              <a:solidFill>
                <a:schemeClr val="dk1"/>
              </a:solidFill>
              <a:latin typeface="Calibri"/>
              <a:ea typeface="Calibri"/>
              <a:cs typeface="Calibri"/>
              <a:sym typeface="Calibri"/>
            </a:endParaRPr>
          </a:p>
        </p:txBody>
      </p:sp>
      <p:sp>
        <p:nvSpPr>
          <p:cNvPr id="245" name="Google Shape;245;p5"/>
          <p:cNvSpPr txBox="1"/>
          <p:nvPr/>
        </p:nvSpPr>
        <p:spPr>
          <a:xfrm>
            <a:off x="5303520" y="1298448"/>
            <a:ext cx="1508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92F7B"/>
              </a:buClr>
              <a:buSzPts val="950"/>
              <a:buFont typeface="Calibri"/>
              <a:buNone/>
            </a:pPr>
            <a:r>
              <a:rPr b="1" i="0" lang="en-US" sz="950" u="none" cap="none" strike="noStrike">
                <a:solidFill>
                  <a:srgbClr val="192F7B"/>
                </a:solidFill>
                <a:latin typeface="Calibri"/>
                <a:ea typeface="Calibri"/>
                <a:cs typeface="Calibri"/>
                <a:sym typeface="Calibri"/>
              </a:rPr>
              <a:t>04  FEASIBILITY</a:t>
            </a:r>
            <a:endParaRPr b="0" i="0" sz="950" u="none" cap="none" strike="noStrike">
              <a:solidFill>
                <a:schemeClr val="dk1"/>
              </a:solidFill>
              <a:latin typeface="Calibri"/>
              <a:ea typeface="Calibri"/>
              <a:cs typeface="Calibri"/>
              <a:sym typeface="Calibri"/>
            </a:endParaRPr>
          </a:p>
        </p:txBody>
      </p:sp>
      <p:cxnSp>
        <p:nvCxnSpPr>
          <p:cNvPr id="246" name="Google Shape;246;p5"/>
          <p:cNvCxnSpPr/>
          <p:nvPr/>
        </p:nvCxnSpPr>
        <p:spPr>
          <a:xfrm>
            <a:off x="5303520" y="1554480"/>
            <a:ext cx="1325880" cy="0"/>
          </a:xfrm>
          <a:prstGeom prst="straightConnector1">
            <a:avLst/>
          </a:prstGeom>
          <a:noFill/>
          <a:ln cap="flat" cmpd="sng" w="28575">
            <a:solidFill>
              <a:srgbClr val="192F7B"/>
            </a:solidFill>
            <a:prstDash val="solid"/>
            <a:round/>
            <a:headEnd len="sm" w="sm" type="none"/>
            <a:tailEnd len="sm" w="sm" type="none"/>
          </a:ln>
        </p:spPr>
      </p:cxnSp>
      <p:sp>
        <p:nvSpPr>
          <p:cNvPr id="247" name="Google Shape;247;p5"/>
          <p:cNvSpPr txBox="1"/>
          <p:nvPr/>
        </p:nvSpPr>
        <p:spPr>
          <a:xfrm>
            <a:off x="6903720" y="1298448"/>
            <a:ext cx="1508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4B2"/>
              </a:buClr>
              <a:buSzPts val="950"/>
              <a:buFont typeface="Calibri"/>
              <a:buNone/>
            </a:pPr>
            <a:r>
              <a:rPr b="0" i="0" lang="en-US" sz="950" u="none" cap="none" strike="noStrike">
                <a:solidFill>
                  <a:srgbClr val="9AA4B2"/>
                </a:solidFill>
                <a:latin typeface="Calibri"/>
                <a:ea typeface="Calibri"/>
                <a:cs typeface="Calibri"/>
                <a:sym typeface="Calibri"/>
              </a:rPr>
              <a:t>05  </a:t>
            </a:r>
            <a:r>
              <a:rPr b="0" i="0" lang="en-US" sz="950" u="none" cap="none" strike="noStrike">
                <a:solidFill>
                  <a:srgbClr val="8A94A3"/>
                </a:solidFill>
                <a:latin typeface="Calibri"/>
                <a:ea typeface="Calibri"/>
                <a:cs typeface="Calibri"/>
                <a:sym typeface="Calibri"/>
              </a:rPr>
              <a:t>CONCLUSION</a:t>
            </a:r>
            <a:endParaRPr b="0" i="0" sz="950" u="none" cap="none" strike="noStrike">
              <a:solidFill>
                <a:schemeClr val="dk1"/>
              </a:solidFill>
              <a:latin typeface="Calibri"/>
              <a:ea typeface="Calibri"/>
              <a:cs typeface="Calibri"/>
              <a:sym typeface="Calibri"/>
            </a:endParaRPr>
          </a:p>
        </p:txBody>
      </p:sp>
      <p:sp>
        <p:nvSpPr>
          <p:cNvPr id="248" name="Google Shape;248;p5"/>
          <p:cNvSpPr txBox="1"/>
          <p:nvPr>
            <p:ph type="title"/>
          </p:nvPr>
        </p:nvSpPr>
        <p:spPr>
          <a:xfrm>
            <a:off x="502920" y="384048"/>
            <a:ext cx="11183112" cy="749808"/>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FFFFFF"/>
              </a:buClr>
              <a:buSzPts val="2400"/>
              <a:buFont typeface="Calibri"/>
              <a:buNone/>
            </a:pPr>
            <a:r>
              <a:rPr b="1" lang="en-US" sz="2400">
                <a:solidFill>
                  <a:srgbClr val="FFFFFF"/>
                </a:solidFill>
              </a:rPr>
              <a:t>Read-Only, Human-Verified, Auditable: AETHER Sits Around Existing Plant Systems and Scales Only Through Gates</a:t>
            </a:r>
            <a:endParaRPr sz="2400"/>
          </a:p>
        </p:txBody>
      </p:sp>
      <p:sp>
        <p:nvSpPr>
          <p:cNvPr id="249" name="Google Shape;249;p5"/>
          <p:cNvSpPr txBox="1"/>
          <p:nvPr/>
        </p:nvSpPr>
        <p:spPr>
          <a:xfrm>
            <a:off x="502920" y="1755648"/>
            <a:ext cx="4617720" cy="329184"/>
          </a:xfrm>
          <a:prstGeom prst="rect">
            <a:avLst/>
          </a:prstGeom>
          <a:solidFill>
            <a:srgbClr val="192F7B"/>
          </a:solidFill>
          <a:ln cap="flat" cmpd="sng" w="9525">
            <a:solidFill>
              <a:srgbClr val="192F7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Operating fit around existing plant systems</a:t>
            </a:r>
            <a:endParaRPr b="0" i="0" sz="1200" u="none" cap="none" strike="noStrike">
              <a:solidFill>
                <a:schemeClr val="dk1"/>
              </a:solidFill>
              <a:latin typeface="Calibri"/>
              <a:ea typeface="Calibri"/>
              <a:cs typeface="Calibri"/>
              <a:sym typeface="Calibri"/>
            </a:endParaRPr>
          </a:p>
        </p:txBody>
      </p:sp>
      <p:sp>
        <p:nvSpPr>
          <p:cNvPr id="250" name="Google Shape;250;p5"/>
          <p:cNvSpPr txBox="1"/>
          <p:nvPr/>
        </p:nvSpPr>
        <p:spPr>
          <a:xfrm>
            <a:off x="502920" y="2212848"/>
            <a:ext cx="2606040" cy="548640"/>
          </a:xfrm>
          <a:prstGeom prst="rect">
            <a:avLst/>
          </a:prstGeom>
          <a:solidFill>
            <a:srgbClr val="E9EDF3"/>
          </a:solidFill>
          <a:ln cap="flat" cmpd="sng" w="9525">
            <a:solidFill>
              <a:srgbClr val="E9EDF3"/>
            </a:solidFill>
            <a:prstDash val="solid"/>
            <a:round/>
            <a:headEnd len="sm" w="sm" type="none"/>
            <a:tailEnd len="sm" w="sm" type="none"/>
          </a:ln>
        </p:spPr>
        <p:txBody>
          <a:bodyPr anchorCtr="0" anchor="ctr" bIns="0" lIns="127000" spcFirstLastPara="1" rIns="76200" wrap="square" tIns="0">
            <a:noAutofit/>
          </a:bodyPr>
          <a:lstStyle/>
          <a:p>
            <a:pPr indent="0" lvl="0" marL="0" marR="0" rtl="0" algn="l">
              <a:spcBef>
                <a:spcPts val="0"/>
              </a:spcBef>
              <a:spcAft>
                <a:spcPts val="0"/>
              </a:spcAft>
              <a:buClr>
                <a:srgbClr val="1E2430"/>
              </a:buClr>
              <a:buSzPts val="1300"/>
              <a:buFont typeface="Calibri"/>
              <a:buNone/>
            </a:pPr>
            <a:r>
              <a:rPr b="1" i="0" lang="en-US" sz="1300" u="none" cap="none" strike="noStrike">
                <a:solidFill>
                  <a:srgbClr val="1E2430"/>
                </a:solidFill>
                <a:latin typeface="Calibri"/>
                <a:ea typeface="Calibri"/>
                <a:cs typeface="Calibri"/>
                <a:sym typeface="Calibri"/>
              </a:rPr>
              <a:t>Existing plant systems</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573"/>
              </a:buClr>
              <a:buSzPts val="1000"/>
              <a:buFont typeface="Calibri"/>
              <a:buNone/>
            </a:pPr>
            <a:r>
              <a:rPr b="0" i="0" lang="en-US" sz="1000" u="none" cap="none" strike="noStrike">
                <a:solidFill>
                  <a:srgbClr val="5B6573"/>
                </a:solidFill>
                <a:latin typeface="Calibri"/>
                <a:ea typeface="Calibri"/>
                <a:cs typeface="Calibri"/>
                <a:sym typeface="Calibri"/>
              </a:rPr>
              <a:t>Historian · lab · incident register · RCA / CAPA · CMMS</a:t>
            </a:r>
            <a:endParaRPr b="0" i="0" sz="1300" u="none" cap="none" strike="noStrike">
              <a:solidFill>
                <a:schemeClr val="dk1"/>
              </a:solidFill>
              <a:latin typeface="Calibri"/>
              <a:ea typeface="Calibri"/>
              <a:cs typeface="Calibri"/>
              <a:sym typeface="Calibri"/>
            </a:endParaRPr>
          </a:p>
        </p:txBody>
      </p:sp>
      <p:cxnSp>
        <p:nvCxnSpPr>
          <p:cNvPr id="251" name="Google Shape;251;p5"/>
          <p:cNvCxnSpPr/>
          <p:nvPr/>
        </p:nvCxnSpPr>
        <p:spPr>
          <a:xfrm>
            <a:off x="960120" y="2779776"/>
            <a:ext cx="0" cy="201168"/>
          </a:xfrm>
          <a:prstGeom prst="straightConnector1">
            <a:avLst/>
          </a:prstGeom>
          <a:noFill/>
          <a:ln cap="flat" cmpd="sng" w="19050">
            <a:solidFill>
              <a:srgbClr val="192F7B"/>
            </a:solidFill>
            <a:prstDash val="solid"/>
            <a:round/>
            <a:headEnd len="sm" w="sm" type="none"/>
            <a:tailEnd len="med" w="med" type="triangle"/>
          </a:ln>
        </p:spPr>
      </p:cxnSp>
      <p:sp>
        <p:nvSpPr>
          <p:cNvPr id="252" name="Google Shape;252;p5"/>
          <p:cNvSpPr txBox="1"/>
          <p:nvPr/>
        </p:nvSpPr>
        <p:spPr>
          <a:xfrm>
            <a:off x="1069848" y="2798064"/>
            <a:ext cx="201168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950"/>
              <a:buFont typeface="Calibri"/>
              <a:buNone/>
            </a:pPr>
            <a:r>
              <a:rPr b="0" i="1" lang="en-US" sz="950" u="none" cap="none" strike="noStrike">
                <a:solidFill>
                  <a:srgbClr val="5B6573"/>
                </a:solidFill>
                <a:latin typeface="Calibri"/>
                <a:ea typeface="Calibri"/>
                <a:cs typeface="Calibri"/>
                <a:sym typeface="Calibri"/>
              </a:rPr>
              <a:t>read-only, one way</a:t>
            </a:r>
            <a:endParaRPr b="0" i="0" sz="950" u="none" cap="none" strike="noStrike">
              <a:solidFill>
                <a:schemeClr val="dk1"/>
              </a:solidFill>
              <a:latin typeface="Calibri"/>
              <a:ea typeface="Calibri"/>
              <a:cs typeface="Calibri"/>
              <a:sym typeface="Calibri"/>
            </a:endParaRPr>
          </a:p>
        </p:txBody>
      </p:sp>
      <p:sp>
        <p:nvSpPr>
          <p:cNvPr id="253" name="Google Shape;253;p5"/>
          <p:cNvSpPr txBox="1"/>
          <p:nvPr/>
        </p:nvSpPr>
        <p:spPr>
          <a:xfrm>
            <a:off x="502920" y="2999232"/>
            <a:ext cx="2606040" cy="548640"/>
          </a:xfrm>
          <a:prstGeom prst="rect">
            <a:avLst/>
          </a:prstGeom>
          <a:solidFill>
            <a:srgbClr val="192F7B"/>
          </a:solidFill>
          <a:ln cap="flat" cmpd="sng" w="9525">
            <a:solidFill>
              <a:srgbClr val="192F7B"/>
            </a:solidFill>
            <a:prstDash val="solid"/>
            <a:round/>
            <a:headEnd len="sm" w="sm" type="none"/>
            <a:tailEnd len="sm" w="sm" type="none"/>
          </a:ln>
        </p:spPr>
        <p:txBody>
          <a:bodyPr anchorCtr="0" anchor="ctr" bIns="0" lIns="127000" spcFirstLastPara="1" rIns="7620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AETHER</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9D3EA"/>
              </a:buClr>
              <a:buSzPts val="1000"/>
              <a:buFont typeface="Calibri"/>
              <a:buNone/>
            </a:pPr>
            <a:r>
              <a:rPr b="0" i="0" lang="en-US" sz="1000" u="none" cap="none" strike="noStrike">
                <a:solidFill>
                  <a:srgbClr val="C9D3EA"/>
                </a:solidFill>
                <a:latin typeface="Calibri"/>
                <a:ea typeface="Calibri"/>
                <a:cs typeface="Calibri"/>
                <a:sym typeface="Calibri"/>
              </a:rPr>
              <a:t>Problem Tank · AI indication · action tracking · audit trail</a:t>
            </a:r>
            <a:endParaRPr b="0" i="0" sz="1300" u="none" cap="none" strike="noStrike">
              <a:solidFill>
                <a:schemeClr val="dk1"/>
              </a:solidFill>
              <a:latin typeface="Calibri"/>
              <a:ea typeface="Calibri"/>
              <a:cs typeface="Calibri"/>
              <a:sym typeface="Calibri"/>
            </a:endParaRPr>
          </a:p>
        </p:txBody>
      </p:sp>
      <p:cxnSp>
        <p:nvCxnSpPr>
          <p:cNvPr id="254" name="Google Shape;254;p5"/>
          <p:cNvCxnSpPr/>
          <p:nvPr/>
        </p:nvCxnSpPr>
        <p:spPr>
          <a:xfrm>
            <a:off x="960120" y="3566160"/>
            <a:ext cx="0" cy="201168"/>
          </a:xfrm>
          <a:prstGeom prst="straightConnector1">
            <a:avLst/>
          </a:prstGeom>
          <a:noFill/>
          <a:ln cap="flat" cmpd="sng" w="19050">
            <a:solidFill>
              <a:srgbClr val="192F7B"/>
            </a:solidFill>
            <a:prstDash val="solid"/>
            <a:round/>
            <a:headEnd len="sm" w="sm" type="none"/>
            <a:tailEnd len="med" w="med" type="triangle"/>
          </a:ln>
        </p:spPr>
      </p:cxnSp>
      <p:sp>
        <p:nvSpPr>
          <p:cNvPr id="255" name="Google Shape;255;p5"/>
          <p:cNvSpPr txBox="1"/>
          <p:nvPr/>
        </p:nvSpPr>
        <p:spPr>
          <a:xfrm>
            <a:off x="1069848" y="3584448"/>
            <a:ext cx="201168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950"/>
              <a:buFont typeface="Calibri"/>
              <a:buNone/>
            </a:pPr>
            <a:r>
              <a:rPr b="0" i="1" lang="en-US" sz="950" u="none" cap="none" strike="noStrike">
                <a:solidFill>
                  <a:srgbClr val="5B6573"/>
                </a:solidFill>
                <a:latin typeface="Calibri"/>
                <a:ea typeface="Calibri"/>
                <a:cs typeface="Calibri"/>
                <a:sym typeface="Calibri"/>
              </a:rPr>
              <a:t>evidence, never a command</a:t>
            </a:r>
            <a:endParaRPr b="0" i="0" sz="950" u="none" cap="none" strike="noStrike">
              <a:solidFill>
                <a:schemeClr val="dk1"/>
              </a:solidFill>
              <a:latin typeface="Calibri"/>
              <a:ea typeface="Calibri"/>
              <a:cs typeface="Calibri"/>
              <a:sym typeface="Calibri"/>
            </a:endParaRPr>
          </a:p>
        </p:txBody>
      </p:sp>
      <p:sp>
        <p:nvSpPr>
          <p:cNvPr id="256" name="Google Shape;256;p5"/>
          <p:cNvSpPr txBox="1"/>
          <p:nvPr/>
        </p:nvSpPr>
        <p:spPr>
          <a:xfrm>
            <a:off x="502920" y="3785616"/>
            <a:ext cx="2606040" cy="548640"/>
          </a:xfrm>
          <a:prstGeom prst="rect">
            <a:avLst/>
          </a:prstGeom>
          <a:solidFill>
            <a:srgbClr val="FFFFFF"/>
          </a:solidFill>
          <a:ln cap="flat" cmpd="sng" w="19050">
            <a:solidFill>
              <a:srgbClr val="23845A"/>
            </a:solidFill>
            <a:prstDash val="solid"/>
            <a:round/>
            <a:headEnd len="sm" w="sm" type="none"/>
            <a:tailEnd len="sm" w="sm" type="none"/>
          </a:ln>
        </p:spPr>
        <p:txBody>
          <a:bodyPr anchorCtr="0" anchor="ctr" bIns="0" lIns="127000" spcFirstLastPara="1" rIns="76200" wrap="square" tIns="0">
            <a:noAutofit/>
          </a:bodyPr>
          <a:lstStyle/>
          <a:p>
            <a:pPr indent="0" lvl="0" marL="0" marR="0" rtl="0" algn="l">
              <a:spcBef>
                <a:spcPts val="0"/>
              </a:spcBef>
              <a:spcAft>
                <a:spcPts val="0"/>
              </a:spcAft>
              <a:buClr>
                <a:srgbClr val="23845A"/>
              </a:buClr>
              <a:buSzPts val="1300"/>
              <a:buFont typeface="Calibri"/>
              <a:buNone/>
            </a:pPr>
            <a:r>
              <a:rPr b="1" i="0" lang="en-US" sz="1300" u="none" cap="none" strike="noStrike">
                <a:solidFill>
                  <a:srgbClr val="23845A"/>
                </a:solidFill>
                <a:latin typeface="Calibri"/>
                <a:ea typeface="Calibri"/>
                <a:cs typeface="Calibri"/>
                <a:sym typeface="Calibri"/>
              </a:rPr>
              <a:t>Human decision</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430"/>
              </a:buClr>
              <a:buSzPts val="1000"/>
              <a:buFont typeface="Calibri"/>
              <a:buNone/>
            </a:pPr>
            <a:r>
              <a:rPr b="0" i="0" lang="en-US" sz="1000" u="none" cap="none" strike="noStrike">
                <a:solidFill>
                  <a:srgbClr val="1E2430"/>
                </a:solidFill>
                <a:latin typeface="Calibri"/>
                <a:ea typeface="Calibri"/>
                <a:cs typeface="Calibri"/>
                <a:sym typeface="Calibri"/>
              </a:rPr>
              <a:t>Named role signs off each consequential step</a:t>
            </a:r>
            <a:endParaRPr b="0" i="0" sz="1300" u="none" cap="none" strike="noStrike">
              <a:solidFill>
                <a:schemeClr val="dk1"/>
              </a:solidFill>
              <a:latin typeface="Calibri"/>
              <a:ea typeface="Calibri"/>
              <a:cs typeface="Calibri"/>
              <a:sym typeface="Calibri"/>
            </a:endParaRPr>
          </a:p>
        </p:txBody>
      </p:sp>
      <p:cxnSp>
        <p:nvCxnSpPr>
          <p:cNvPr id="257" name="Google Shape;257;p5"/>
          <p:cNvCxnSpPr/>
          <p:nvPr/>
        </p:nvCxnSpPr>
        <p:spPr>
          <a:xfrm>
            <a:off x="960120" y="4352544"/>
            <a:ext cx="0" cy="201168"/>
          </a:xfrm>
          <a:prstGeom prst="straightConnector1">
            <a:avLst/>
          </a:prstGeom>
          <a:noFill/>
          <a:ln cap="flat" cmpd="sng" w="19050">
            <a:solidFill>
              <a:srgbClr val="192F7B"/>
            </a:solidFill>
            <a:prstDash val="solid"/>
            <a:round/>
            <a:headEnd len="sm" w="sm" type="none"/>
            <a:tailEnd len="med" w="med" type="triangle"/>
          </a:ln>
        </p:spPr>
      </p:cxnSp>
      <p:sp>
        <p:nvSpPr>
          <p:cNvPr id="258" name="Google Shape;258;p5"/>
          <p:cNvSpPr txBox="1"/>
          <p:nvPr/>
        </p:nvSpPr>
        <p:spPr>
          <a:xfrm>
            <a:off x="1069848" y="4370832"/>
            <a:ext cx="201168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950"/>
              <a:buFont typeface="Calibri"/>
              <a:buNone/>
            </a:pPr>
            <a:r>
              <a:rPr b="0" i="1" lang="en-US" sz="950" u="none" cap="none" strike="noStrike">
                <a:solidFill>
                  <a:srgbClr val="5B6573"/>
                </a:solidFill>
                <a:latin typeface="Calibri"/>
                <a:ea typeface="Calibri"/>
                <a:cs typeface="Calibri"/>
                <a:sym typeface="Calibri"/>
              </a:rPr>
              <a:t>decision</a:t>
            </a:r>
            <a:endParaRPr b="0" i="0" sz="950" u="none" cap="none" strike="noStrike">
              <a:solidFill>
                <a:schemeClr val="dk1"/>
              </a:solidFill>
              <a:latin typeface="Calibri"/>
              <a:ea typeface="Calibri"/>
              <a:cs typeface="Calibri"/>
              <a:sym typeface="Calibri"/>
            </a:endParaRPr>
          </a:p>
        </p:txBody>
      </p:sp>
      <p:sp>
        <p:nvSpPr>
          <p:cNvPr id="259" name="Google Shape;259;p5"/>
          <p:cNvSpPr txBox="1"/>
          <p:nvPr/>
        </p:nvSpPr>
        <p:spPr>
          <a:xfrm>
            <a:off x="502920" y="4572000"/>
            <a:ext cx="2606040" cy="548640"/>
          </a:xfrm>
          <a:prstGeom prst="rect">
            <a:avLst/>
          </a:prstGeom>
          <a:solidFill>
            <a:srgbClr val="E9EDF3"/>
          </a:solidFill>
          <a:ln cap="flat" cmpd="sng" w="9525">
            <a:solidFill>
              <a:srgbClr val="E9EDF3"/>
            </a:solidFill>
            <a:prstDash val="solid"/>
            <a:round/>
            <a:headEnd len="sm" w="sm" type="none"/>
            <a:tailEnd len="sm" w="sm" type="none"/>
          </a:ln>
        </p:spPr>
        <p:txBody>
          <a:bodyPr anchorCtr="0" anchor="ctr" bIns="0" lIns="127000" spcFirstLastPara="1" rIns="76200" wrap="square" tIns="0">
            <a:noAutofit/>
          </a:bodyPr>
          <a:lstStyle/>
          <a:p>
            <a:pPr indent="0" lvl="0" marL="0" marR="0" rtl="0" algn="l">
              <a:spcBef>
                <a:spcPts val="0"/>
              </a:spcBef>
              <a:spcAft>
                <a:spcPts val="0"/>
              </a:spcAft>
              <a:buClr>
                <a:srgbClr val="1E2430"/>
              </a:buClr>
              <a:buSzPts val="1300"/>
              <a:buFont typeface="Calibri"/>
              <a:buNone/>
            </a:pPr>
            <a:r>
              <a:rPr b="1" i="0" lang="en-US" sz="1300" u="none" cap="none" strike="noStrike">
                <a:solidFill>
                  <a:srgbClr val="1E2430"/>
                </a:solidFill>
                <a:latin typeface="Calibri"/>
                <a:ea typeface="Calibri"/>
                <a:cs typeface="Calibri"/>
                <a:sym typeface="Calibri"/>
              </a:rPr>
              <a:t>Existing RCA / CAPA process</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573"/>
              </a:buClr>
              <a:buSzPts val="1000"/>
              <a:buFont typeface="Calibri"/>
              <a:buNone/>
            </a:pPr>
            <a:r>
              <a:rPr b="0" i="0" lang="en-US" sz="1000" u="none" cap="none" strike="noStrike">
                <a:solidFill>
                  <a:srgbClr val="5B6573"/>
                </a:solidFill>
                <a:latin typeface="Calibri"/>
                <a:ea typeface="Calibri"/>
                <a:cs typeface="Calibri"/>
                <a:sym typeface="Calibri"/>
              </a:rPr>
              <a:t>Work orders and operating decisions, as today</a:t>
            </a:r>
            <a:endParaRPr b="0" i="0" sz="1300" u="none" cap="none" strike="noStrike">
              <a:solidFill>
                <a:schemeClr val="dk1"/>
              </a:solidFill>
              <a:latin typeface="Calibri"/>
              <a:ea typeface="Calibri"/>
              <a:cs typeface="Calibri"/>
              <a:sym typeface="Calibri"/>
            </a:endParaRPr>
          </a:p>
        </p:txBody>
      </p:sp>
      <p:sp>
        <p:nvSpPr>
          <p:cNvPr id="260" name="Google Shape;260;p5"/>
          <p:cNvSpPr txBox="1"/>
          <p:nvPr/>
        </p:nvSpPr>
        <p:spPr>
          <a:xfrm>
            <a:off x="3794760" y="2999232"/>
            <a:ext cx="1325880" cy="548640"/>
          </a:xfrm>
          <a:prstGeom prst="rect">
            <a:avLst/>
          </a:prstGeom>
          <a:solidFill>
            <a:srgbClr val="FFFFFF"/>
          </a:solidFill>
          <a:ln cap="flat" cmpd="sng" w="12700">
            <a:solidFill>
              <a:srgbClr val="8A94A3"/>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E2430"/>
              </a:buClr>
              <a:buSzPts val="1150"/>
              <a:buFont typeface="Calibri"/>
              <a:buNone/>
            </a:pPr>
            <a:r>
              <a:rPr b="1" i="0" lang="en-US" sz="1150" u="none" cap="none" strike="noStrike">
                <a:solidFill>
                  <a:srgbClr val="1E2430"/>
                </a:solidFill>
                <a:latin typeface="Calibri"/>
                <a:ea typeface="Calibri"/>
                <a:cs typeface="Calibri"/>
                <a:sym typeface="Calibri"/>
              </a:rPr>
              <a:t>DCS / control</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E2430"/>
              </a:buClr>
              <a:buSzPts val="1150"/>
              <a:buFont typeface="Calibri"/>
              <a:buNone/>
            </a:pPr>
            <a:r>
              <a:rPr b="1" i="0" lang="en-US" sz="1150" u="none" cap="none" strike="noStrike">
                <a:solidFill>
                  <a:srgbClr val="1E2430"/>
                </a:solidFill>
                <a:latin typeface="Calibri"/>
                <a:ea typeface="Calibri"/>
                <a:cs typeface="Calibri"/>
                <a:sym typeface="Calibri"/>
              </a:rPr>
              <a:t>systems</a:t>
            </a:r>
            <a:endParaRPr b="0" i="0" sz="1150" u="none" cap="none" strike="noStrike">
              <a:solidFill>
                <a:schemeClr val="dk1"/>
              </a:solidFill>
              <a:latin typeface="Calibri"/>
              <a:ea typeface="Calibri"/>
              <a:cs typeface="Calibri"/>
              <a:sym typeface="Calibri"/>
            </a:endParaRPr>
          </a:p>
        </p:txBody>
      </p:sp>
      <p:cxnSp>
        <p:nvCxnSpPr>
          <p:cNvPr id="261" name="Google Shape;261;p5"/>
          <p:cNvCxnSpPr/>
          <p:nvPr/>
        </p:nvCxnSpPr>
        <p:spPr>
          <a:xfrm>
            <a:off x="3145536" y="3273552"/>
            <a:ext cx="649224" cy="0"/>
          </a:xfrm>
          <a:prstGeom prst="straightConnector1">
            <a:avLst/>
          </a:prstGeom>
          <a:noFill/>
          <a:ln cap="flat" cmpd="sng" w="19050">
            <a:solidFill>
              <a:srgbClr val="B42318"/>
            </a:solidFill>
            <a:prstDash val="dash"/>
            <a:round/>
            <a:headEnd len="sm" w="sm" type="none"/>
            <a:tailEnd len="sm" w="sm" type="none"/>
          </a:ln>
        </p:spPr>
      </p:cxnSp>
      <p:sp>
        <p:nvSpPr>
          <p:cNvPr id="262" name="Google Shape;262;p5"/>
          <p:cNvSpPr txBox="1"/>
          <p:nvPr/>
        </p:nvSpPr>
        <p:spPr>
          <a:xfrm>
            <a:off x="3328416" y="3118104"/>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42318"/>
              </a:buClr>
              <a:buSzPts val="1500"/>
              <a:buFont typeface="Calibri"/>
              <a:buNone/>
            </a:pPr>
            <a:r>
              <a:rPr b="1" i="0" lang="en-US" sz="1500" u="none" cap="none" strike="noStrike">
                <a:solidFill>
                  <a:srgbClr val="B42318"/>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263" name="Google Shape;263;p5"/>
          <p:cNvSpPr txBox="1"/>
          <p:nvPr/>
        </p:nvSpPr>
        <p:spPr>
          <a:xfrm>
            <a:off x="3291840" y="3712464"/>
            <a:ext cx="1828800" cy="1261872"/>
          </a:xfrm>
          <a:prstGeom prst="rect">
            <a:avLst/>
          </a:prstGeom>
          <a:solidFill>
            <a:srgbClr val="FFFFFF"/>
          </a:solidFill>
          <a:ln cap="flat" cmpd="sng" w="15875">
            <a:solidFill>
              <a:srgbClr val="B42318"/>
            </a:solidFill>
            <a:prstDash val="solid"/>
            <a:round/>
            <a:headEnd len="sm" w="sm" type="none"/>
            <a:tailEnd len="sm" w="sm" type="none"/>
          </a:ln>
        </p:spPr>
        <p:txBody>
          <a:bodyPr anchorCtr="0" anchor="t" bIns="76200" lIns="127000" spcFirstLastPara="1" rIns="101600" wrap="square" tIns="101600">
            <a:noAutofit/>
          </a:bodyPr>
          <a:lstStyle/>
          <a:p>
            <a:pPr indent="0" lvl="0" marL="0" marR="0" rtl="0" algn="l">
              <a:spcBef>
                <a:spcPts val="0"/>
              </a:spcBef>
              <a:spcAft>
                <a:spcPts val="0"/>
              </a:spcAft>
              <a:buClr>
                <a:srgbClr val="B42318"/>
              </a:buClr>
              <a:buSzPts val="1300"/>
              <a:buFont typeface="Calibri"/>
              <a:buNone/>
            </a:pPr>
            <a:r>
              <a:rPr b="1" i="0" lang="en-US" sz="1300" u="none" cap="none" strike="noStrike">
                <a:solidFill>
                  <a:srgbClr val="B42318"/>
                </a:solidFill>
                <a:latin typeface="Calibri"/>
                <a:ea typeface="Calibri"/>
                <a:cs typeface="Calibri"/>
                <a:sym typeface="Calibri"/>
              </a:rPr>
              <a:t>NO DCS WRITE PATH</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430"/>
              </a:buClr>
              <a:buSzPts val="1000"/>
              <a:buFont typeface="Calibri"/>
              <a:buNone/>
            </a:pPr>
            <a:r>
              <a:rPr b="0" i="0" lang="en-US" sz="1000" u="none" cap="none" strike="noStrike">
                <a:solidFill>
                  <a:srgbClr val="1E2430"/>
                </a:solidFill>
                <a:latin typeface="Calibri"/>
                <a:ea typeface="Calibri"/>
                <a:cs typeface="Calibri"/>
                <a:sym typeface="Calibri"/>
              </a:rPr>
              <a:t>One-way data flow through defined conduits, aligned with ISA/IEC 62443. AETHER never writes to control systems and never closes an RCA, action or incident by itself.</a:t>
            </a:r>
            <a:endParaRPr b="0" i="0" sz="1300" u="none" cap="none" strike="noStrike">
              <a:solidFill>
                <a:schemeClr val="dk1"/>
              </a:solidFill>
              <a:latin typeface="Calibri"/>
              <a:ea typeface="Calibri"/>
              <a:cs typeface="Calibri"/>
              <a:sym typeface="Calibri"/>
            </a:endParaRPr>
          </a:p>
        </p:txBody>
      </p:sp>
      <p:sp>
        <p:nvSpPr>
          <p:cNvPr id="264" name="Google Shape;264;p5"/>
          <p:cNvSpPr txBox="1"/>
          <p:nvPr/>
        </p:nvSpPr>
        <p:spPr>
          <a:xfrm>
            <a:off x="5486400" y="1755648"/>
            <a:ext cx="6199632" cy="329184"/>
          </a:xfrm>
          <a:prstGeom prst="rect">
            <a:avLst/>
          </a:prstGeom>
          <a:solidFill>
            <a:srgbClr val="192F7B"/>
          </a:solidFill>
          <a:ln cap="flat" cmpd="sng" w="9525">
            <a:solidFill>
              <a:srgbClr val="192F7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Phase-gated roadmap (indicative; durations set at pilot planning)</a:t>
            </a:r>
            <a:endParaRPr b="0" i="0" sz="1200" u="none" cap="none" strike="noStrike">
              <a:solidFill>
                <a:schemeClr val="dk1"/>
              </a:solidFill>
              <a:latin typeface="Calibri"/>
              <a:ea typeface="Calibri"/>
              <a:cs typeface="Calibri"/>
              <a:sym typeface="Calibri"/>
            </a:endParaRPr>
          </a:p>
        </p:txBody>
      </p:sp>
      <p:sp>
        <p:nvSpPr>
          <p:cNvPr id="265" name="Google Shape;265;p5"/>
          <p:cNvSpPr txBox="1"/>
          <p:nvPr/>
        </p:nvSpPr>
        <p:spPr>
          <a:xfrm>
            <a:off x="5486400" y="2194560"/>
            <a:ext cx="1874520" cy="402336"/>
          </a:xfrm>
          <a:prstGeom prst="rect">
            <a:avLst/>
          </a:prstGeom>
          <a:solidFill>
            <a:srgbClr val="192F7B"/>
          </a:solidFill>
          <a:ln cap="flat" cmpd="sng" w="12700">
            <a:solidFill>
              <a:srgbClr val="192F7B"/>
            </a:solidFill>
            <a:prstDash val="solid"/>
            <a:round/>
            <a:headEnd len="sm" w="sm" type="none"/>
            <a:tailEnd len="sm" w="sm" type="none"/>
          </a:ln>
        </p:spPr>
        <p:txBody>
          <a:bodyPr anchorCtr="0" anchor="ctr" bIns="0" lIns="127000" spcFirstLastPara="1" rIns="50800" wrap="square" tIns="0">
            <a:noAutofit/>
          </a:bodyPr>
          <a:lstStyle/>
          <a:p>
            <a:pPr indent="0" lvl="0" marL="0" marR="0" rtl="0" algn="l">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0  Prototype (now)</a:t>
            </a:r>
            <a:endParaRPr b="0" i="0" sz="1150" u="none" cap="none" strike="noStrike">
              <a:solidFill>
                <a:schemeClr val="dk1"/>
              </a:solidFill>
              <a:latin typeface="Calibri"/>
              <a:ea typeface="Calibri"/>
              <a:cs typeface="Calibri"/>
              <a:sym typeface="Calibri"/>
            </a:endParaRPr>
          </a:p>
        </p:txBody>
      </p:sp>
      <p:sp>
        <p:nvSpPr>
          <p:cNvPr id="266" name="Google Shape;266;p5"/>
          <p:cNvSpPr/>
          <p:nvPr/>
        </p:nvSpPr>
        <p:spPr>
          <a:xfrm>
            <a:off x="7452360" y="2304288"/>
            <a:ext cx="182880" cy="182880"/>
          </a:xfrm>
          <a:prstGeom prst="diamond">
            <a:avLst/>
          </a:prstGeom>
          <a:solidFill>
            <a:srgbClr val="23845A"/>
          </a:solidFill>
          <a:ln cap="flat" cmpd="sng" w="12700">
            <a:solidFill>
              <a:srgbClr val="2384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5"/>
          <p:cNvSpPr txBox="1"/>
          <p:nvPr/>
        </p:nvSpPr>
        <p:spPr>
          <a:xfrm>
            <a:off x="7708392" y="2194560"/>
            <a:ext cx="39776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845A"/>
              </a:buClr>
              <a:buSzPts val="1050"/>
              <a:buFont typeface="Calibri"/>
              <a:buNone/>
            </a:pPr>
            <a:r>
              <a:rPr b="1" i="0" lang="en-US" sz="1050" u="none" cap="none" strike="noStrike">
                <a:solidFill>
                  <a:srgbClr val="23845A"/>
                </a:solidFill>
                <a:latin typeface="Calibri"/>
                <a:ea typeface="Calibri"/>
                <a:cs typeface="Calibri"/>
                <a:sym typeface="Calibri"/>
              </a:rPr>
              <a:t>Exit gate: </a:t>
            </a:r>
            <a:r>
              <a:rPr b="0" i="0" lang="en-US" sz="1050" u="none" cap="none" strike="noStrike">
                <a:solidFill>
                  <a:srgbClr val="1E2430"/>
                </a:solidFill>
                <a:latin typeface="Calibri"/>
                <a:ea typeface="Calibri"/>
                <a:cs typeface="Calibri"/>
                <a:sym typeface="Calibri"/>
              </a:rPr>
              <a:t>Plant follows the loop end to end on five hero cases</a:t>
            </a:r>
            <a:endParaRPr b="0" i="0" sz="1050" u="none" cap="none" strike="noStrike">
              <a:solidFill>
                <a:schemeClr val="dk1"/>
              </a:solidFill>
              <a:latin typeface="Calibri"/>
              <a:ea typeface="Calibri"/>
              <a:cs typeface="Calibri"/>
              <a:sym typeface="Calibri"/>
            </a:endParaRPr>
          </a:p>
        </p:txBody>
      </p:sp>
      <p:sp>
        <p:nvSpPr>
          <p:cNvPr id="268" name="Google Shape;268;p5"/>
          <p:cNvSpPr txBox="1"/>
          <p:nvPr/>
        </p:nvSpPr>
        <p:spPr>
          <a:xfrm>
            <a:off x="5943600" y="2670048"/>
            <a:ext cx="1874520" cy="402336"/>
          </a:xfrm>
          <a:prstGeom prst="rect">
            <a:avLst/>
          </a:prstGeom>
          <a:solidFill>
            <a:srgbClr val="FFFFFF"/>
          </a:solidFill>
          <a:ln cap="flat" cmpd="sng" w="12700">
            <a:solidFill>
              <a:srgbClr val="192F7B"/>
            </a:solidFill>
            <a:prstDash val="solid"/>
            <a:round/>
            <a:headEnd len="sm" w="sm" type="none"/>
            <a:tailEnd len="sm" w="sm" type="none"/>
          </a:ln>
        </p:spPr>
        <p:txBody>
          <a:bodyPr anchorCtr="0" anchor="ctr" bIns="0" lIns="127000" spcFirstLastPara="1" rIns="50800" wrap="square" tIns="0">
            <a:noAutofit/>
          </a:bodyPr>
          <a:lstStyle/>
          <a:p>
            <a:pPr indent="0" lvl="0" marL="0" marR="0" rtl="0" algn="l">
              <a:spcBef>
                <a:spcPts val="0"/>
              </a:spcBef>
              <a:spcAft>
                <a:spcPts val="0"/>
              </a:spcAft>
              <a:buClr>
                <a:srgbClr val="192F7B"/>
              </a:buClr>
              <a:buSzPts val="1150"/>
              <a:buFont typeface="Calibri"/>
              <a:buNone/>
            </a:pPr>
            <a:r>
              <a:rPr b="1" i="0" lang="en-US" sz="1150" u="none" cap="none" strike="noStrike">
                <a:solidFill>
                  <a:srgbClr val="192F7B"/>
                </a:solidFill>
                <a:latin typeface="Calibri"/>
                <a:ea typeface="Calibri"/>
                <a:cs typeface="Calibri"/>
                <a:sym typeface="Calibri"/>
              </a:rPr>
              <a:t>1  Visibility</a:t>
            </a:r>
            <a:endParaRPr b="0" i="0" sz="1150" u="none" cap="none" strike="noStrike">
              <a:solidFill>
                <a:schemeClr val="dk1"/>
              </a:solidFill>
              <a:latin typeface="Calibri"/>
              <a:ea typeface="Calibri"/>
              <a:cs typeface="Calibri"/>
              <a:sym typeface="Calibri"/>
            </a:endParaRPr>
          </a:p>
        </p:txBody>
      </p:sp>
      <p:sp>
        <p:nvSpPr>
          <p:cNvPr id="269" name="Google Shape;269;p5"/>
          <p:cNvSpPr/>
          <p:nvPr/>
        </p:nvSpPr>
        <p:spPr>
          <a:xfrm>
            <a:off x="7909560" y="2779776"/>
            <a:ext cx="182880" cy="182880"/>
          </a:xfrm>
          <a:prstGeom prst="diamond">
            <a:avLst/>
          </a:prstGeom>
          <a:solidFill>
            <a:srgbClr val="23845A"/>
          </a:solidFill>
          <a:ln cap="flat" cmpd="sng" w="12700">
            <a:solidFill>
              <a:srgbClr val="2384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5"/>
          <p:cNvSpPr txBox="1"/>
          <p:nvPr/>
        </p:nvSpPr>
        <p:spPr>
          <a:xfrm>
            <a:off x="8165592" y="2670048"/>
            <a:ext cx="35204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845A"/>
              </a:buClr>
              <a:buSzPts val="1050"/>
              <a:buFont typeface="Calibri"/>
              <a:buNone/>
            </a:pPr>
            <a:r>
              <a:rPr b="1" i="0" lang="en-US" sz="1050" u="none" cap="none" strike="noStrike">
                <a:solidFill>
                  <a:srgbClr val="23845A"/>
                </a:solidFill>
                <a:latin typeface="Calibri"/>
                <a:ea typeface="Calibri"/>
                <a:cs typeface="Calibri"/>
                <a:sym typeface="Calibri"/>
              </a:rPr>
              <a:t>Exit gate: </a:t>
            </a:r>
            <a:r>
              <a:rPr b="0" i="0" lang="en-US" sz="1050" u="none" cap="none" strike="noStrike">
                <a:solidFill>
                  <a:srgbClr val="1E2430"/>
                </a:solidFill>
                <a:latin typeface="Calibri"/>
                <a:ea typeface="Calibri"/>
                <a:cs typeface="Calibri"/>
                <a:sym typeface="Calibri"/>
              </a:rPr>
              <a:t>Data-quality report accepted</a:t>
            </a:r>
            <a:endParaRPr b="0" i="0" sz="1050" u="none" cap="none" strike="noStrike">
              <a:solidFill>
                <a:schemeClr val="dk1"/>
              </a:solidFill>
              <a:latin typeface="Calibri"/>
              <a:ea typeface="Calibri"/>
              <a:cs typeface="Calibri"/>
              <a:sym typeface="Calibri"/>
            </a:endParaRPr>
          </a:p>
        </p:txBody>
      </p:sp>
      <p:sp>
        <p:nvSpPr>
          <p:cNvPr id="271" name="Google Shape;271;p5"/>
          <p:cNvSpPr txBox="1"/>
          <p:nvPr/>
        </p:nvSpPr>
        <p:spPr>
          <a:xfrm>
            <a:off x="6400800" y="3145536"/>
            <a:ext cx="1874520" cy="402336"/>
          </a:xfrm>
          <a:prstGeom prst="rect">
            <a:avLst/>
          </a:prstGeom>
          <a:solidFill>
            <a:srgbClr val="FFFFFF"/>
          </a:solidFill>
          <a:ln cap="flat" cmpd="sng" w="12700">
            <a:solidFill>
              <a:srgbClr val="192F7B"/>
            </a:solidFill>
            <a:prstDash val="solid"/>
            <a:round/>
            <a:headEnd len="sm" w="sm" type="none"/>
            <a:tailEnd len="sm" w="sm" type="none"/>
          </a:ln>
        </p:spPr>
        <p:txBody>
          <a:bodyPr anchorCtr="0" anchor="ctr" bIns="0" lIns="127000" spcFirstLastPara="1" rIns="50800" wrap="square" tIns="0">
            <a:noAutofit/>
          </a:bodyPr>
          <a:lstStyle/>
          <a:p>
            <a:pPr indent="0" lvl="0" marL="0" marR="0" rtl="0" algn="l">
              <a:spcBef>
                <a:spcPts val="0"/>
              </a:spcBef>
              <a:spcAft>
                <a:spcPts val="0"/>
              </a:spcAft>
              <a:buClr>
                <a:srgbClr val="192F7B"/>
              </a:buClr>
              <a:buSzPts val="1150"/>
              <a:buFont typeface="Calibri"/>
              <a:buNone/>
            </a:pPr>
            <a:r>
              <a:rPr b="1" i="0" lang="en-US" sz="1150" u="none" cap="none" strike="noStrike">
                <a:solidFill>
                  <a:srgbClr val="192F7B"/>
                </a:solidFill>
                <a:latin typeface="Calibri"/>
                <a:ea typeface="Calibri"/>
                <a:cs typeface="Calibri"/>
                <a:sym typeface="Calibri"/>
              </a:rPr>
              <a:t>2  Decision support</a:t>
            </a:r>
            <a:endParaRPr b="0" i="0" sz="1150" u="none" cap="none" strike="noStrike">
              <a:solidFill>
                <a:schemeClr val="dk1"/>
              </a:solidFill>
              <a:latin typeface="Calibri"/>
              <a:ea typeface="Calibri"/>
              <a:cs typeface="Calibri"/>
              <a:sym typeface="Calibri"/>
            </a:endParaRPr>
          </a:p>
        </p:txBody>
      </p:sp>
      <p:sp>
        <p:nvSpPr>
          <p:cNvPr id="272" name="Google Shape;272;p5"/>
          <p:cNvSpPr/>
          <p:nvPr/>
        </p:nvSpPr>
        <p:spPr>
          <a:xfrm>
            <a:off x="8366760" y="3255264"/>
            <a:ext cx="182880" cy="182880"/>
          </a:xfrm>
          <a:prstGeom prst="diamond">
            <a:avLst/>
          </a:prstGeom>
          <a:solidFill>
            <a:srgbClr val="23845A"/>
          </a:solidFill>
          <a:ln cap="flat" cmpd="sng" w="12700">
            <a:solidFill>
              <a:srgbClr val="2384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5"/>
          <p:cNvSpPr txBox="1"/>
          <p:nvPr/>
        </p:nvSpPr>
        <p:spPr>
          <a:xfrm>
            <a:off x="8622792" y="3145536"/>
            <a:ext cx="30632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845A"/>
              </a:buClr>
              <a:buSzPts val="1050"/>
              <a:buFont typeface="Calibri"/>
              <a:buNone/>
            </a:pPr>
            <a:r>
              <a:rPr b="1" i="0" lang="en-US" sz="1050" u="none" cap="none" strike="noStrike">
                <a:solidFill>
                  <a:srgbClr val="23845A"/>
                </a:solidFill>
                <a:latin typeface="Calibri"/>
                <a:ea typeface="Calibri"/>
                <a:cs typeface="Calibri"/>
                <a:sym typeface="Calibri"/>
              </a:rPr>
              <a:t>Exit gate: </a:t>
            </a:r>
            <a:r>
              <a:rPr b="0" i="0" lang="en-US" sz="1050" u="none" cap="none" strike="noStrike">
                <a:solidFill>
                  <a:srgbClr val="1E2430"/>
                </a:solidFill>
                <a:latin typeface="Calibri"/>
                <a:ea typeface="Calibri"/>
                <a:cs typeface="Calibri"/>
                <a:sym typeface="Calibri"/>
              </a:rPr>
              <a:t>Sign-off log complete; decision-KPI baseline captured</a:t>
            </a:r>
            <a:endParaRPr b="0" i="0" sz="1050" u="none" cap="none" strike="noStrike">
              <a:solidFill>
                <a:schemeClr val="dk1"/>
              </a:solidFill>
              <a:latin typeface="Calibri"/>
              <a:ea typeface="Calibri"/>
              <a:cs typeface="Calibri"/>
              <a:sym typeface="Calibri"/>
            </a:endParaRPr>
          </a:p>
        </p:txBody>
      </p:sp>
      <p:sp>
        <p:nvSpPr>
          <p:cNvPr id="274" name="Google Shape;274;p5"/>
          <p:cNvSpPr txBox="1"/>
          <p:nvPr/>
        </p:nvSpPr>
        <p:spPr>
          <a:xfrm>
            <a:off x="6858000" y="3621024"/>
            <a:ext cx="1874520" cy="402336"/>
          </a:xfrm>
          <a:prstGeom prst="rect">
            <a:avLst/>
          </a:prstGeom>
          <a:solidFill>
            <a:srgbClr val="FFFFFF"/>
          </a:solidFill>
          <a:ln cap="flat" cmpd="sng" w="12700">
            <a:solidFill>
              <a:srgbClr val="192F7B"/>
            </a:solidFill>
            <a:prstDash val="solid"/>
            <a:round/>
            <a:headEnd len="sm" w="sm" type="none"/>
            <a:tailEnd len="sm" w="sm" type="none"/>
          </a:ln>
        </p:spPr>
        <p:txBody>
          <a:bodyPr anchorCtr="0" anchor="ctr" bIns="0" lIns="127000" spcFirstLastPara="1" rIns="50800" wrap="square" tIns="0">
            <a:noAutofit/>
          </a:bodyPr>
          <a:lstStyle/>
          <a:p>
            <a:pPr indent="0" lvl="0" marL="0" marR="0" rtl="0" algn="l">
              <a:spcBef>
                <a:spcPts val="0"/>
              </a:spcBef>
              <a:spcAft>
                <a:spcPts val="0"/>
              </a:spcAft>
              <a:buClr>
                <a:srgbClr val="192F7B"/>
              </a:buClr>
              <a:buSzPts val="1150"/>
              <a:buFont typeface="Calibri"/>
              <a:buNone/>
            </a:pPr>
            <a:r>
              <a:rPr b="1" i="0" lang="en-US" sz="1150" u="none" cap="none" strike="noStrike">
                <a:solidFill>
                  <a:srgbClr val="192F7B"/>
                </a:solidFill>
                <a:latin typeface="Calibri"/>
                <a:ea typeface="Calibri"/>
                <a:cs typeface="Calibri"/>
                <a:sym typeface="Calibri"/>
              </a:rPr>
              <a:t>3  Accountability</a:t>
            </a:r>
            <a:endParaRPr b="0" i="0" sz="1150" u="none" cap="none" strike="noStrike">
              <a:solidFill>
                <a:schemeClr val="dk1"/>
              </a:solidFill>
              <a:latin typeface="Calibri"/>
              <a:ea typeface="Calibri"/>
              <a:cs typeface="Calibri"/>
              <a:sym typeface="Calibri"/>
            </a:endParaRPr>
          </a:p>
        </p:txBody>
      </p:sp>
      <p:sp>
        <p:nvSpPr>
          <p:cNvPr id="275" name="Google Shape;275;p5"/>
          <p:cNvSpPr/>
          <p:nvPr/>
        </p:nvSpPr>
        <p:spPr>
          <a:xfrm>
            <a:off x="8823960" y="3730752"/>
            <a:ext cx="182880" cy="182880"/>
          </a:xfrm>
          <a:prstGeom prst="diamond">
            <a:avLst/>
          </a:prstGeom>
          <a:solidFill>
            <a:srgbClr val="23845A"/>
          </a:solidFill>
          <a:ln cap="flat" cmpd="sng" w="12700">
            <a:solidFill>
              <a:srgbClr val="2384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5"/>
          <p:cNvSpPr txBox="1"/>
          <p:nvPr/>
        </p:nvSpPr>
        <p:spPr>
          <a:xfrm>
            <a:off x="9079992" y="3621024"/>
            <a:ext cx="26060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845A"/>
              </a:buClr>
              <a:buSzPts val="1050"/>
              <a:buFont typeface="Calibri"/>
              <a:buNone/>
            </a:pPr>
            <a:r>
              <a:rPr b="1" i="0" lang="en-US" sz="1050" u="none" cap="none" strike="noStrike">
                <a:solidFill>
                  <a:srgbClr val="23845A"/>
                </a:solidFill>
                <a:latin typeface="Calibri"/>
                <a:ea typeface="Calibri"/>
                <a:cs typeface="Calibri"/>
                <a:sym typeface="Calibri"/>
              </a:rPr>
              <a:t>Exit gate: </a:t>
            </a:r>
            <a:r>
              <a:rPr b="0" i="0" lang="en-US" sz="1050" u="none" cap="none" strike="noStrike">
                <a:solidFill>
                  <a:srgbClr val="1E2430"/>
                </a:solidFill>
                <a:latin typeface="Calibri"/>
                <a:ea typeface="Calibri"/>
                <a:cs typeface="Calibri"/>
                <a:sym typeface="Calibri"/>
              </a:rPr>
              <a:t>Case records with counterfactual and attribution</a:t>
            </a:r>
            <a:endParaRPr b="0" i="0" sz="1050" u="none" cap="none" strike="noStrike">
              <a:solidFill>
                <a:schemeClr val="dk1"/>
              </a:solidFill>
              <a:latin typeface="Calibri"/>
              <a:ea typeface="Calibri"/>
              <a:cs typeface="Calibri"/>
              <a:sym typeface="Calibri"/>
            </a:endParaRPr>
          </a:p>
        </p:txBody>
      </p:sp>
      <p:sp>
        <p:nvSpPr>
          <p:cNvPr id="277" name="Google Shape;277;p5"/>
          <p:cNvSpPr txBox="1"/>
          <p:nvPr/>
        </p:nvSpPr>
        <p:spPr>
          <a:xfrm>
            <a:off x="7315200" y="4096512"/>
            <a:ext cx="1874520" cy="402336"/>
          </a:xfrm>
          <a:prstGeom prst="rect">
            <a:avLst/>
          </a:prstGeom>
          <a:solidFill>
            <a:srgbClr val="FFFFFF"/>
          </a:solidFill>
          <a:ln cap="flat" cmpd="sng" w="12700">
            <a:solidFill>
              <a:srgbClr val="192F7B"/>
            </a:solidFill>
            <a:prstDash val="solid"/>
            <a:round/>
            <a:headEnd len="sm" w="sm" type="none"/>
            <a:tailEnd len="sm" w="sm" type="none"/>
          </a:ln>
        </p:spPr>
        <p:txBody>
          <a:bodyPr anchorCtr="0" anchor="ctr" bIns="0" lIns="127000" spcFirstLastPara="1" rIns="50800" wrap="square" tIns="0">
            <a:noAutofit/>
          </a:bodyPr>
          <a:lstStyle/>
          <a:p>
            <a:pPr indent="0" lvl="0" marL="0" marR="0" rtl="0" algn="l">
              <a:spcBef>
                <a:spcPts val="0"/>
              </a:spcBef>
              <a:spcAft>
                <a:spcPts val="0"/>
              </a:spcAft>
              <a:buClr>
                <a:srgbClr val="192F7B"/>
              </a:buClr>
              <a:buSzPts val="1150"/>
              <a:buFont typeface="Calibri"/>
              <a:buNone/>
            </a:pPr>
            <a:r>
              <a:rPr b="1" i="0" lang="en-US" sz="1150" u="none" cap="none" strike="noStrike">
                <a:solidFill>
                  <a:srgbClr val="192F7B"/>
                </a:solidFill>
                <a:latin typeface="Calibri"/>
                <a:ea typeface="Calibri"/>
                <a:cs typeface="Calibri"/>
                <a:sym typeface="Calibri"/>
              </a:rPr>
              <a:t>4  Learning</a:t>
            </a:r>
            <a:endParaRPr b="0" i="0" sz="1150" u="none" cap="none" strike="noStrike">
              <a:solidFill>
                <a:schemeClr val="dk1"/>
              </a:solidFill>
              <a:latin typeface="Calibri"/>
              <a:ea typeface="Calibri"/>
              <a:cs typeface="Calibri"/>
              <a:sym typeface="Calibri"/>
            </a:endParaRPr>
          </a:p>
        </p:txBody>
      </p:sp>
      <p:sp>
        <p:nvSpPr>
          <p:cNvPr id="278" name="Google Shape;278;p5"/>
          <p:cNvSpPr/>
          <p:nvPr/>
        </p:nvSpPr>
        <p:spPr>
          <a:xfrm>
            <a:off x="9281160" y="4206240"/>
            <a:ext cx="182880" cy="182880"/>
          </a:xfrm>
          <a:prstGeom prst="diamond">
            <a:avLst/>
          </a:prstGeom>
          <a:solidFill>
            <a:srgbClr val="23845A"/>
          </a:solidFill>
          <a:ln cap="flat" cmpd="sng" w="12700">
            <a:solidFill>
              <a:srgbClr val="2384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5"/>
          <p:cNvSpPr txBox="1"/>
          <p:nvPr/>
        </p:nvSpPr>
        <p:spPr>
          <a:xfrm>
            <a:off x="9537192" y="4096512"/>
            <a:ext cx="21488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845A"/>
              </a:buClr>
              <a:buSzPts val="1050"/>
              <a:buFont typeface="Calibri"/>
              <a:buNone/>
            </a:pPr>
            <a:r>
              <a:rPr b="1" i="0" lang="en-US" sz="1050" u="none" cap="none" strike="noStrike">
                <a:solidFill>
                  <a:srgbClr val="23845A"/>
                </a:solidFill>
                <a:latin typeface="Calibri"/>
                <a:ea typeface="Calibri"/>
                <a:cs typeface="Calibri"/>
                <a:sym typeface="Calibri"/>
              </a:rPr>
              <a:t>Exit gate: </a:t>
            </a:r>
            <a:r>
              <a:rPr b="0" i="0" lang="en-US" sz="1050" u="none" cap="none" strike="noStrike">
                <a:solidFill>
                  <a:srgbClr val="1E2430"/>
                </a:solidFill>
                <a:latin typeface="Calibri"/>
                <a:ea typeface="Calibri"/>
                <a:cs typeface="Calibri"/>
                <a:sym typeface="Calibri"/>
              </a:rPr>
              <a:t>New verified RCAs under change control</a:t>
            </a:r>
            <a:endParaRPr b="0" i="0" sz="1050" u="none" cap="none" strike="noStrike">
              <a:solidFill>
                <a:schemeClr val="dk1"/>
              </a:solidFill>
              <a:latin typeface="Calibri"/>
              <a:ea typeface="Calibri"/>
              <a:cs typeface="Calibri"/>
              <a:sym typeface="Calibri"/>
            </a:endParaRPr>
          </a:p>
        </p:txBody>
      </p:sp>
      <p:sp>
        <p:nvSpPr>
          <p:cNvPr id="280" name="Google Shape;280;p5"/>
          <p:cNvSpPr txBox="1"/>
          <p:nvPr/>
        </p:nvSpPr>
        <p:spPr>
          <a:xfrm>
            <a:off x="7772400" y="4572000"/>
            <a:ext cx="1874520" cy="402336"/>
          </a:xfrm>
          <a:prstGeom prst="rect">
            <a:avLst/>
          </a:prstGeom>
          <a:solidFill>
            <a:srgbClr val="FFFFFF"/>
          </a:solidFill>
          <a:ln cap="flat" cmpd="sng" w="12700">
            <a:solidFill>
              <a:srgbClr val="192F7B"/>
            </a:solidFill>
            <a:prstDash val="solid"/>
            <a:round/>
            <a:headEnd len="sm" w="sm" type="none"/>
            <a:tailEnd len="sm" w="sm" type="none"/>
          </a:ln>
        </p:spPr>
        <p:txBody>
          <a:bodyPr anchorCtr="0" anchor="ctr" bIns="0" lIns="127000" spcFirstLastPara="1" rIns="50800" wrap="square" tIns="0">
            <a:noAutofit/>
          </a:bodyPr>
          <a:lstStyle/>
          <a:p>
            <a:pPr indent="0" lvl="0" marL="0" marR="0" rtl="0" algn="l">
              <a:spcBef>
                <a:spcPts val="0"/>
              </a:spcBef>
              <a:spcAft>
                <a:spcPts val="0"/>
              </a:spcAft>
              <a:buClr>
                <a:srgbClr val="192F7B"/>
              </a:buClr>
              <a:buSzPts val="1150"/>
              <a:buFont typeface="Calibri"/>
              <a:buNone/>
            </a:pPr>
            <a:r>
              <a:rPr b="1" i="0" lang="en-US" sz="1150" u="none" cap="none" strike="noStrike">
                <a:solidFill>
                  <a:srgbClr val="192F7B"/>
                </a:solidFill>
                <a:latin typeface="Calibri"/>
                <a:ea typeface="Calibri"/>
                <a:cs typeface="Calibri"/>
                <a:sym typeface="Calibri"/>
              </a:rPr>
              <a:t>5  Scale</a:t>
            </a:r>
            <a:endParaRPr b="0" i="0" sz="1150" u="none" cap="none" strike="noStrike">
              <a:solidFill>
                <a:schemeClr val="dk1"/>
              </a:solidFill>
              <a:latin typeface="Calibri"/>
              <a:ea typeface="Calibri"/>
              <a:cs typeface="Calibri"/>
              <a:sym typeface="Calibri"/>
            </a:endParaRPr>
          </a:p>
        </p:txBody>
      </p:sp>
      <p:sp>
        <p:nvSpPr>
          <p:cNvPr id="281" name="Google Shape;281;p5"/>
          <p:cNvSpPr/>
          <p:nvPr/>
        </p:nvSpPr>
        <p:spPr>
          <a:xfrm>
            <a:off x="9738360" y="4681728"/>
            <a:ext cx="182880" cy="182880"/>
          </a:xfrm>
          <a:prstGeom prst="diamond">
            <a:avLst/>
          </a:prstGeom>
          <a:solidFill>
            <a:srgbClr val="23845A"/>
          </a:solidFill>
          <a:ln cap="flat" cmpd="sng" w="12700">
            <a:solidFill>
              <a:srgbClr val="2384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5"/>
          <p:cNvSpPr txBox="1"/>
          <p:nvPr/>
        </p:nvSpPr>
        <p:spPr>
          <a:xfrm>
            <a:off x="9994392" y="4572000"/>
            <a:ext cx="16916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845A"/>
              </a:buClr>
              <a:buSzPts val="1050"/>
              <a:buFont typeface="Calibri"/>
              <a:buNone/>
            </a:pPr>
            <a:r>
              <a:rPr b="1" i="0" lang="en-US" sz="1050" u="none" cap="none" strike="noStrike">
                <a:solidFill>
                  <a:srgbClr val="23845A"/>
                </a:solidFill>
                <a:latin typeface="Calibri"/>
                <a:ea typeface="Calibri"/>
                <a:cs typeface="Calibri"/>
                <a:sym typeface="Calibri"/>
              </a:rPr>
              <a:t>Exit gate: </a:t>
            </a:r>
            <a:r>
              <a:rPr b="0" i="0" lang="en-US" sz="1050" u="none" cap="none" strike="noStrike">
                <a:solidFill>
                  <a:srgbClr val="1E2430"/>
                </a:solidFill>
                <a:latin typeface="Calibri"/>
                <a:ea typeface="Calibri"/>
                <a:cs typeface="Calibri"/>
                <a:sym typeface="Calibri"/>
              </a:rPr>
              <a:t>Validated pilot results and real cost</a:t>
            </a:r>
            <a:endParaRPr b="0" i="0" sz="1050" u="none" cap="none" strike="noStrike">
              <a:solidFill>
                <a:schemeClr val="dk1"/>
              </a:solidFill>
              <a:latin typeface="Calibri"/>
              <a:ea typeface="Calibri"/>
              <a:cs typeface="Calibri"/>
              <a:sym typeface="Calibri"/>
            </a:endParaRPr>
          </a:p>
        </p:txBody>
      </p:sp>
      <p:cxnSp>
        <p:nvCxnSpPr>
          <p:cNvPr id="283" name="Google Shape;283;p5"/>
          <p:cNvCxnSpPr/>
          <p:nvPr/>
        </p:nvCxnSpPr>
        <p:spPr>
          <a:xfrm>
            <a:off x="502920" y="5257800"/>
            <a:ext cx="1749552" cy="0"/>
          </a:xfrm>
          <a:prstGeom prst="straightConnector1">
            <a:avLst/>
          </a:prstGeom>
          <a:noFill/>
          <a:ln cap="flat" cmpd="sng" w="19050">
            <a:solidFill>
              <a:srgbClr val="192F7B"/>
            </a:solidFill>
            <a:prstDash val="solid"/>
            <a:round/>
            <a:headEnd len="sm" w="sm" type="none"/>
            <a:tailEnd len="sm" w="sm" type="none"/>
          </a:ln>
        </p:spPr>
      </p:cxnSp>
      <p:sp>
        <p:nvSpPr>
          <p:cNvPr id="284" name="Google Shape;284;p5"/>
          <p:cNvSpPr txBox="1"/>
          <p:nvPr/>
        </p:nvSpPr>
        <p:spPr>
          <a:xfrm>
            <a:off x="502920" y="5321808"/>
            <a:ext cx="1749552" cy="60350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92F7B"/>
              </a:buClr>
              <a:buSzPts val="950"/>
              <a:buFont typeface="Calibri"/>
              <a:buNone/>
            </a:pPr>
            <a:r>
              <a:rPr b="1" i="0" lang="en-US" sz="950" u="none" cap="none" strike="noStrike">
                <a:solidFill>
                  <a:srgbClr val="192F7B"/>
                </a:solidFill>
                <a:latin typeface="Calibri"/>
                <a:ea typeface="Calibri"/>
                <a:cs typeface="Calibri"/>
                <a:sym typeface="Calibri"/>
              </a:rPr>
              <a:t>TECHNICAL</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430"/>
              </a:buClr>
              <a:buSzPts val="1050"/>
              <a:buFont typeface="Calibri"/>
              <a:buNone/>
            </a:pPr>
            <a:r>
              <a:rPr b="0" i="0" lang="en-US" sz="1050" u="none" cap="none" strike="noStrike">
                <a:solidFill>
                  <a:srgbClr val="1E2430"/>
                </a:solidFill>
                <a:latin typeface="Calibri"/>
                <a:ea typeface="Calibri"/>
                <a:cs typeface="Calibri"/>
                <a:sym typeface="Calibri"/>
              </a:rPr>
              <a:t>Read-only feeds later; prototype runs on case data</a:t>
            </a:r>
            <a:endParaRPr b="0" i="0" sz="950" u="none" cap="none" strike="noStrike">
              <a:solidFill>
                <a:schemeClr val="dk1"/>
              </a:solidFill>
              <a:latin typeface="Calibri"/>
              <a:ea typeface="Calibri"/>
              <a:cs typeface="Calibri"/>
              <a:sym typeface="Calibri"/>
            </a:endParaRPr>
          </a:p>
        </p:txBody>
      </p:sp>
      <p:cxnSp>
        <p:nvCxnSpPr>
          <p:cNvPr id="285" name="Google Shape;285;p5"/>
          <p:cNvCxnSpPr/>
          <p:nvPr/>
        </p:nvCxnSpPr>
        <p:spPr>
          <a:xfrm>
            <a:off x="2389632" y="5257800"/>
            <a:ext cx="1749552" cy="0"/>
          </a:xfrm>
          <a:prstGeom prst="straightConnector1">
            <a:avLst/>
          </a:prstGeom>
          <a:noFill/>
          <a:ln cap="flat" cmpd="sng" w="19050">
            <a:solidFill>
              <a:srgbClr val="192F7B"/>
            </a:solidFill>
            <a:prstDash val="solid"/>
            <a:round/>
            <a:headEnd len="sm" w="sm" type="none"/>
            <a:tailEnd len="sm" w="sm" type="none"/>
          </a:ln>
        </p:spPr>
      </p:cxnSp>
      <p:sp>
        <p:nvSpPr>
          <p:cNvPr id="286" name="Google Shape;286;p5"/>
          <p:cNvSpPr txBox="1"/>
          <p:nvPr/>
        </p:nvSpPr>
        <p:spPr>
          <a:xfrm>
            <a:off x="2389632" y="5321808"/>
            <a:ext cx="1749552" cy="60350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92F7B"/>
              </a:buClr>
              <a:buSzPts val="950"/>
              <a:buFont typeface="Calibri"/>
              <a:buNone/>
            </a:pPr>
            <a:r>
              <a:rPr b="1" i="0" lang="en-US" sz="950" u="none" cap="none" strike="noStrike">
                <a:solidFill>
                  <a:srgbClr val="192F7B"/>
                </a:solidFill>
                <a:latin typeface="Calibri"/>
                <a:ea typeface="Calibri"/>
                <a:cs typeface="Calibri"/>
                <a:sym typeface="Calibri"/>
              </a:rPr>
              <a:t>OPERATIONAL</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430"/>
              </a:buClr>
              <a:buSzPts val="1050"/>
              <a:buFont typeface="Calibri"/>
              <a:buNone/>
            </a:pPr>
            <a:r>
              <a:rPr b="0" i="0" lang="en-US" sz="1050" u="none" cap="none" strike="noStrike">
                <a:solidFill>
                  <a:srgbClr val="1E2430"/>
                </a:solidFill>
                <a:latin typeface="Calibri"/>
                <a:ea typeface="Calibri"/>
                <a:cs typeface="Calibri"/>
                <a:sym typeface="Calibri"/>
              </a:rPr>
              <a:t>Fits the existing RCA / CAPA and review cadence</a:t>
            </a:r>
            <a:endParaRPr b="0" i="0" sz="950" u="none" cap="none" strike="noStrike">
              <a:solidFill>
                <a:schemeClr val="dk1"/>
              </a:solidFill>
              <a:latin typeface="Calibri"/>
              <a:ea typeface="Calibri"/>
              <a:cs typeface="Calibri"/>
              <a:sym typeface="Calibri"/>
            </a:endParaRPr>
          </a:p>
        </p:txBody>
      </p:sp>
      <p:cxnSp>
        <p:nvCxnSpPr>
          <p:cNvPr id="287" name="Google Shape;287;p5"/>
          <p:cNvCxnSpPr/>
          <p:nvPr/>
        </p:nvCxnSpPr>
        <p:spPr>
          <a:xfrm>
            <a:off x="4276344" y="5257800"/>
            <a:ext cx="1749552" cy="0"/>
          </a:xfrm>
          <a:prstGeom prst="straightConnector1">
            <a:avLst/>
          </a:prstGeom>
          <a:noFill/>
          <a:ln cap="flat" cmpd="sng" w="19050">
            <a:solidFill>
              <a:srgbClr val="192F7B"/>
            </a:solidFill>
            <a:prstDash val="solid"/>
            <a:round/>
            <a:headEnd len="sm" w="sm" type="none"/>
            <a:tailEnd len="sm" w="sm" type="none"/>
          </a:ln>
        </p:spPr>
      </p:cxnSp>
      <p:sp>
        <p:nvSpPr>
          <p:cNvPr id="288" name="Google Shape;288;p5"/>
          <p:cNvSpPr txBox="1"/>
          <p:nvPr/>
        </p:nvSpPr>
        <p:spPr>
          <a:xfrm>
            <a:off x="4276344" y="5321808"/>
            <a:ext cx="1749552" cy="60350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92F7B"/>
              </a:buClr>
              <a:buSzPts val="950"/>
              <a:buFont typeface="Calibri"/>
              <a:buNone/>
            </a:pPr>
            <a:r>
              <a:rPr b="1" i="0" lang="en-US" sz="950" u="none" cap="none" strike="noStrike">
                <a:solidFill>
                  <a:srgbClr val="192F7B"/>
                </a:solidFill>
                <a:latin typeface="Calibri"/>
                <a:ea typeface="Calibri"/>
                <a:cs typeface="Calibri"/>
                <a:sym typeface="Calibri"/>
              </a:rPr>
              <a:t>ORGANIZATIONAL</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430"/>
              </a:buClr>
              <a:buSzPts val="1050"/>
              <a:buFont typeface="Calibri"/>
              <a:buNone/>
            </a:pPr>
            <a:r>
              <a:rPr b="0" i="0" lang="en-US" sz="1050" u="none" cap="none" strike="noStrike">
                <a:solidFill>
                  <a:srgbClr val="1E2430"/>
                </a:solidFill>
                <a:latin typeface="Calibri"/>
                <a:ea typeface="Calibri"/>
                <a:cs typeface="Calibri"/>
                <a:sym typeface="Calibri"/>
              </a:rPr>
              <a:t>Named roles; 10 sign-off points; verifier ≠ owner</a:t>
            </a:r>
            <a:endParaRPr b="0" i="0" sz="950" u="none" cap="none" strike="noStrike">
              <a:solidFill>
                <a:schemeClr val="dk1"/>
              </a:solidFill>
              <a:latin typeface="Calibri"/>
              <a:ea typeface="Calibri"/>
              <a:cs typeface="Calibri"/>
              <a:sym typeface="Calibri"/>
            </a:endParaRPr>
          </a:p>
        </p:txBody>
      </p:sp>
      <p:cxnSp>
        <p:nvCxnSpPr>
          <p:cNvPr id="289" name="Google Shape;289;p5"/>
          <p:cNvCxnSpPr/>
          <p:nvPr/>
        </p:nvCxnSpPr>
        <p:spPr>
          <a:xfrm>
            <a:off x="6163056" y="5257800"/>
            <a:ext cx="1749552" cy="0"/>
          </a:xfrm>
          <a:prstGeom prst="straightConnector1">
            <a:avLst/>
          </a:prstGeom>
          <a:noFill/>
          <a:ln cap="flat" cmpd="sng" w="19050">
            <a:solidFill>
              <a:srgbClr val="192F7B"/>
            </a:solidFill>
            <a:prstDash val="solid"/>
            <a:round/>
            <a:headEnd len="sm" w="sm" type="none"/>
            <a:tailEnd len="sm" w="sm" type="none"/>
          </a:ln>
        </p:spPr>
      </p:cxnSp>
      <p:sp>
        <p:nvSpPr>
          <p:cNvPr id="290" name="Google Shape;290;p5"/>
          <p:cNvSpPr txBox="1"/>
          <p:nvPr/>
        </p:nvSpPr>
        <p:spPr>
          <a:xfrm>
            <a:off x="6163056" y="5321808"/>
            <a:ext cx="1749552" cy="60350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92F7B"/>
              </a:buClr>
              <a:buSzPts val="950"/>
              <a:buFont typeface="Calibri"/>
              <a:buNone/>
            </a:pPr>
            <a:r>
              <a:rPr b="1" i="0" lang="en-US" sz="950" u="none" cap="none" strike="noStrike">
                <a:solidFill>
                  <a:srgbClr val="192F7B"/>
                </a:solidFill>
                <a:latin typeface="Calibri"/>
                <a:ea typeface="Calibri"/>
                <a:cs typeface="Calibri"/>
                <a:sym typeface="Calibri"/>
              </a:rPr>
              <a:t>CYBERSECURITY</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430"/>
              </a:buClr>
              <a:buSzPts val="1050"/>
              <a:buFont typeface="Calibri"/>
              <a:buNone/>
            </a:pPr>
            <a:r>
              <a:rPr b="0" i="0" lang="en-US" sz="1050" u="none" cap="none" strike="noStrike">
                <a:solidFill>
                  <a:srgbClr val="1E2430"/>
                </a:solidFill>
                <a:latin typeface="Calibri"/>
                <a:ea typeface="Calibri"/>
                <a:cs typeface="Calibri"/>
                <a:sym typeface="Calibri"/>
              </a:rPr>
              <a:t>No write path; one-way flow, aligned with ISA/IEC 62443</a:t>
            </a:r>
            <a:endParaRPr b="0" i="0" sz="950" u="none" cap="none" strike="noStrike">
              <a:solidFill>
                <a:schemeClr val="dk1"/>
              </a:solidFill>
              <a:latin typeface="Calibri"/>
              <a:ea typeface="Calibri"/>
              <a:cs typeface="Calibri"/>
              <a:sym typeface="Calibri"/>
            </a:endParaRPr>
          </a:p>
        </p:txBody>
      </p:sp>
      <p:cxnSp>
        <p:nvCxnSpPr>
          <p:cNvPr id="291" name="Google Shape;291;p5"/>
          <p:cNvCxnSpPr/>
          <p:nvPr/>
        </p:nvCxnSpPr>
        <p:spPr>
          <a:xfrm>
            <a:off x="8049768" y="5257800"/>
            <a:ext cx="1749552" cy="0"/>
          </a:xfrm>
          <a:prstGeom prst="straightConnector1">
            <a:avLst/>
          </a:prstGeom>
          <a:noFill/>
          <a:ln cap="flat" cmpd="sng" w="19050">
            <a:solidFill>
              <a:srgbClr val="192F7B"/>
            </a:solidFill>
            <a:prstDash val="solid"/>
            <a:round/>
            <a:headEnd len="sm" w="sm" type="none"/>
            <a:tailEnd len="sm" w="sm" type="none"/>
          </a:ln>
        </p:spPr>
      </p:cxnSp>
      <p:sp>
        <p:nvSpPr>
          <p:cNvPr id="292" name="Google Shape;292;p5"/>
          <p:cNvSpPr txBox="1"/>
          <p:nvPr/>
        </p:nvSpPr>
        <p:spPr>
          <a:xfrm>
            <a:off x="8049768" y="5321808"/>
            <a:ext cx="1749552" cy="60350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92F7B"/>
              </a:buClr>
              <a:buSzPts val="950"/>
              <a:buFont typeface="Calibri"/>
              <a:buNone/>
            </a:pPr>
            <a:r>
              <a:rPr b="1" i="0" lang="en-US" sz="950" u="none" cap="none" strike="noStrike">
                <a:solidFill>
                  <a:srgbClr val="192F7B"/>
                </a:solidFill>
                <a:latin typeface="Calibri"/>
                <a:ea typeface="Calibri"/>
                <a:cs typeface="Calibri"/>
                <a:sym typeface="Calibri"/>
              </a:rPr>
              <a:t>DATA GOVERNANCE</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430"/>
              </a:buClr>
              <a:buSzPts val="1050"/>
              <a:buFont typeface="Calibri"/>
              <a:buNone/>
            </a:pPr>
            <a:r>
              <a:rPr b="0" i="0" lang="en-US" sz="1050" u="none" cap="none" strike="noStrike">
                <a:solidFill>
                  <a:srgbClr val="1E2430"/>
                </a:solidFill>
                <a:latin typeface="Calibri"/>
                <a:ea typeface="Calibri"/>
                <a:cs typeface="Calibri"/>
                <a:sym typeface="Calibri"/>
              </a:rPr>
              <a:t>Steward per source; append-only audit trail</a:t>
            </a:r>
            <a:endParaRPr b="0" i="0" sz="950" u="none" cap="none" strike="noStrike">
              <a:solidFill>
                <a:schemeClr val="dk1"/>
              </a:solidFill>
              <a:latin typeface="Calibri"/>
              <a:ea typeface="Calibri"/>
              <a:cs typeface="Calibri"/>
              <a:sym typeface="Calibri"/>
            </a:endParaRPr>
          </a:p>
        </p:txBody>
      </p:sp>
      <p:cxnSp>
        <p:nvCxnSpPr>
          <p:cNvPr id="293" name="Google Shape;293;p5"/>
          <p:cNvCxnSpPr/>
          <p:nvPr/>
        </p:nvCxnSpPr>
        <p:spPr>
          <a:xfrm>
            <a:off x="9936480" y="5257800"/>
            <a:ext cx="1749552" cy="0"/>
          </a:xfrm>
          <a:prstGeom prst="straightConnector1">
            <a:avLst/>
          </a:prstGeom>
          <a:noFill/>
          <a:ln cap="flat" cmpd="sng" w="19050">
            <a:solidFill>
              <a:srgbClr val="192F7B"/>
            </a:solidFill>
            <a:prstDash val="solid"/>
            <a:round/>
            <a:headEnd len="sm" w="sm" type="none"/>
            <a:tailEnd len="sm" w="sm" type="none"/>
          </a:ln>
        </p:spPr>
      </p:cxnSp>
      <p:sp>
        <p:nvSpPr>
          <p:cNvPr id="294" name="Google Shape;294;p5"/>
          <p:cNvSpPr txBox="1"/>
          <p:nvPr/>
        </p:nvSpPr>
        <p:spPr>
          <a:xfrm>
            <a:off x="9936480" y="5321808"/>
            <a:ext cx="1749552" cy="60350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92F7B"/>
              </a:buClr>
              <a:buSzPts val="950"/>
              <a:buFont typeface="Calibri"/>
              <a:buNone/>
            </a:pPr>
            <a:r>
              <a:rPr b="1" i="0" lang="en-US" sz="950" u="none" cap="none" strike="noStrike">
                <a:solidFill>
                  <a:srgbClr val="192F7B"/>
                </a:solidFill>
                <a:latin typeface="Calibri"/>
                <a:ea typeface="Calibri"/>
                <a:cs typeface="Calibri"/>
                <a:sym typeface="Calibri"/>
              </a:rPr>
              <a:t>LEGAL (TO CONFIRM)</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430"/>
              </a:buClr>
              <a:buSzPts val="1050"/>
              <a:buFont typeface="Calibri"/>
              <a:buNone/>
            </a:pPr>
            <a:r>
              <a:rPr b="0" i="0" lang="en-US" sz="1050" u="none" cap="none" strike="noStrike">
                <a:solidFill>
                  <a:srgbClr val="1E2430"/>
                </a:solidFill>
                <a:latin typeface="Calibri"/>
                <a:ea typeface="Calibri"/>
                <a:cs typeface="Calibri"/>
                <a:sym typeface="Calibri"/>
              </a:rPr>
              <a:t>Role codes in decision logs; UU 27/2022 (PDP Law)</a:t>
            </a:r>
            <a:endParaRPr b="0" i="0" sz="950" u="none" cap="none" strike="noStrike">
              <a:solidFill>
                <a:schemeClr val="dk1"/>
              </a:solidFill>
              <a:latin typeface="Calibri"/>
              <a:ea typeface="Calibri"/>
              <a:cs typeface="Calibri"/>
              <a:sym typeface="Calibri"/>
            </a:endParaRPr>
          </a:p>
        </p:txBody>
      </p:sp>
      <p:sp>
        <p:nvSpPr>
          <p:cNvPr id="295" name="Google Shape;295;p5"/>
          <p:cNvSpPr txBox="1"/>
          <p:nvPr/>
        </p:nvSpPr>
        <p:spPr>
          <a:xfrm>
            <a:off x="502920" y="5961888"/>
            <a:ext cx="11183112"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850"/>
              <a:buFont typeface="Calibri"/>
              <a:buNone/>
            </a:pPr>
            <a:r>
              <a:rPr b="0" i="0" lang="en-US" sz="850" u="none" cap="none" strike="noStrike">
                <a:solidFill>
                  <a:srgbClr val="5B6573"/>
                </a:solidFill>
                <a:latin typeface="Calibri"/>
                <a:ea typeface="Calibri"/>
                <a:cs typeface="Calibri"/>
                <a:sym typeface="Calibri"/>
              </a:rPr>
              <a:t>Design per AETHER Gate 4 v1.0 and Gate 3 v1.0 roadmap [PROPOSED]; integrations are [FUTURE INTEGRATION], not existing. References: NIST SP 800-82 Rev. 3; ISA/IEC 62443 zones and conduits (alignment, not a compliance claim); Law No. 27/2022 on Personal Data Protection (legal line to be confirmed). Phase scope: Appendix A5.</a:t>
            </a:r>
            <a:endParaRPr b="0" i="0" sz="850" u="none" cap="none" strike="noStrike">
              <a:solidFill>
                <a:schemeClr val="dk1"/>
              </a:solidFill>
              <a:latin typeface="Calibri"/>
              <a:ea typeface="Calibri"/>
              <a:cs typeface="Calibri"/>
              <a:sym typeface="Calibri"/>
            </a:endParaRPr>
          </a:p>
        </p:txBody>
      </p:sp>
      <p:sp>
        <p:nvSpPr>
          <p:cNvPr id="296" name="Google Shape;296;p5"/>
          <p:cNvSpPr txBox="1"/>
          <p:nvPr>
            <p:ph idx="4294967295" type="sldNum"/>
          </p:nvPr>
        </p:nvSpPr>
        <p:spPr>
          <a:xfrm>
            <a:off x="11228832" y="6473952"/>
            <a:ext cx="4572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5B6573"/>
                </a:solidFill>
                <a:latin typeface="Calibri"/>
                <a:ea typeface="Calibri"/>
                <a:cs typeface="Calibri"/>
                <a:sym typeface="Calibri"/>
              </a:rPr>
              <a:t>‹#›</a:t>
            </a:fld>
            <a:endParaRPr b="0" i="0" sz="900" u="none" cap="none" strike="noStrike">
              <a:solidFill>
                <a:srgbClr val="5B6573"/>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6"/>
          <p:cNvSpPr txBox="1"/>
          <p:nvPr/>
        </p:nvSpPr>
        <p:spPr>
          <a:xfrm>
            <a:off x="502920" y="146304"/>
            <a:ext cx="914400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9D3EA"/>
              </a:buClr>
              <a:buSzPts val="1000"/>
              <a:buFont typeface="Calibri"/>
              <a:buNone/>
            </a:pPr>
            <a:r>
              <a:rPr b="1" i="0" lang="en-US" sz="1000" u="none" cap="none" strike="noStrike">
                <a:solidFill>
                  <a:srgbClr val="C9D3EA"/>
                </a:solidFill>
                <a:latin typeface="Calibri"/>
                <a:ea typeface="Calibri"/>
                <a:cs typeface="Calibri"/>
                <a:sym typeface="Calibri"/>
              </a:rPr>
              <a:t>05  CONCLUSION  |  SYNTHESIS</a:t>
            </a:r>
            <a:endParaRPr b="0" i="0" sz="1000" u="none" cap="none" strike="noStrike">
              <a:solidFill>
                <a:schemeClr val="dk1"/>
              </a:solidFill>
              <a:latin typeface="Calibri"/>
              <a:ea typeface="Calibri"/>
              <a:cs typeface="Calibri"/>
              <a:sym typeface="Calibri"/>
            </a:endParaRPr>
          </a:p>
        </p:txBody>
      </p:sp>
      <p:cxnSp>
        <p:nvCxnSpPr>
          <p:cNvPr id="303" name="Google Shape;303;p6"/>
          <p:cNvCxnSpPr/>
          <p:nvPr/>
        </p:nvCxnSpPr>
        <p:spPr>
          <a:xfrm>
            <a:off x="502920" y="1554480"/>
            <a:ext cx="11183112" cy="0"/>
          </a:xfrm>
          <a:prstGeom prst="straightConnector1">
            <a:avLst/>
          </a:prstGeom>
          <a:noFill/>
          <a:ln cap="flat" cmpd="sng" w="9525">
            <a:solidFill>
              <a:srgbClr val="D3DAE4"/>
            </a:solidFill>
            <a:prstDash val="solid"/>
            <a:round/>
            <a:headEnd len="sm" w="sm" type="none"/>
            <a:tailEnd len="sm" w="sm" type="none"/>
          </a:ln>
        </p:spPr>
      </p:cxnSp>
      <p:sp>
        <p:nvSpPr>
          <p:cNvPr id="304" name="Google Shape;304;p6"/>
          <p:cNvSpPr txBox="1"/>
          <p:nvPr/>
        </p:nvSpPr>
        <p:spPr>
          <a:xfrm>
            <a:off x="502920" y="1298448"/>
            <a:ext cx="1508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4B2"/>
              </a:buClr>
              <a:buSzPts val="950"/>
              <a:buFont typeface="Calibri"/>
              <a:buNone/>
            </a:pPr>
            <a:r>
              <a:rPr b="0" i="0" lang="en-US" sz="950" u="none" cap="none" strike="noStrike">
                <a:solidFill>
                  <a:srgbClr val="9AA4B2"/>
                </a:solidFill>
                <a:latin typeface="Calibri"/>
                <a:ea typeface="Calibri"/>
                <a:cs typeface="Calibri"/>
                <a:sym typeface="Calibri"/>
              </a:rPr>
              <a:t>01  </a:t>
            </a:r>
            <a:r>
              <a:rPr b="0" i="0" lang="en-US" sz="950" u="none" cap="none" strike="noStrike">
                <a:solidFill>
                  <a:srgbClr val="8A94A3"/>
                </a:solidFill>
                <a:latin typeface="Calibri"/>
                <a:ea typeface="Calibri"/>
                <a:cs typeface="Calibri"/>
                <a:sym typeface="Calibri"/>
              </a:rPr>
              <a:t>PROBLEM</a:t>
            </a:r>
            <a:endParaRPr b="0" i="0" sz="950" u="none" cap="none" strike="noStrike">
              <a:solidFill>
                <a:schemeClr val="dk1"/>
              </a:solidFill>
              <a:latin typeface="Calibri"/>
              <a:ea typeface="Calibri"/>
              <a:cs typeface="Calibri"/>
              <a:sym typeface="Calibri"/>
            </a:endParaRPr>
          </a:p>
        </p:txBody>
      </p:sp>
      <p:sp>
        <p:nvSpPr>
          <p:cNvPr id="305" name="Google Shape;305;p6"/>
          <p:cNvSpPr txBox="1"/>
          <p:nvPr/>
        </p:nvSpPr>
        <p:spPr>
          <a:xfrm>
            <a:off x="2103120" y="1298448"/>
            <a:ext cx="1508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4B2"/>
              </a:buClr>
              <a:buSzPts val="950"/>
              <a:buFont typeface="Calibri"/>
              <a:buNone/>
            </a:pPr>
            <a:r>
              <a:rPr b="0" i="0" lang="en-US" sz="950" u="none" cap="none" strike="noStrike">
                <a:solidFill>
                  <a:srgbClr val="9AA4B2"/>
                </a:solidFill>
                <a:latin typeface="Calibri"/>
                <a:ea typeface="Calibri"/>
                <a:cs typeface="Calibri"/>
                <a:sym typeface="Calibri"/>
              </a:rPr>
              <a:t>02  </a:t>
            </a:r>
            <a:r>
              <a:rPr b="0" i="0" lang="en-US" sz="950" u="none" cap="none" strike="noStrike">
                <a:solidFill>
                  <a:srgbClr val="8A94A3"/>
                </a:solidFill>
                <a:latin typeface="Calibri"/>
                <a:ea typeface="Calibri"/>
                <a:cs typeface="Calibri"/>
                <a:sym typeface="Calibri"/>
              </a:rPr>
              <a:t>SOLUTION</a:t>
            </a:r>
            <a:endParaRPr b="0" i="0" sz="950" u="none" cap="none" strike="noStrike">
              <a:solidFill>
                <a:schemeClr val="dk1"/>
              </a:solidFill>
              <a:latin typeface="Calibri"/>
              <a:ea typeface="Calibri"/>
              <a:cs typeface="Calibri"/>
              <a:sym typeface="Calibri"/>
            </a:endParaRPr>
          </a:p>
        </p:txBody>
      </p:sp>
      <p:sp>
        <p:nvSpPr>
          <p:cNvPr id="306" name="Google Shape;306;p6"/>
          <p:cNvSpPr txBox="1"/>
          <p:nvPr/>
        </p:nvSpPr>
        <p:spPr>
          <a:xfrm>
            <a:off x="3703320" y="1298448"/>
            <a:ext cx="1508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4B2"/>
              </a:buClr>
              <a:buSzPts val="950"/>
              <a:buFont typeface="Calibri"/>
              <a:buNone/>
            </a:pPr>
            <a:r>
              <a:rPr b="0" i="0" lang="en-US" sz="950" u="none" cap="none" strike="noStrike">
                <a:solidFill>
                  <a:srgbClr val="9AA4B2"/>
                </a:solidFill>
                <a:latin typeface="Calibri"/>
                <a:ea typeface="Calibri"/>
                <a:cs typeface="Calibri"/>
                <a:sym typeface="Calibri"/>
              </a:rPr>
              <a:t>03  </a:t>
            </a:r>
            <a:r>
              <a:rPr b="0" i="0" lang="en-US" sz="950" u="none" cap="none" strike="noStrike">
                <a:solidFill>
                  <a:srgbClr val="8A94A3"/>
                </a:solidFill>
                <a:latin typeface="Calibri"/>
                <a:ea typeface="Calibri"/>
                <a:cs typeface="Calibri"/>
                <a:sym typeface="Calibri"/>
              </a:rPr>
              <a:t>IMPACT</a:t>
            </a:r>
            <a:endParaRPr b="0" i="0" sz="950" u="none" cap="none" strike="noStrike">
              <a:solidFill>
                <a:schemeClr val="dk1"/>
              </a:solidFill>
              <a:latin typeface="Calibri"/>
              <a:ea typeface="Calibri"/>
              <a:cs typeface="Calibri"/>
              <a:sym typeface="Calibri"/>
            </a:endParaRPr>
          </a:p>
        </p:txBody>
      </p:sp>
      <p:sp>
        <p:nvSpPr>
          <p:cNvPr id="307" name="Google Shape;307;p6"/>
          <p:cNvSpPr txBox="1"/>
          <p:nvPr/>
        </p:nvSpPr>
        <p:spPr>
          <a:xfrm>
            <a:off x="5303520" y="1298448"/>
            <a:ext cx="1508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4B2"/>
              </a:buClr>
              <a:buSzPts val="950"/>
              <a:buFont typeface="Calibri"/>
              <a:buNone/>
            </a:pPr>
            <a:r>
              <a:rPr b="0" i="0" lang="en-US" sz="950" u="none" cap="none" strike="noStrike">
                <a:solidFill>
                  <a:srgbClr val="9AA4B2"/>
                </a:solidFill>
                <a:latin typeface="Calibri"/>
                <a:ea typeface="Calibri"/>
                <a:cs typeface="Calibri"/>
                <a:sym typeface="Calibri"/>
              </a:rPr>
              <a:t>04  </a:t>
            </a:r>
            <a:r>
              <a:rPr b="0" i="0" lang="en-US" sz="950" u="none" cap="none" strike="noStrike">
                <a:solidFill>
                  <a:srgbClr val="8A94A3"/>
                </a:solidFill>
                <a:latin typeface="Calibri"/>
                <a:ea typeface="Calibri"/>
                <a:cs typeface="Calibri"/>
                <a:sym typeface="Calibri"/>
              </a:rPr>
              <a:t>FEASIBILITY</a:t>
            </a:r>
            <a:endParaRPr b="0" i="0" sz="950" u="none" cap="none" strike="noStrike">
              <a:solidFill>
                <a:schemeClr val="dk1"/>
              </a:solidFill>
              <a:latin typeface="Calibri"/>
              <a:ea typeface="Calibri"/>
              <a:cs typeface="Calibri"/>
              <a:sym typeface="Calibri"/>
            </a:endParaRPr>
          </a:p>
        </p:txBody>
      </p:sp>
      <p:sp>
        <p:nvSpPr>
          <p:cNvPr id="308" name="Google Shape;308;p6"/>
          <p:cNvSpPr txBox="1"/>
          <p:nvPr/>
        </p:nvSpPr>
        <p:spPr>
          <a:xfrm>
            <a:off x="6903720" y="1298448"/>
            <a:ext cx="1508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92F7B"/>
              </a:buClr>
              <a:buSzPts val="950"/>
              <a:buFont typeface="Calibri"/>
              <a:buNone/>
            </a:pPr>
            <a:r>
              <a:rPr b="1" i="0" lang="en-US" sz="950" u="none" cap="none" strike="noStrike">
                <a:solidFill>
                  <a:srgbClr val="192F7B"/>
                </a:solidFill>
                <a:latin typeface="Calibri"/>
                <a:ea typeface="Calibri"/>
                <a:cs typeface="Calibri"/>
                <a:sym typeface="Calibri"/>
              </a:rPr>
              <a:t>05  CONCLUSION</a:t>
            </a:r>
            <a:endParaRPr b="0" i="0" sz="950" u="none" cap="none" strike="noStrike">
              <a:solidFill>
                <a:schemeClr val="dk1"/>
              </a:solidFill>
              <a:latin typeface="Calibri"/>
              <a:ea typeface="Calibri"/>
              <a:cs typeface="Calibri"/>
              <a:sym typeface="Calibri"/>
            </a:endParaRPr>
          </a:p>
        </p:txBody>
      </p:sp>
      <p:cxnSp>
        <p:nvCxnSpPr>
          <p:cNvPr id="309" name="Google Shape;309;p6"/>
          <p:cNvCxnSpPr/>
          <p:nvPr/>
        </p:nvCxnSpPr>
        <p:spPr>
          <a:xfrm>
            <a:off x="6903720" y="1554480"/>
            <a:ext cx="1325880" cy="0"/>
          </a:xfrm>
          <a:prstGeom prst="straightConnector1">
            <a:avLst/>
          </a:prstGeom>
          <a:noFill/>
          <a:ln cap="flat" cmpd="sng" w="28575">
            <a:solidFill>
              <a:srgbClr val="192F7B"/>
            </a:solidFill>
            <a:prstDash val="solid"/>
            <a:round/>
            <a:headEnd len="sm" w="sm" type="none"/>
            <a:tailEnd len="sm" w="sm" type="none"/>
          </a:ln>
        </p:spPr>
      </p:cxnSp>
      <p:sp>
        <p:nvSpPr>
          <p:cNvPr id="310" name="Google Shape;310;p6"/>
          <p:cNvSpPr txBox="1"/>
          <p:nvPr>
            <p:ph type="title"/>
          </p:nvPr>
        </p:nvSpPr>
        <p:spPr>
          <a:xfrm>
            <a:off x="502920" y="384048"/>
            <a:ext cx="11183112" cy="749808"/>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FFFFFF"/>
              </a:buClr>
              <a:buSzPts val="2400"/>
              <a:buFont typeface="Calibri"/>
              <a:buNone/>
            </a:pPr>
            <a:r>
              <a:rPr b="1" lang="en-US" sz="2400">
                <a:solidFill>
                  <a:srgbClr val="FFFFFF"/>
                </a:solidFill>
              </a:rPr>
              <a:t>From Fragmented Information to Verified Learning</a:t>
            </a:r>
            <a:endParaRPr sz="2400"/>
          </a:p>
        </p:txBody>
      </p:sp>
      <p:sp>
        <p:nvSpPr>
          <p:cNvPr id="311" name="Google Shape;311;p6"/>
          <p:cNvSpPr/>
          <p:nvPr/>
        </p:nvSpPr>
        <p:spPr>
          <a:xfrm>
            <a:off x="502920" y="1965960"/>
            <a:ext cx="1965960" cy="82296"/>
          </a:xfrm>
          <a:prstGeom prst="rect">
            <a:avLst/>
          </a:prstGeom>
          <a:solidFill>
            <a:srgbClr val="5B6573"/>
          </a:solidFill>
          <a:ln cap="flat" cmpd="sng" w="12700">
            <a:solidFill>
              <a:srgbClr val="5B65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6"/>
          <p:cNvSpPr txBox="1"/>
          <p:nvPr/>
        </p:nvSpPr>
        <p:spPr>
          <a:xfrm>
            <a:off x="502920" y="2176272"/>
            <a:ext cx="196596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1200"/>
              <a:buFont typeface="Calibri"/>
              <a:buNone/>
            </a:pPr>
            <a:r>
              <a:rPr b="1" i="0" lang="en-US" sz="1200" u="none" cap="none" strike="noStrike">
                <a:solidFill>
                  <a:srgbClr val="5B6573"/>
                </a:solidFill>
                <a:latin typeface="Calibri"/>
                <a:ea typeface="Calibri"/>
                <a:cs typeface="Calibri"/>
                <a:sym typeface="Calibri"/>
              </a:rPr>
              <a:t>01</a:t>
            </a:r>
            <a:endParaRPr b="0" i="0" sz="1200" u="none" cap="none" strike="noStrike">
              <a:solidFill>
                <a:schemeClr val="dk1"/>
              </a:solidFill>
              <a:latin typeface="Calibri"/>
              <a:ea typeface="Calibri"/>
              <a:cs typeface="Calibri"/>
              <a:sym typeface="Calibri"/>
            </a:endParaRPr>
          </a:p>
        </p:txBody>
      </p:sp>
      <p:sp>
        <p:nvSpPr>
          <p:cNvPr id="313" name="Google Shape;313;p6"/>
          <p:cNvSpPr txBox="1"/>
          <p:nvPr/>
        </p:nvSpPr>
        <p:spPr>
          <a:xfrm>
            <a:off x="502920" y="2450592"/>
            <a:ext cx="196596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1900"/>
              <a:buFont typeface="Calibri"/>
              <a:buNone/>
            </a:pPr>
            <a:r>
              <a:rPr b="1" i="0" lang="en-US" sz="1900" u="none" cap="none" strike="noStrike">
                <a:solidFill>
                  <a:srgbClr val="5B6573"/>
                </a:solidFill>
                <a:latin typeface="Calibri"/>
                <a:ea typeface="Calibri"/>
                <a:cs typeface="Calibri"/>
                <a:sym typeface="Calibri"/>
              </a:rPr>
              <a:t>Fragmented information</a:t>
            </a:r>
            <a:endParaRPr b="0" i="0" sz="1900" u="none" cap="none" strike="noStrike">
              <a:solidFill>
                <a:schemeClr val="dk1"/>
              </a:solidFill>
              <a:latin typeface="Calibri"/>
              <a:ea typeface="Calibri"/>
              <a:cs typeface="Calibri"/>
              <a:sym typeface="Calibri"/>
            </a:endParaRPr>
          </a:p>
        </p:txBody>
      </p:sp>
      <p:sp>
        <p:nvSpPr>
          <p:cNvPr id="314" name="Google Shape;314;p6"/>
          <p:cNvSpPr txBox="1"/>
          <p:nvPr/>
        </p:nvSpPr>
        <p:spPr>
          <a:xfrm>
            <a:off x="502920" y="3200400"/>
            <a:ext cx="19659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1250"/>
              <a:buFont typeface="Calibri"/>
              <a:buNone/>
            </a:pPr>
            <a:r>
              <a:rPr b="0" i="0" lang="en-US" sz="1250" u="none" cap="none" strike="noStrike">
                <a:solidFill>
                  <a:srgbClr val="5B6573"/>
                </a:solidFill>
                <a:latin typeface="Calibri"/>
                <a:ea typeface="Calibri"/>
                <a:cs typeface="Calibri"/>
                <a:sym typeface="Calibri"/>
              </a:rPr>
              <a:t>Separate systems, KPI definitions and timelines</a:t>
            </a:r>
            <a:endParaRPr b="0" i="0" sz="1250" u="none" cap="none" strike="noStrike">
              <a:solidFill>
                <a:schemeClr val="dk1"/>
              </a:solidFill>
              <a:latin typeface="Calibri"/>
              <a:ea typeface="Calibri"/>
              <a:cs typeface="Calibri"/>
              <a:sym typeface="Calibri"/>
            </a:endParaRPr>
          </a:p>
        </p:txBody>
      </p:sp>
      <p:cxnSp>
        <p:nvCxnSpPr>
          <p:cNvPr id="315" name="Google Shape;315;p6"/>
          <p:cNvCxnSpPr/>
          <p:nvPr/>
        </p:nvCxnSpPr>
        <p:spPr>
          <a:xfrm>
            <a:off x="2523744" y="2007108"/>
            <a:ext cx="228600" cy="0"/>
          </a:xfrm>
          <a:prstGeom prst="straightConnector1">
            <a:avLst/>
          </a:prstGeom>
          <a:noFill/>
          <a:ln cap="flat" cmpd="sng" w="19050">
            <a:solidFill>
              <a:srgbClr val="192F7B"/>
            </a:solidFill>
            <a:prstDash val="solid"/>
            <a:round/>
            <a:headEnd len="sm" w="sm" type="none"/>
            <a:tailEnd len="med" w="med" type="triangle"/>
          </a:ln>
        </p:spPr>
      </p:cxnSp>
      <p:sp>
        <p:nvSpPr>
          <p:cNvPr id="316" name="Google Shape;316;p6"/>
          <p:cNvSpPr/>
          <p:nvPr/>
        </p:nvSpPr>
        <p:spPr>
          <a:xfrm>
            <a:off x="2807208" y="1965960"/>
            <a:ext cx="1965960" cy="82296"/>
          </a:xfrm>
          <a:prstGeom prst="rect">
            <a:avLst/>
          </a:prstGeom>
          <a:solidFill>
            <a:srgbClr val="192F7B"/>
          </a:solidFill>
          <a:ln cap="flat" cmpd="sng" w="12700">
            <a:solidFill>
              <a:srgbClr val="192F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6"/>
          <p:cNvSpPr txBox="1"/>
          <p:nvPr/>
        </p:nvSpPr>
        <p:spPr>
          <a:xfrm>
            <a:off x="2807208" y="2176272"/>
            <a:ext cx="196596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92F7B"/>
              </a:buClr>
              <a:buSzPts val="1200"/>
              <a:buFont typeface="Calibri"/>
              <a:buNone/>
            </a:pPr>
            <a:r>
              <a:rPr b="1" i="0" lang="en-US" sz="1200" u="none" cap="none" strike="noStrike">
                <a:solidFill>
                  <a:srgbClr val="192F7B"/>
                </a:solidFill>
                <a:latin typeface="Calibri"/>
                <a:ea typeface="Calibri"/>
                <a:cs typeface="Calibri"/>
                <a:sym typeface="Calibri"/>
              </a:rPr>
              <a:t>02</a:t>
            </a:r>
            <a:endParaRPr b="0" i="0" sz="1200" u="none" cap="none" strike="noStrike">
              <a:solidFill>
                <a:schemeClr val="dk1"/>
              </a:solidFill>
              <a:latin typeface="Calibri"/>
              <a:ea typeface="Calibri"/>
              <a:cs typeface="Calibri"/>
              <a:sym typeface="Calibri"/>
            </a:endParaRPr>
          </a:p>
        </p:txBody>
      </p:sp>
      <p:sp>
        <p:nvSpPr>
          <p:cNvPr id="318" name="Google Shape;318;p6"/>
          <p:cNvSpPr txBox="1"/>
          <p:nvPr/>
        </p:nvSpPr>
        <p:spPr>
          <a:xfrm>
            <a:off x="2807208" y="2450592"/>
            <a:ext cx="196596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430"/>
              </a:buClr>
              <a:buSzPts val="1900"/>
              <a:buFont typeface="Calibri"/>
              <a:buNone/>
            </a:pPr>
            <a:r>
              <a:rPr b="1" i="0" lang="en-US" sz="1900" u="none" cap="none" strike="noStrike">
                <a:solidFill>
                  <a:srgbClr val="1E2430"/>
                </a:solidFill>
                <a:latin typeface="Calibri"/>
                <a:ea typeface="Calibri"/>
                <a:cs typeface="Calibri"/>
                <a:sym typeface="Calibri"/>
              </a:rPr>
              <a:t>Governed context</a:t>
            </a:r>
            <a:endParaRPr b="0" i="0" sz="1900" u="none" cap="none" strike="noStrike">
              <a:solidFill>
                <a:schemeClr val="dk1"/>
              </a:solidFill>
              <a:latin typeface="Calibri"/>
              <a:ea typeface="Calibri"/>
              <a:cs typeface="Calibri"/>
              <a:sym typeface="Calibri"/>
            </a:endParaRPr>
          </a:p>
        </p:txBody>
      </p:sp>
      <p:sp>
        <p:nvSpPr>
          <p:cNvPr id="319" name="Google Shape;319;p6"/>
          <p:cNvSpPr txBox="1"/>
          <p:nvPr/>
        </p:nvSpPr>
        <p:spPr>
          <a:xfrm>
            <a:off x="2807208" y="3200400"/>
            <a:ext cx="19659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1250"/>
              <a:buFont typeface="Calibri"/>
              <a:buNone/>
            </a:pPr>
            <a:r>
              <a:rPr b="0" i="0" lang="en-US" sz="1250" u="none" cap="none" strike="noStrike">
                <a:solidFill>
                  <a:srgbClr val="5B6573"/>
                </a:solidFill>
                <a:latin typeface="Calibri"/>
                <a:ea typeface="Calibri"/>
                <a:cs typeface="Calibri"/>
                <a:sym typeface="Calibri"/>
              </a:rPr>
              <a:t>One asset key; a source on every number</a:t>
            </a:r>
            <a:endParaRPr b="0" i="0" sz="1250" u="none" cap="none" strike="noStrike">
              <a:solidFill>
                <a:schemeClr val="dk1"/>
              </a:solidFill>
              <a:latin typeface="Calibri"/>
              <a:ea typeface="Calibri"/>
              <a:cs typeface="Calibri"/>
              <a:sym typeface="Calibri"/>
            </a:endParaRPr>
          </a:p>
        </p:txBody>
      </p:sp>
      <p:cxnSp>
        <p:nvCxnSpPr>
          <p:cNvPr id="320" name="Google Shape;320;p6"/>
          <p:cNvCxnSpPr/>
          <p:nvPr/>
        </p:nvCxnSpPr>
        <p:spPr>
          <a:xfrm>
            <a:off x="4828032" y="2007108"/>
            <a:ext cx="228600" cy="0"/>
          </a:xfrm>
          <a:prstGeom prst="straightConnector1">
            <a:avLst/>
          </a:prstGeom>
          <a:noFill/>
          <a:ln cap="flat" cmpd="sng" w="19050">
            <a:solidFill>
              <a:srgbClr val="192F7B"/>
            </a:solidFill>
            <a:prstDash val="solid"/>
            <a:round/>
            <a:headEnd len="sm" w="sm" type="none"/>
            <a:tailEnd len="med" w="med" type="triangle"/>
          </a:ln>
        </p:spPr>
      </p:cxnSp>
      <p:sp>
        <p:nvSpPr>
          <p:cNvPr id="321" name="Google Shape;321;p6"/>
          <p:cNvSpPr/>
          <p:nvPr/>
        </p:nvSpPr>
        <p:spPr>
          <a:xfrm>
            <a:off x="5111496" y="1965960"/>
            <a:ext cx="1965960" cy="82296"/>
          </a:xfrm>
          <a:prstGeom prst="rect">
            <a:avLst/>
          </a:prstGeom>
          <a:solidFill>
            <a:srgbClr val="192F7B"/>
          </a:solidFill>
          <a:ln cap="flat" cmpd="sng" w="12700">
            <a:solidFill>
              <a:srgbClr val="192F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6"/>
          <p:cNvSpPr txBox="1"/>
          <p:nvPr/>
        </p:nvSpPr>
        <p:spPr>
          <a:xfrm>
            <a:off x="5111496" y="2176272"/>
            <a:ext cx="196596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92F7B"/>
              </a:buClr>
              <a:buSzPts val="1200"/>
              <a:buFont typeface="Calibri"/>
              <a:buNone/>
            </a:pPr>
            <a:r>
              <a:rPr b="1" i="0" lang="en-US" sz="1200" u="none" cap="none" strike="noStrike">
                <a:solidFill>
                  <a:srgbClr val="192F7B"/>
                </a:solidFill>
                <a:latin typeface="Calibri"/>
                <a:ea typeface="Calibri"/>
                <a:cs typeface="Calibri"/>
                <a:sym typeface="Calibri"/>
              </a:rPr>
              <a:t>03</a:t>
            </a:r>
            <a:endParaRPr b="0" i="0" sz="1200" u="none" cap="none" strike="noStrike">
              <a:solidFill>
                <a:schemeClr val="dk1"/>
              </a:solidFill>
              <a:latin typeface="Calibri"/>
              <a:ea typeface="Calibri"/>
              <a:cs typeface="Calibri"/>
              <a:sym typeface="Calibri"/>
            </a:endParaRPr>
          </a:p>
        </p:txBody>
      </p:sp>
      <p:sp>
        <p:nvSpPr>
          <p:cNvPr id="323" name="Google Shape;323;p6"/>
          <p:cNvSpPr txBox="1"/>
          <p:nvPr/>
        </p:nvSpPr>
        <p:spPr>
          <a:xfrm>
            <a:off x="5111496" y="2450592"/>
            <a:ext cx="196596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430"/>
              </a:buClr>
              <a:buSzPts val="1900"/>
              <a:buFont typeface="Calibri"/>
              <a:buNone/>
            </a:pPr>
            <a:r>
              <a:rPr b="1" i="0" lang="en-US" sz="1900" u="none" cap="none" strike="noStrike">
                <a:solidFill>
                  <a:srgbClr val="1E2430"/>
                </a:solidFill>
                <a:latin typeface="Calibri"/>
                <a:ea typeface="Calibri"/>
                <a:cs typeface="Calibri"/>
                <a:sym typeface="Calibri"/>
              </a:rPr>
              <a:t>Evidence-grounded decision</a:t>
            </a:r>
            <a:endParaRPr b="0" i="0" sz="1900" u="none" cap="none" strike="noStrike">
              <a:solidFill>
                <a:schemeClr val="dk1"/>
              </a:solidFill>
              <a:latin typeface="Calibri"/>
              <a:ea typeface="Calibri"/>
              <a:cs typeface="Calibri"/>
              <a:sym typeface="Calibri"/>
            </a:endParaRPr>
          </a:p>
        </p:txBody>
      </p:sp>
      <p:sp>
        <p:nvSpPr>
          <p:cNvPr id="324" name="Google Shape;324;p6"/>
          <p:cNvSpPr txBox="1"/>
          <p:nvPr/>
        </p:nvSpPr>
        <p:spPr>
          <a:xfrm>
            <a:off x="5111496" y="3200400"/>
            <a:ext cx="19659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1250"/>
              <a:buFont typeface="Calibri"/>
              <a:buNone/>
            </a:pPr>
            <a:r>
              <a:rPr b="0" i="0" lang="en-US" sz="1250" u="none" cap="none" strike="noStrike">
                <a:solidFill>
                  <a:srgbClr val="5B6573"/>
                </a:solidFill>
                <a:latin typeface="Calibri"/>
                <a:ea typeface="Calibri"/>
                <a:cs typeface="Calibri"/>
                <a:sym typeface="Calibri"/>
              </a:rPr>
              <a:t>Probable cause to verify, with similar verified cases</a:t>
            </a:r>
            <a:endParaRPr b="0" i="0" sz="1250" u="none" cap="none" strike="noStrike">
              <a:solidFill>
                <a:schemeClr val="dk1"/>
              </a:solidFill>
              <a:latin typeface="Calibri"/>
              <a:ea typeface="Calibri"/>
              <a:cs typeface="Calibri"/>
              <a:sym typeface="Calibri"/>
            </a:endParaRPr>
          </a:p>
        </p:txBody>
      </p:sp>
      <p:cxnSp>
        <p:nvCxnSpPr>
          <p:cNvPr id="325" name="Google Shape;325;p6"/>
          <p:cNvCxnSpPr/>
          <p:nvPr/>
        </p:nvCxnSpPr>
        <p:spPr>
          <a:xfrm>
            <a:off x="7132320" y="2007108"/>
            <a:ext cx="228600" cy="0"/>
          </a:xfrm>
          <a:prstGeom prst="straightConnector1">
            <a:avLst/>
          </a:prstGeom>
          <a:noFill/>
          <a:ln cap="flat" cmpd="sng" w="19050">
            <a:solidFill>
              <a:srgbClr val="192F7B"/>
            </a:solidFill>
            <a:prstDash val="solid"/>
            <a:round/>
            <a:headEnd len="sm" w="sm" type="none"/>
            <a:tailEnd len="med" w="med" type="triangle"/>
          </a:ln>
        </p:spPr>
      </p:cxnSp>
      <p:sp>
        <p:nvSpPr>
          <p:cNvPr id="326" name="Google Shape;326;p6"/>
          <p:cNvSpPr/>
          <p:nvPr/>
        </p:nvSpPr>
        <p:spPr>
          <a:xfrm>
            <a:off x="7415784" y="1965960"/>
            <a:ext cx="1965960" cy="82296"/>
          </a:xfrm>
          <a:prstGeom prst="rect">
            <a:avLst/>
          </a:prstGeom>
          <a:solidFill>
            <a:srgbClr val="192F7B"/>
          </a:solidFill>
          <a:ln cap="flat" cmpd="sng" w="12700">
            <a:solidFill>
              <a:srgbClr val="192F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6"/>
          <p:cNvSpPr txBox="1"/>
          <p:nvPr/>
        </p:nvSpPr>
        <p:spPr>
          <a:xfrm>
            <a:off x="7415784" y="2176272"/>
            <a:ext cx="196596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92F7B"/>
              </a:buClr>
              <a:buSzPts val="1200"/>
              <a:buFont typeface="Calibri"/>
              <a:buNone/>
            </a:pPr>
            <a:r>
              <a:rPr b="1" i="0" lang="en-US" sz="1200" u="none" cap="none" strike="noStrike">
                <a:solidFill>
                  <a:srgbClr val="192F7B"/>
                </a:solidFill>
                <a:latin typeface="Calibri"/>
                <a:ea typeface="Calibri"/>
                <a:cs typeface="Calibri"/>
                <a:sym typeface="Calibri"/>
              </a:rPr>
              <a:t>04</a:t>
            </a:r>
            <a:endParaRPr b="0" i="0" sz="1200" u="none" cap="none" strike="noStrike">
              <a:solidFill>
                <a:schemeClr val="dk1"/>
              </a:solidFill>
              <a:latin typeface="Calibri"/>
              <a:ea typeface="Calibri"/>
              <a:cs typeface="Calibri"/>
              <a:sym typeface="Calibri"/>
            </a:endParaRPr>
          </a:p>
        </p:txBody>
      </p:sp>
      <p:sp>
        <p:nvSpPr>
          <p:cNvPr id="328" name="Google Shape;328;p6"/>
          <p:cNvSpPr txBox="1"/>
          <p:nvPr/>
        </p:nvSpPr>
        <p:spPr>
          <a:xfrm>
            <a:off x="7415784" y="2450592"/>
            <a:ext cx="196596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430"/>
              </a:buClr>
              <a:buSzPts val="1900"/>
              <a:buFont typeface="Calibri"/>
              <a:buNone/>
            </a:pPr>
            <a:r>
              <a:rPr b="1" i="0" lang="en-US" sz="1900" u="none" cap="none" strike="noStrike">
                <a:solidFill>
                  <a:srgbClr val="1E2430"/>
                </a:solidFill>
                <a:latin typeface="Calibri"/>
                <a:ea typeface="Calibri"/>
                <a:cs typeface="Calibri"/>
                <a:sym typeface="Calibri"/>
              </a:rPr>
              <a:t>Accountable action</a:t>
            </a:r>
            <a:endParaRPr b="0" i="0" sz="1900" u="none" cap="none" strike="noStrike">
              <a:solidFill>
                <a:schemeClr val="dk1"/>
              </a:solidFill>
              <a:latin typeface="Calibri"/>
              <a:ea typeface="Calibri"/>
              <a:cs typeface="Calibri"/>
              <a:sym typeface="Calibri"/>
            </a:endParaRPr>
          </a:p>
        </p:txBody>
      </p:sp>
      <p:sp>
        <p:nvSpPr>
          <p:cNvPr id="329" name="Google Shape;329;p6"/>
          <p:cNvSpPr txBox="1"/>
          <p:nvPr/>
        </p:nvSpPr>
        <p:spPr>
          <a:xfrm>
            <a:off x="7415784" y="3200400"/>
            <a:ext cx="19659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1250"/>
              <a:buFont typeface="Calibri"/>
              <a:buNone/>
            </a:pPr>
            <a:r>
              <a:rPr b="0" i="0" lang="en-US" sz="1250" u="none" cap="none" strike="noStrike">
                <a:solidFill>
                  <a:srgbClr val="5B6573"/>
                </a:solidFill>
                <a:latin typeface="Calibri"/>
                <a:ea typeface="Calibri"/>
                <a:cs typeface="Calibri"/>
                <a:sym typeface="Calibri"/>
              </a:rPr>
              <a:t>Named owner; execution tracked</a:t>
            </a:r>
            <a:endParaRPr b="0" i="0" sz="1250" u="none" cap="none" strike="noStrike">
              <a:solidFill>
                <a:schemeClr val="dk1"/>
              </a:solidFill>
              <a:latin typeface="Calibri"/>
              <a:ea typeface="Calibri"/>
              <a:cs typeface="Calibri"/>
              <a:sym typeface="Calibri"/>
            </a:endParaRPr>
          </a:p>
        </p:txBody>
      </p:sp>
      <p:cxnSp>
        <p:nvCxnSpPr>
          <p:cNvPr id="330" name="Google Shape;330;p6"/>
          <p:cNvCxnSpPr/>
          <p:nvPr/>
        </p:nvCxnSpPr>
        <p:spPr>
          <a:xfrm>
            <a:off x="9436608" y="2007108"/>
            <a:ext cx="228600" cy="0"/>
          </a:xfrm>
          <a:prstGeom prst="straightConnector1">
            <a:avLst/>
          </a:prstGeom>
          <a:noFill/>
          <a:ln cap="flat" cmpd="sng" w="19050">
            <a:solidFill>
              <a:srgbClr val="192F7B"/>
            </a:solidFill>
            <a:prstDash val="solid"/>
            <a:round/>
            <a:headEnd len="sm" w="sm" type="none"/>
            <a:tailEnd len="med" w="med" type="triangle"/>
          </a:ln>
        </p:spPr>
      </p:cxnSp>
      <p:sp>
        <p:nvSpPr>
          <p:cNvPr id="331" name="Google Shape;331;p6"/>
          <p:cNvSpPr/>
          <p:nvPr/>
        </p:nvSpPr>
        <p:spPr>
          <a:xfrm>
            <a:off x="9720072" y="1965960"/>
            <a:ext cx="1965960" cy="82296"/>
          </a:xfrm>
          <a:prstGeom prst="rect">
            <a:avLst/>
          </a:prstGeom>
          <a:solidFill>
            <a:srgbClr val="23845A"/>
          </a:solidFill>
          <a:ln cap="flat" cmpd="sng" w="12700">
            <a:solidFill>
              <a:srgbClr val="2384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6"/>
          <p:cNvSpPr txBox="1"/>
          <p:nvPr/>
        </p:nvSpPr>
        <p:spPr>
          <a:xfrm>
            <a:off x="9720072" y="2176272"/>
            <a:ext cx="196596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845A"/>
              </a:buClr>
              <a:buSzPts val="1200"/>
              <a:buFont typeface="Calibri"/>
              <a:buNone/>
            </a:pPr>
            <a:r>
              <a:rPr b="1" i="0" lang="en-US" sz="1200" u="none" cap="none" strike="noStrike">
                <a:solidFill>
                  <a:srgbClr val="23845A"/>
                </a:solidFill>
                <a:latin typeface="Calibri"/>
                <a:ea typeface="Calibri"/>
                <a:cs typeface="Calibri"/>
                <a:sym typeface="Calibri"/>
              </a:rPr>
              <a:t>05</a:t>
            </a:r>
            <a:endParaRPr b="0" i="0" sz="1200" u="none" cap="none" strike="noStrike">
              <a:solidFill>
                <a:schemeClr val="dk1"/>
              </a:solidFill>
              <a:latin typeface="Calibri"/>
              <a:ea typeface="Calibri"/>
              <a:cs typeface="Calibri"/>
              <a:sym typeface="Calibri"/>
            </a:endParaRPr>
          </a:p>
        </p:txBody>
      </p:sp>
      <p:sp>
        <p:nvSpPr>
          <p:cNvPr id="333" name="Google Shape;333;p6"/>
          <p:cNvSpPr txBox="1"/>
          <p:nvPr/>
        </p:nvSpPr>
        <p:spPr>
          <a:xfrm>
            <a:off x="9720072" y="2450592"/>
            <a:ext cx="196596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430"/>
              </a:buClr>
              <a:buSzPts val="1900"/>
              <a:buFont typeface="Calibri"/>
              <a:buNone/>
            </a:pPr>
            <a:r>
              <a:rPr b="1" i="0" lang="en-US" sz="1900" u="none" cap="none" strike="noStrike">
                <a:solidFill>
                  <a:srgbClr val="1E2430"/>
                </a:solidFill>
                <a:latin typeface="Calibri"/>
                <a:ea typeface="Calibri"/>
                <a:cs typeface="Calibri"/>
                <a:sym typeface="Calibri"/>
              </a:rPr>
              <a:t>Verified learning</a:t>
            </a:r>
            <a:endParaRPr b="0" i="0" sz="1900" u="none" cap="none" strike="noStrike">
              <a:solidFill>
                <a:schemeClr val="dk1"/>
              </a:solidFill>
              <a:latin typeface="Calibri"/>
              <a:ea typeface="Calibri"/>
              <a:cs typeface="Calibri"/>
              <a:sym typeface="Calibri"/>
            </a:endParaRPr>
          </a:p>
        </p:txBody>
      </p:sp>
      <p:sp>
        <p:nvSpPr>
          <p:cNvPr id="334" name="Google Shape;334;p6"/>
          <p:cNvSpPr txBox="1"/>
          <p:nvPr/>
        </p:nvSpPr>
        <p:spPr>
          <a:xfrm>
            <a:off x="9720072" y="3200400"/>
            <a:ext cx="19659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1250"/>
              <a:buFont typeface="Calibri"/>
              <a:buNone/>
            </a:pPr>
            <a:r>
              <a:rPr b="0" i="0" lang="en-US" sz="1250" u="none" cap="none" strike="noStrike">
                <a:solidFill>
                  <a:srgbClr val="5B6573"/>
                </a:solidFill>
                <a:latin typeface="Calibri"/>
                <a:ea typeface="Calibri"/>
                <a:cs typeface="Calibri"/>
                <a:sym typeface="Calibri"/>
              </a:rPr>
              <a:t>Effectiveness signed off; knowledge admitted</a:t>
            </a:r>
            <a:endParaRPr b="0" i="0" sz="1250" u="none" cap="none" strike="noStrike">
              <a:solidFill>
                <a:schemeClr val="dk1"/>
              </a:solidFill>
              <a:latin typeface="Calibri"/>
              <a:ea typeface="Calibri"/>
              <a:cs typeface="Calibri"/>
              <a:sym typeface="Calibri"/>
            </a:endParaRPr>
          </a:p>
        </p:txBody>
      </p:sp>
      <p:sp>
        <p:nvSpPr>
          <p:cNvPr id="335" name="Google Shape;335;p6"/>
          <p:cNvSpPr/>
          <p:nvPr/>
        </p:nvSpPr>
        <p:spPr>
          <a:xfrm>
            <a:off x="502920" y="4023360"/>
            <a:ext cx="11183112" cy="1783080"/>
          </a:xfrm>
          <a:prstGeom prst="rect">
            <a:avLst/>
          </a:prstGeom>
          <a:solidFill>
            <a:srgbClr val="192F7B"/>
          </a:solidFill>
          <a:ln cap="flat" cmpd="sng" w="12700">
            <a:solidFill>
              <a:srgbClr val="192F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6"/>
          <p:cNvSpPr txBox="1"/>
          <p:nvPr/>
        </p:nvSpPr>
        <p:spPr>
          <a:xfrm>
            <a:off x="868680" y="4206240"/>
            <a:ext cx="548640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9D3EA"/>
              </a:buClr>
              <a:buSzPts val="1050"/>
              <a:buFont typeface="Calibri"/>
              <a:buNone/>
            </a:pPr>
            <a:r>
              <a:rPr b="1" i="0" lang="en-US" sz="1050" u="none" cap="none" strike="noStrike">
                <a:solidFill>
                  <a:srgbClr val="C9D3EA"/>
                </a:solidFill>
                <a:latin typeface="Calibri"/>
                <a:ea typeface="Calibri"/>
                <a:cs typeface="Calibri"/>
                <a:sym typeface="Calibri"/>
              </a:rPr>
              <a:t>THE AETHER PROPOSITION</a:t>
            </a:r>
            <a:endParaRPr b="0" i="0" sz="1050" u="none" cap="none" strike="noStrike">
              <a:solidFill>
                <a:schemeClr val="dk1"/>
              </a:solidFill>
              <a:latin typeface="Calibri"/>
              <a:ea typeface="Calibri"/>
              <a:cs typeface="Calibri"/>
              <a:sym typeface="Calibri"/>
            </a:endParaRPr>
          </a:p>
        </p:txBody>
      </p:sp>
      <p:sp>
        <p:nvSpPr>
          <p:cNvPr id="337" name="Google Shape;337;p6"/>
          <p:cNvSpPr txBox="1"/>
          <p:nvPr/>
        </p:nvSpPr>
        <p:spPr>
          <a:xfrm>
            <a:off x="868680" y="4480560"/>
            <a:ext cx="1045159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Calibri"/>
              <a:buNone/>
            </a:pPr>
            <a:r>
              <a:rPr b="1" i="0" lang="en-US" sz="3200" u="none" cap="none" strike="noStrike">
                <a:solidFill>
                  <a:srgbClr val="FFFFFF"/>
                </a:solidFill>
                <a:latin typeface="Calibri"/>
                <a:ea typeface="Calibri"/>
                <a:cs typeface="Calibri"/>
                <a:sym typeface="Calibri"/>
              </a:rPr>
              <a:t>From fragmented signals to an accountable, verified decision.</a:t>
            </a:r>
            <a:endParaRPr b="0" i="0" sz="3200" u="none" cap="none" strike="noStrike">
              <a:solidFill>
                <a:schemeClr val="dk1"/>
              </a:solidFill>
              <a:latin typeface="Calibri"/>
              <a:ea typeface="Calibri"/>
              <a:cs typeface="Calibri"/>
              <a:sym typeface="Calibri"/>
            </a:endParaRPr>
          </a:p>
        </p:txBody>
      </p:sp>
      <p:sp>
        <p:nvSpPr>
          <p:cNvPr id="338" name="Google Shape;338;p6"/>
          <p:cNvSpPr txBox="1"/>
          <p:nvPr/>
        </p:nvSpPr>
        <p:spPr>
          <a:xfrm>
            <a:off x="868680" y="5138928"/>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3EA"/>
              </a:buClr>
              <a:buSzPts val="1700"/>
              <a:buFont typeface="Calibri"/>
              <a:buNone/>
            </a:pPr>
            <a:r>
              <a:rPr b="0" i="0" lang="en-US" sz="1700" u="none" cap="none" strike="noStrike">
                <a:solidFill>
                  <a:srgbClr val="C9D3EA"/>
                </a:solidFill>
                <a:latin typeface="Calibri"/>
                <a:ea typeface="Calibri"/>
                <a:cs typeface="Calibri"/>
                <a:sym typeface="Calibri"/>
              </a:rPr>
              <a:t>Read-only to the plant, with a person in charge at every step.</a:t>
            </a:r>
            <a:endParaRPr b="0" i="0" sz="1700" u="none" cap="none" strike="noStrike">
              <a:solidFill>
                <a:schemeClr val="dk1"/>
              </a:solidFill>
              <a:latin typeface="Calibri"/>
              <a:ea typeface="Calibri"/>
              <a:cs typeface="Calibri"/>
              <a:sym typeface="Calibri"/>
            </a:endParaRPr>
          </a:p>
        </p:txBody>
      </p:sp>
      <p:sp>
        <p:nvSpPr>
          <p:cNvPr id="339" name="Google Shape;339;p6"/>
          <p:cNvSpPr txBox="1"/>
          <p:nvPr/>
        </p:nvSpPr>
        <p:spPr>
          <a:xfrm>
            <a:off x="7662672" y="5440680"/>
            <a:ext cx="3657600" cy="256032"/>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C9D3EA"/>
              </a:buClr>
              <a:buSzPts val="1100"/>
              <a:buFont typeface="Calibri"/>
              <a:buNone/>
            </a:pPr>
            <a:r>
              <a:rPr b="0" i="0" lang="en-US" sz="1100" u="none" cap="none" strike="noStrike">
                <a:solidFill>
                  <a:srgbClr val="C9D3EA"/>
                </a:solidFill>
                <a:latin typeface="Calibri"/>
                <a:ea typeface="Calibri"/>
                <a:cs typeface="Calibri"/>
                <a:sym typeface="Calibri"/>
              </a:rPr>
              <a:t>Prototype  </a:t>
            </a:r>
            <a:r>
              <a:rPr b="1" i="0" lang="en-US" sz="1100" u="none" cap="none" strike="noStrike">
                <a:solidFill>
                  <a:srgbClr val="F5B544"/>
                </a:solidFill>
                <a:latin typeface="Calibri"/>
                <a:ea typeface="Calibri"/>
                <a:cs typeface="Calibri"/>
                <a:sym typeface="Calibri"/>
              </a:rPr>
              <a:t>[TO FILL: prototype URL]</a:t>
            </a:r>
            <a:endParaRPr b="0" i="0" sz="1100" u="none" cap="none" strike="noStrike">
              <a:solidFill>
                <a:schemeClr val="dk1"/>
              </a:solidFill>
              <a:latin typeface="Calibri"/>
              <a:ea typeface="Calibri"/>
              <a:cs typeface="Calibri"/>
              <a:sym typeface="Calibri"/>
            </a:endParaRPr>
          </a:p>
        </p:txBody>
      </p:sp>
      <p:sp>
        <p:nvSpPr>
          <p:cNvPr id="340" name="Google Shape;340;p6"/>
          <p:cNvSpPr txBox="1"/>
          <p:nvPr>
            <p:ph idx="4294967295" type="sldNum"/>
          </p:nvPr>
        </p:nvSpPr>
        <p:spPr>
          <a:xfrm>
            <a:off x="11228832" y="6473952"/>
            <a:ext cx="4572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5B6573"/>
                </a:solidFill>
                <a:latin typeface="Calibri"/>
                <a:ea typeface="Calibri"/>
                <a:cs typeface="Calibri"/>
                <a:sym typeface="Calibri"/>
              </a:rPr>
              <a:t>‹#›</a:t>
            </a:fld>
            <a:endParaRPr b="0" i="0" sz="900" u="none" cap="none" strike="noStrike">
              <a:solidFill>
                <a:srgbClr val="5B6573"/>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7"/>
          <p:cNvSpPr txBox="1"/>
          <p:nvPr/>
        </p:nvSpPr>
        <p:spPr>
          <a:xfrm>
            <a:off x="502920" y="146304"/>
            <a:ext cx="914400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9D3EA"/>
              </a:buClr>
              <a:buSzPts val="1000"/>
              <a:buFont typeface="Calibri"/>
              <a:buNone/>
            </a:pPr>
            <a:r>
              <a:rPr b="1" i="0" lang="en-US" sz="1000" u="none" cap="none" strike="noStrike">
                <a:solidFill>
                  <a:srgbClr val="C9D3EA"/>
                </a:solidFill>
                <a:latin typeface="Calibri"/>
                <a:ea typeface="Calibri"/>
                <a:cs typeface="Calibri"/>
                <a:sym typeface="Calibri"/>
              </a:rPr>
              <a:t>TEAM PROFILE</a:t>
            </a:r>
            <a:endParaRPr b="0" i="0" sz="1000" u="none" cap="none" strike="noStrike">
              <a:solidFill>
                <a:schemeClr val="dk1"/>
              </a:solidFill>
              <a:latin typeface="Calibri"/>
              <a:ea typeface="Calibri"/>
              <a:cs typeface="Calibri"/>
              <a:sym typeface="Calibri"/>
            </a:endParaRPr>
          </a:p>
        </p:txBody>
      </p:sp>
      <p:sp>
        <p:nvSpPr>
          <p:cNvPr id="347" name="Google Shape;347;p7"/>
          <p:cNvSpPr txBox="1"/>
          <p:nvPr>
            <p:ph type="title"/>
          </p:nvPr>
        </p:nvSpPr>
        <p:spPr>
          <a:xfrm>
            <a:off x="502920" y="384048"/>
            <a:ext cx="11183112" cy="749808"/>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FFFFFF"/>
              </a:buClr>
              <a:buSzPts val="2400"/>
              <a:buFont typeface="Calibri"/>
              <a:buNone/>
            </a:pPr>
            <a:r>
              <a:rPr b="1" lang="en-US" sz="2400">
                <a:solidFill>
                  <a:srgbClr val="FFFFFF"/>
                </a:solidFill>
              </a:rPr>
              <a:t>Case Team Profile</a:t>
            </a:r>
            <a:endParaRPr sz="2400"/>
          </a:p>
        </p:txBody>
      </p:sp>
      <p:sp>
        <p:nvSpPr>
          <p:cNvPr id="348" name="Google Shape;348;p7"/>
          <p:cNvSpPr/>
          <p:nvPr/>
        </p:nvSpPr>
        <p:spPr>
          <a:xfrm>
            <a:off x="502920" y="1417320"/>
            <a:ext cx="11183112" cy="566928"/>
          </a:xfrm>
          <a:prstGeom prst="rect">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7"/>
          <p:cNvSpPr txBox="1"/>
          <p:nvPr/>
        </p:nvSpPr>
        <p:spPr>
          <a:xfrm>
            <a:off x="685800" y="1417320"/>
            <a:ext cx="345338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3"/>
              </a:buClr>
              <a:buSzPts val="1000"/>
              <a:buFont typeface="Calibri"/>
              <a:buNone/>
            </a:pPr>
            <a:r>
              <a:rPr b="1" i="0" lang="en-US" sz="1000" u="none" cap="none" strike="noStrike">
                <a:solidFill>
                  <a:srgbClr val="5B6573"/>
                </a:solidFill>
                <a:latin typeface="Calibri"/>
                <a:ea typeface="Calibri"/>
                <a:cs typeface="Calibri"/>
                <a:sym typeface="Calibri"/>
              </a:rPr>
              <a:t>TEAM   </a:t>
            </a:r>
            <a:r>
              <a:rPr b="1" i="0" lang="en-US" sz="1500" u="none" cap="none" strike="noStrike">
                <a:solidFill>
                  <a:srgbClr val="B45309"/>
                </a:solidFill>
                <a:latin typeface="Calibri"/>
                <a:ea typeface="Calibri"/>
                <a:cs typeface="Calibri"/>
                <a:sym typeface="Calibri"/>
              </a:rPr>
              <a:t>[TO FILL: team name]</a:t>
            </a:r>
            <a:endParaRPr b="0" i="0" sz="1000" u="none" cap="none" strike="noStrike">
              <a:solidFill>
                <a:schemeClr val="dk1"/>
              </a:solidFill>
              <a:latin typeface="Calibri"/>
              <a:ea typeface="Calibri"/>
              <a:cs typeface="Calibri"/>
              <a:sym typeface="Calibri"/>
            </a:endParaRPr>
          </a:p>
        </p:txBody>
      </p:sp>
      <p:cxnSp>
        <p:nvCxnSpPr>
          <p:cNvPr id="350" name="Google Shape;350;p7"/>
          <p:cNvCxnSpPr/>
          <p:nvPr/>
        </p:nvCxnSpPr>
        <p:spPr>
          <a:xfrm>
            <a:off x="4230624" y="1508760"/>
            <a:ext cx="0" cy="384048"/>
          </a:xfrm>
          <a:prstGeom prst="straightConnector1">
            <a:avLst/>
          </a:prstGeom>
          <a:noFill/>
          <a:ln cap="flat" cmpd="sng" w="9525">
            <a:solidFill>
              <a:srgbClr val="D3DAE4"/>
            </a:solidFill>
            <a:prstDash val="solid"/>
            <a:round/>
            <a:headEnd len="sm" w="sm" type="none"/>
            <a:tailEnd len="sm" w="sm" type="none"/>
          </a:ln>
        </p:spPr>
      </p:cxnSp>
      <p:sp>
        <p:nvSpPr>
          <p:cNvPr id="351" name="Google Shape;351;p7"/>
          <p:cNvSpPr txBox="1"/>
          <p:nvPr/>
        </p:nvSpPr>
        <p:spPr>
          <a:xfrm>
            <a:off x="4413504" y="1417320"/>
            <a:ext cx="345338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3"/>
              </a:buClr>
              <a:buSzPts val="1000"/>
              <a:buFont typeface="Calibri"/>
              <a:buNone/>
            </a:pPr>
            <a:r>
              <a:rPr b="1" i="0" lang="en-US" sz="1000" u="none" cap="none" strike="noStrike">
                <a:solidFill>
                  <a:srgbClr val="5B6573"/>
                </a:solidFill>
                <a:latin typeface="Calibri"/>
                <a:ea typeface="Calibri"/>
                <a:cs typeface="Calibri"/>
                <a:sym typeface="Calibri"/>
              </a:rPr>
              <a:t>UNIVERSITY   </a:t>
            </a:r>
            <a:r>
              <a:rPr b="1" i="0" lang="en-US" sz="1500" u="none" cap="none" strike="noStrike">
                <a:solidFill>
                  <a:srgbClr val="B45309"/>
                </a:solidFill>
                <a:latin typeface="Calibri"/>
                <a:ea typeface="Calibri"/>
                <a:cs typeface="Calibri"/>
                <a:sym typeface="Calibri"/>
              </a:rPr>
              <a:t>[TO FILL: university]</a:t>
            </a:r>
            <a:endParaRPr b="0" i="0" sz="1000" u="none" cap="none" strike="noStrike">
              <a:solidFill>
                <a:schemeClr val="dk1"/>
              </a:solidFill>
              <a:latin typeface="Calibri"/>
              <a:ea typeface="Calibri"/>
              <a:cs typeface="Calibri"/>
              <a:sym typeface="Calibri"/>
            </a:endParaRPr>
          </a:p>
        </p:txBody>
      </p:sp>
      <p:cxnSp>
        <p:nvCxnSpPr>
          <p:cNvPr id="352" name="Google Shape;352;p7"/>
          <p:cNvCxnSpPr/>
          <p:nvPr/>
        </p:nvCxnSpPr>
        <p:spPr>
          <a:xfrm>
            <a:off x="7958328" y="1508760"/>
            <a:ext cx="0" cy="384048"/>
          </a:xfrm>
          <a:prstGeom prst="straightConnector1">
            <a:avLst/>
          </a:prstGeom>
          <a:noFill/>
          <a:ln cap="flat" cmpd="sng" w="9525">
            <a:solidFill>
              <a:srgbClr val="D3DAE4"/>
            </a:solidFill>
            <a:prstDash val="solid"/>
            <a:round/>
            <a:headEnd len="sm" w="sm" type="none"/>
            <a:tailEnd len="sm" w="sm" type="none"/>
          </a:ln>
        </p:spPr>
      </p:cxnSp>
      <p:sp>
        <p:nvSpPr>
          <p:cNvPr id="353" name="Google Shape;353;p7"/>
          <p:cNvSpPr txBox="1"/>
          <p:nvPr/>
        </p:nvSpPr>
        <p:spPr>
          <a:xfrm>
            <a:off x="8141208" y="1417320"/>
            <a:ext cx="345338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3"/>
              </a:buClr>
              <a:buSzPts val="1000"/>
              <a:buFont typeface="Calibri"/>
              <a:buNone/>
            </a:pPr>
            <a:r>
              <a:rPr b="1" i="0" lang="en-US" sz="1000" u="none" cap="none" strike="noStrike">
                <a:solidFill>
                  <a:srgbClr val="5B6573"/>
                </a:solidFill>
                <a:latin typeface="Calibri"/>
                <a:ea typeface="Calibri"/>
                <a:cs typeface="Calibri"/>
                <a:sym typeface="Calibri"/>
              </a:rPr>
              <a:t>SUPERVISOR   </a:t>
            </a:r>
            <a:r>
              <a:rPr b="1" i="0" lang="en-US" sz="1500" u="none" cap="none" strike="noStrike">
                <a:solidFill>
                  <a:srgbClr val="B45309"/>
                </a:solidFill>
                <a:latin typeface="Calibri"/>
                <a:ea typeface="Calibri"/>
                <a:cs typeface="Calibri"/>
                <a:sym typeface="Calibri"/>
              </a:rPr>
              <a:t>[TO FILL: name and title]</a:t>
            </a:r>
            <a:endParaRPr b="0" i="0" sz="1000" u="none" cap="none" strike="noStrike">
              <a:solidFill>
                <a:schemeClr val="dk1"/>
              </a:solidFill>
              <a:latin typeface="Calibri"/>
              <a:ea typeface="Calibri"/>
              <a:cs typeface="Calibri"/>
              <a:sym typeface="Calibri"/>
            </a:endParaRPr>
          </a:p>
        </p:txBody>
      </p:sp>
      <p:sp>
        <p:nvSpPr>
          <p:cNvPr id="354" name="Google Shape;354;p7"/>
          <p:cNvSpPr txBox="1"/>
          <p:nvPr/>
        </p:nvSpPr>
        <p:spPr>
          <a:xfrm>
            <a:off x="502920" y="2240280"/>
            <a:ext cx="3636264" cy="329184"/>
          </a:xfrm>
          <a:prstGeom prst="rect">
            <a:avLst/>
          </a:prstGeom>
          <a:solidFill>
            <a:srgbClr val="192F7B"/>
          </a:solidFill>
          <a:ln cap="flat" cmpd="sng" w="9525">
            <a:solidFill>
              <a:srgbClr val="192F7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Product and strategy</a:t>
            </a:r>
            <a:endParaRPr b="0" i="0" sz="1200" u="none" cap="none" strike="noStrike">
              <a:solidFill>
                <a:schemeClr val="dk1"/>
              </a:solidFill>
              <a:latin typeface="Calibri"/>
              <a:ea typeface="Calibri"/>
              <a:cs typeface="Calibri"/>
              <a:sym typeface="Calibri"/>
            </a:endParaRPr>
          </a:p>
        </p:txBody>
      </p:sp>
      <p:sp>
        <p:nvSpPr>
          <p:cNvPr id="355" name="Google Shape;355;p7"/>
          <p:cNvSpPr/>
          <p:nvPr/>
        </p:nvSpPr>
        <p:spPr>
          <a:xfrm>
            <a:off x="502920" y="2569464"/>
            <a:ext cx="3636264" cy="3154680"/>
          </a:xfrm>
          <a:prstGeom prst="rect">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7"/>
          <p:cNvSpPr txBox="1"/>
          <p:nvPr/>
        </p:nvSpPr>
        <p:spPr>
          <a:xfrm>
            <a:off x="731520" y="2743200"/>
            <a:ext cx="3179064"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950"/>
              <a:buFont typeface="Calibri"/>
              <a:buNone/>
            </a:pPr>
            <a:r>
              <a:rPr b="1" i="0" lang="en-US" sz="950" u="none" cap="none" strike="noStrike">
                <a:solidFill>
                  <a:srgbClr val="5B6573"/>
                </a:solidFill>
                <a:latin typeface="Calibri"/>
                <a:ea typeface="Calibri"/>
                <a:cs typeface="Calibri"/>
                <a:sym typeface="Calibri"/>
              </a:rPr>
              <a:t>MEMBER 1</a:t>
            </a:r>
            <a:endParaRPr b="0" i="0" sz="950" u="none" cap="none" strike="noStrike">
              <a:solidFill>
                <a:schemeClr val="dk1"/>
              </a:solidFill>
              <a:latin typeface="Calibri"/>
              <a:ea typeface="Calibri"/>
              <a:cs typeface="Calibri"/>
              <a:sym typeface="Calibri"/>
            </a:endParaRPr>
          </a:p>
        </p:txBody>
      </p:sp>
      <p:sp>
        <p:nvSpPr>
          <p:cNvPr id="357" name="Google Shape;357;p7"/>
          <p:cNvSpPr txBox="1"/>
          <p:nvPr/>
        </p:nvSpPr>
        <p:spPr>
          <a:xfrm>
            <a:off x="731520" y="2971800"/>
            <a:ext cx="3179064"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92F7B"/>
              </a:buClr>
              <a:buSzPts val="1800"/>
              <a:buFont typeface="Calibri"/>
              <a:buNone/>
            </a:pPr>
            <a:r>
              <a:rPr b="1" i="0" lang="en-US" sz="1800" u="none" cap="none" strike="noStrike">
                <a:solidFill>
                  <a:srgbClr val="192F7B"/>
                </a:solidFill>
                <a:latin typeface="Calibri"/>
                <a:ea typeface="Calibri"/>
                <a:cs typeface="Calibri"/>
                <a:sym typeface="Calibri"/>
              </a:rPr>
              <a:t>Kemas Muhammad Athariq</a:t>
            </a:r>
            <a:endParaRPr b="0" i="0" sz="1800" u="none" cap="none" strike="noStrike">
              <a:solidFill>
                <a:schemeClr val="dk1"/>
              </a:solidFill>
              <a:latin typeface="Calibri"/>
              <a:ea typeface="Calibri"/>
              <a:cs typeface="Calibri"/>
              <a:sym typeface="Calibri"/>
            </a:endParaRPr>
          </a:p>
        </p:txBody>
      </p:sp>
      <p:cxnSp>
        <p:nvCxnSpPr>
          <p:cNvPr id="358" name="Google Shape;358;p7"/>
          <p:cNvCxnSpPr/>
          <p:nvPr/>
        </p:nvCxnSpPr>
        <p:spPr>
          <a:xfrm>
            <a:off x="731520" y="3657600"/>
            <a:ext cx="3179064" cy="0"/>
          </a:xfrm>
          <a:prstGeom prst="straightConnector1">
            <a:avLst/>
          </a:prstGeom>
          <a:noFill/>
          <a:ln cap="flat" cmpd="sng" w="9525">
            <a:solidFill>
              <a:srgbClr val="D3DAE4"/>
            </a:solidFill>
            <a:prstDash val="solid"/>
            <a:round/>
            <a:headEnd len="sm" w="sm" type="none"/>
            <a:tailEnd len="sm" w="sm" type="none"/>
          </a:ln>
        </p:spPr>
      </p:cxnSp>
      <p:sp>
        <p:nvSpPr>
          <p:cNvPr id="359" name="Google Shape;359;p7"/>
          <p:cNvSpPr txBox="1"/>
          <p:nvPr/>
        </p:nvSpPr>
        <p:spPr>
          <a:xfrm>
            <a:off x="731520" y="3749040"/>
            <a:ext cx="118872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950"/>
              <a:buFont typeface="Calibri"/>
              <a:buNone/>
            </a:pPr>
            <a:r>
              <a:rPr b="1" i="0" lang="en-US" sz="950" u="none" cap="none" strike="noStrike">
                <a:solidFill>
                  <a:srgbClr val="5B6573"/>
                </a:solidFill>
                <a:latin typeface="Calibri"/>
                <a:ea typeface="Calibri"/>
                <a:cs typeface="Calibri"/>
                <a:sym typeface="Calibri"/>
              </a:rPr>
              <a:t>MAJOR</a:t>
            </a:r>
            <a:endParaRPr b="0" i="0" sz="950" u="none" cap="none" strike="noStrike">
              <a:solidFill>
                <a:schemeClr val="dk1"/>
              </a:solidFill>
              <a:latin typeface="Calibri"/>
              <a:ea typeface="Calibri"/>
              <a:cs typeface="Calibri"/>
              <a:sym typeface="Calibri"/>
            </a:endParaRPr>
          </a:p>
        </p:txBody>
      </p:sp>
      <p:sp>
        <p:nvSpPr>
          <p:cNvPr id="360" name="Google Shape;360;p7"/>
          <p:cNvSpPr txBox="1"/>
          <p:nvPr/>
        </p:nvSpPr>
        <p:spPr>
          <a:xfrm>
            <a:off x="1920240" y="3721608"/>
            <a:ext cx="1990344"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430"/>
              </a:buClr>
              <a:buSzPts val="1300"/>
              <a:buFont typeface="Calibri"/>
              <a:buNone/>
            </a:pPr>
            <a:r>
              <a:rPr b="0" i="0" lang="en-US" sz="1300" u="none" cap="none" strike="noStrike">
                <a:solidFill>
                  <a:srgbClr val="1E2430"/>
                </a:solidFill>
                <a:latin typeface="Calibri"/>
                <a:ea typeface="Calibri"/>
                <a:cs typeface="Calibri"/>
                <a:sym typeface="Calibri"/>
              </a:rPr>
              <a:t>Informatics Engineering</a:t>
            </a:r>
            <a:endParaRPr b="0" i="0" sz="1300" u="none" cap="none" strike="noStrike">
              <a:solidFill>
                <a:schemeClr val="dk1"/>
              </a:solidFill>
              <a:latin typeface="Calibri"/>
              <a:ea typeface="Calibri"/>
              <a:cs typeface="Calibri"/>
              <a:sym typeface="Calibri"/>
            </a:endParaRPr>
          </a:p>
        </p:txBody>
      </p:sp>
      <p:cxnSp>
        <p:nvCxnSpPr>
          <p:cNvPr id="361" name="Google Shape;361;p7"/>
          <p:cNvCxnSpPr/>
          <p:nvPr/>
        </p:nvCxnSpPr>
        <p:spPr>
          <a:xfrm>
            <a:off x="731520" y="4151376"/>
            <a:ext cx="3179064" cy="0"/>
          </a:xfrm>
          <a:prstGeom prst="straightConnector1">
            <a:avLst/>
          </a:prstGeom>
          <a:noFill/>
          <a:ln cap="flat" cmpd="sng" w="9525">
            <a:solidFill>
              <a:srgbClr val="D3DAE4"/>
            </a:solidFill>
            <a:prstDash val="solid"/>
            <a:round/>
            <a:headEnd len="sm" w="sm" type="none"/>
            <a:tailEnd len="sm" w="sm" type="none"/>
          </a:ln>
        </p:spPr>
      </p:cxnSp>
      <p:sp>
        <p:nvSpPr>
          <p:cNvPr id="362" name="Google Shape;362;p7"/>
          <p:cNvSpPr txBox="1"/>
          <p:nvPr/>
        </p:nvSpPr>
        <p:spPr>
          <a:xfrm>
            <a:off x="731520" y="4242816"/>
            <a:ext cx="118872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950"/>
              <a:buFont typeface="Calibri"/>
              <a:buNone/>
            </a:pPr>
            <a:r>
              <a:rPr b="1" i="0" lang="en-US" sz="950" u="none" cap="none" strike="noStrike">
                <a:solidFill>
                  <a:srgbClr val="5B6573"/>
                </a:solidFill>
                <a:latin typeface="Calibri"/>
                <a:ea typeface="Calibri"/>
                <a:cs typeface="Calibri"/>
                <a:sym typeface="Calibri"/>
              </a:rPr>
              <a:t>SEMESTER</a:t>
            </a:r>
            <a:endParaRPr b="0" i="0" sz="950" u="none" cap="none" strike="noStrike">
              <a:solidFill>
                <a:schemeClr val="dk1"/>
              </a:solidFill>
              <a:latin typeface="Calibri"/>
              <a:ea typeface="Calibri"/>
              <a:cs typeface="Calibri"/>
              <a:sym typeface="Calibri"/>
            </a:endParaRPr>
          </a:p>
        </p:txBody>
      </p:sp>
      <p:sp>
        <p:nvSpPr>
          <p:cNvPr id="363" name="Google Shape;363;p7"/>
          <p:cNvSpPr txBox="1"/>
          <p:nvPr/>
        </p:nvSpPr>
        <p:spPr>
          <a:xfrm>
            <a:off x="1920240" y="4215384"/>
            <a:ext cx="1990344"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45309"/>
              </a:buClr>
              <a:buSzPts val="1300"/>
              <a:buFont typeface="Calibri"/>
              <a:buNone/>
            </a:pPr>
            <a:r>
              <a:rPr b="1" i="0" lang="en-US" sz="1300" u="none" cap="none" strike="noStrike">
                <a:solidFill>
                  <a:srgbClr val="B45309"/>
                </a:solidFill>
                <a:latin typeface="Calibri"/>
                <a:ea typeface="Calibri"/>
                <a:cs typeface="Calibri"/>
                <a:sym typeface="Calibri"/>
              </a:rPr>
              <a:t>[TO FILL]</a:t>
            </a:r>
            <a:endParaRPr b="0" i="0" sz="1300" u="none" cap="none" strike="noStrike">
              <a:solidFill>
                <a:schemeClr val="dk1"/>
              </a:solidFill>
              <a:latin typeface="Calibri"/>
              <a:ea typeface="Calibri"/>
              <a:cs typeface="Calibri"/>
              <a:sym typeface="Calibri"/>
            </a:endParaRPr>
          </a:p>
        </p:txBody>
      </p:sp>
      <p:cxnSp>
        <p:nvCxnSpPr>
          <p:cNvPr id="364" name="Google Shape;364;p7"/>
          <p:cNvCxnSpPr/>
          <p:nvPr/>
        </p:nvCxnSpPr>
        <p:spPr>
          <a:xfrm>
            <a:off x="731520" y="4645152"/>
            <a:ext cx="3179064" cy="0"/>
          </a:xfrm>
          <a:prstGeom prst="straightConnector1">
            <a:avLst/>
          </a:prstGeom>
          <a:noFill/>
          <a:ln cap="flat" cmpd="sng" w="9525">
            <a:solidFill>
              <a:srgbClr val="D3DAE4"/>
            </a:solidFill>
            <a:prstDash val="solid"/>
            <a:round/>
            <a:headEnd len="sm" w="sm" type="none"/>
            <a:tailEnd len="sm" w="sm" type="none"/>
          </a:ln>
        </p:spPr>
      </p:cxnSp>
      <p:sp>
        <p:nvSpPr>
          <p:cNvPr id="365" name="Google Shape;365;p7"/>
          <p:cNvSpPr txBox="1"/>
          <p:nvPr/>
        </p:nvSpPr>
        <p:spPr>
          <a:xfrm>
            <a:off x="731520" y="4736592"/>
            <a:ext cx="118872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950"/>
              <a:buFont typeface="Calibri"/>
              <a:buNone/>
            </a:pPr>
            <a:r>
              <a:rPr b="1" i="0" lang="en-US" sz="950" u="none" cap="none" strike="noStrike">
                <a:solidFill>
                  <a:srgbClr val="5B6573"/>
                </a:solidFill>
                <a:latin typeface="Calibri"/>
                <a:ea typeface="Calibri"/>
                <a:cs typeface="Calibri"/>
                <a:sym typeface="Calibri"/>
              </a:rPr>
              <a:t>CONTRIBUTION</a:t>
            </a:r>
            <a:endParaRPr b="0" i="0" sz="950" u="none" cap="none" strike="noStrike">
              <a:solidFill>
                <a:schemeClr val="dk1"/>
              </a:solidFill>
              <a:latin typeface="Calibri"/>
              <a:ea typeface="Calibri"/>
              <a:cs typeface="Calibri"/>
              <a:sym typeface="Calibri"/>
            </a:endParaRPr>
          </a:p>
        </p:txBody>
      </p:sp>
      <p:sp>
        <p:nvSpPr>
          <p:cNvPr id="366" name="Google Shape;366;p7"/>
          <p:cNvSpPr txBox="1"/>
          <p:nvPr/>
        </p:nvSpPr>
        <p:spPr>
          <a:xfrm>
            <a:off x="1920240" y="4709160"/>
            <a:ext cx="1990344"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430"/>
              </a:buClr>
              <a:buSzPts val="1300"/>
              <a:buFont typeface="Calibri"/>
              <a:buNone/>
            </a:pPr>
            <a:r>
              <a:rPr b="0" i="0" lang="en-US" sz="1300" u="none" cap="none" strike="noStrike">
                <a:solidFill>
                  <a:srgbClr val="1E2430"/>
                </a:solidFill>
                <a:latin typeface="Calibri"/>
                <a:ea typeface="Calibri"/>
                <a:cs typeface="Calibri"/>
                <a:sym typeface="Calibri"/>
              </a:rPr>
              <a:t>Solution thesis, business impact, SOP and governance, deck</a:t>
            </a:r>
            <a:endParaRPr b="0" i="0" sz="1300" u="none" cap="none" strike="noStrike">
              <a:solidFill>
                <a:schemeClr val="dk1"/>
              </a:solidFill>
              <a:latin typeface="Calibri"/>
              <a:ea typeface="Calibri"/>
              <a:cs typeface="Calibri"/>
              <a:sym typeface="Calibri"/>
            </a:endParaRPr>
          </a:p>
        </p:txBody>
      </p:sp>
      <p:sp>
        <p:nvSpPr>
          <p:cNvPr id="367" name="Google Shape;367;p7"/>
          <p:cNvSpPr txBox="1"/>
          <p:nvPr/>
        </p:nvSpPr>
        <p:spPr>
          <a:xfrm>
            <a:off x="4276344" y="2240280"/>
            <a:ext cx="3636264" cy="329184"/>
          </a:xfrm>
          <a:prstGeom prst="rect">
            <a:avLst/>
          </a:prstGeom>
          <a:solidFill>
            <a:srgbClr val="192F7B"/>
          </a:solidFill>
          <a:ln cap="flat" cmpd="sng" w="9525">
            <a:solidFill>
              <a:srgbClr val="192F7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Intelligence and analytics</a:t>
            </a:r>
            <a:endParaRPr b="0" i="0" sz="1200" u="none" cap="none" strike="noStrike">
              <a:solidFill>
                <a:schemeClr val="dk1"/>
              </a:solidFill>
              <a:latin typeface="Calibri"/>
              <a:ea typeface="Calibri"/>
              <a:cs typeface="Calibri"/>
              <a:sym typeface="Calibri"/>
            </a:endParaRPr>
          </a:p>
        </p:txBody>
      </p:sp>
      <p:sp>
        <p:nvSpPr>
          <p:cNvPr id="368" name="Google Shape;368;p7"/>
          <p:cNvSpPr/>
          <p:nvPr/>
        </p:nvSpPr>
        <p:spPr>
          <a:xfrm>
            <a:off x="4276344" y="2569464"/>
            <a:ext cx="3636264" cy="3154680"/>
          </a:xfrm>
          <a:prstGeom prst="rect">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7"/>
          <p:cNvSpPr txBox="1"/>
          <p:nvPr/>
        </p:nvSpPr>
        <p:spPr>
          <a:xfrm>
            <a:off x="4504944" y="2743200"/>
            <a:ext cx="3179064"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950"/>
              <a:buFont typeface="Calibri"/>
              <a:buNone/>
            </a:pPr>
            <a:r>
              <a:rPr b="1" i="0" lang="en-US" sz="950" u="none" cap="none" strike="noStrike">
                <a:solidFill>
                  <a:srgbClr val="5B6573"/>
                </a:solidFill>
                <a:latin typeface="Calibri"/>
                <a:ea typeface="Calibri"/>
                <a:cs typeface="Calibri"/>
                <a:sym typeface="Calibri"/>
              </a:rPr>
              <a:t>MEMBER 2</a:t>
            </a:r>
            <a:endParaRPr b="0" i="0" sz="950" u="none" cap="none" strike="noStrike">
              <a:solidFill>
                <a:schemeClr val="dk1"/>
              </a:solidFill>
              <a:latin typeface="Calibri"/>
              <a:ea typeface="Calibri"/>
              <a:cs typeface="Calibri"/>
              <a:sym typeface="Calibri"/>
            </a:endParaRPr>
          </a:p>
        </p:txBody>
      </p:sp>
      <p:sp>
        <p:nvSpPr>
          <p:cNvPr id="370" name="Google Shape;370;p7"/>
          <p:cNvSpPr txBox="1"/>
          <p:nvPr/>
        </p:nvSpPr>
        <p:spPr>
          <a:xfrm>
            <a:off x="4504944" y="2971800"/>
            <a:ext cx="3179064"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45309"/>
              </a:buClr>
              <a:buSzPts val="1800"/>
              <a:buFont typeface="Calibri"/>
              <a:buNone/>
            </a:pPr>
            <a:r>
              <a:rPr b="1" i="0" lang="en-US" sz="1800" u="none" cap="none" strike="noStrike">
                <a:solidFill>
                  <a:srgbClr val="B45309"/>
                </a:solidFill>
                <a:latin typeface="Calibri"/>
                <a:ea typeface="Calibri"/>
                <a:cs typeface="Calibri"/>
                <a:sym typeface="Calibri"/>
              </a:rPr>
              <a:t>[TO FILL: Brilian, full name]</a:t>
            </a:r>
            <a:endParaRPr b="0" i="0" sz="1800" u="none" cap="none" strike="noStrike">
              <a:solidFill>
                <a:schemeClr val="dk1"/>
              </a:solidFill>
              <a:latin typeface="Calibri"/>
              <a:ea typeface="Calibri"/>
              <a:cs typeface="Calibri"/>
              <a:sym typeface="Calibri"/>
            </a:endParaRPr>
          </a:p>
        </p:txBody>
      </p:sp>
      <p:cxnSp>
        <p:nvCxnSpPr>
          <p:cNvPr id="371" name="Google Shape;371;p7"/>
          <p:cNvCxnSpPr/>
          <p:nvPr/>
        </p:nvCxnSpPr>
        <p:spPr>
          <a:xfrm>
            <a:off x="4504944" y="3657600"/>
            <a:ext cx="3179064" cy="0"/>
          </a:xfrm>
          <a:prstGeom prst="straightConnector1">
            <a:avLst/>
          </a:prstGeom>
          <a:noFill/>
          <a:ln cap="flat" cmpd="sng" w="9525">
            <a:solidFill>
              <a:srgbClr val="D3DAE4"/>
            </a:solidFill>
            <a:prstDash val="solid"/>
            <a:round/>
            <a:headEnd len="sm" w="sm" type="none"/>
            <a:tailEnd len="sm" w="sm" type="none"/>
          </a:ln>
        </p:spPr>
      </p:cxnSp>
      <p:sp>
        <p:nvSpPr>
          <p:cNvPr id="372" name="Google Shape;372;p7"/>
          <p:cNvSpPr txBox="1"/>
          <p:nvPr/>
        </p:nvSpPr>
        <p:spPr>
          <a:xfrm>
            <a:off x="4504944" y="3749040"/>
            <a:ext cx="118872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950"/>
              <a:buFont typeface="Calibri"/>
              <a:buNone/>
            </a:pPr>
            <a:r>
              <a:rPr b="1" i="0" lang="en-US" sz="950" u="none" cap="none" strike="noStrike">
                <a:solidFill>
                  <a:srgbClr val="5B6573"/>
                </a:solidFill>
                <a:latin typeface="Calibri"/>
                <a:ea typeface="Calibri"/>
                <a:cs typeface="Calibri"/>
                <a:sym typeface="Calibri"/>
              </a:rPr>
              <a:t>MAJOR</a:t>
            </a:r>
            <a:endParaRPr b="0" i="0" sz="950" u="none" cap="none" strike="noStrike">
              <a:solidFill>
                <a:schemeClr val="dk1"/>
              </a:solidFill>
              <a:latin typeface="Calibri"/>
              <a:ea typeface="Calibri"/>
              <a:cs typeface="Calibri"/>
              <a:sym typeface="Calibri"/>
            </a:endParaRPr>
          </a:p>
        </p:txBody>
      </p:sp>
      <p:sp>
        <p:nvSpPr>
          <p:cNvPr id="373" name="Google Shape;373;p7"/>
          <p:cNvSpPr txBox="1"/>
          <p:nvPr/>
        </p:nvSpPr>
        <p:spPr>
          <a:xfrm>
            <a:off x="5693664" y="3721608"/>
            <a:ext cx="1990344"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45309"/>
              </a:buClr>
              <a:buSzPts val="1300"/>
              <a:buFont typeface="Calibri"/>
              <a:buNone/>
            </a:pPr>
            <a:r>
              <a:rPr b="1" i="0" lang="en-US" sz="1300" u="none" cap="none" strike="noStrike">
                <a:solidFill>
                  <a:srgbClr val="B45309"/>
                </a:solidFill>
                <a:latin typeface="Calibri"/>
                <a:ea typeface="Calibri"/>
                <a:cs typeface="Calibri"/>
                <a:sym typeface="Calibri"/>
              </a:rPr>
              <a:t>[TO FILL]</a:t>
            </a:r>
            <a:endParaRPr b="0" i="0" sz="1300" u="none" cap="none" strike="noStrike">
              <a:solidFill>
                <a:schemeClr val="dk1"/>
              </a:solidFill>
              <a:latin typeface="Calibri"/>
              <a:ea typeface="Calibri"/>
              <a:cs typeface="Calibri"/>
              <a:sym typeface="Calibri"/>
            </a:endParaRPr>
          </a:p>
        </p:txBody>
      </p:sp>
      <p:cxnSp>
        <p:nvCxnSpPr>
          <p:cNvPr id="374" name="Google Shape;374;p7"/>
          <p:cNvCxnSpPr/>
          <p:nvPr/>
        </p:nvCxnSpPr>
        <p:spPr>
          <a:xfrm>
            <a:off x="4504944" y="4151376"/>
            <a:ext cx="3179064" cy="0"/>
          </a:xfrm>
          <a:prstGeom prst="straightConnector1">
            <a:avLst/>
          </a:prstGeom>
          <a:noFill/>
          <a:ln cap="flat" cmpd="sng" w="9525">
            <a:solidFill>
              <a:srgbClr val="D3DAE4"/>
            </a:solidFill>
            <a:prstDash val="solid"/>
            <a:round/>
            <a:headEnd len="sm" w="sm" type="none"/>
            <a:tailEnd len="sm" w="sm" type="none"/>
          </a:ln>
        </p:spPr>
      </p:cxnSp>
      <p:sp>
        <p:nvSpPr>
          <p:cNvPr id="375" name="Google Shape;375;p7"/>
          <p:cNvSpPr txBox="1"/>
          <p:nvPr/>
        </p:nvSpPr>
        <p:spPr>
          <a:xfrm>
            <a:off x="4504944" y="4242816"/>
            <a:ext cx="118872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950"/>
              <a:buFont typeface="Calibri"/>
              <a:buNone/>
            </a:pPr>
            <a:r>
              <a:rPr b="1" i="0" lang="en-US" sz="950" u="none" cap="none" strike="noStrike">
                <a:solidFill>
                  <a:srgbClr val="5B6573"/>
                </a:solidFill>
                <a:latin typeface="Calibri"/>
                <a:ea typeface="Calibri"/>
                <a:cs typeface="Calibri"/>
                <a:sym typeface="Calibri"/>
              </a:rPr>
              <a:t>SEMESTER</a:t>
            </a:r>
            <a:endParaRPr b="0" i="0" sz="950" u="none" cap="none" strike="noStrike">
              <a:solidFill>
                <a:schemeClr val="dk1"/>
              </a:solidFill>
              <a:latin typeface="Calibri"/>
              <a:ea typeface="Calibri"/>
              <a:cs typeface="Calibri"/>
              <a:sym typeface="Calibri"/>
            </a:endParaRPr>
          </a:p>
        </p:txBody>
      </p:sp>
      <p:sp>
        <p:nvSpPr>
          <p:cNvPr id="376" name="Google Shape;376;p7"/>
          <p:cNvSpPr txBox="1"/>
          <p:nvPr/>
        </p:nvSpPr>
        <p:spPr>
          <a:xfrm>
            <a:off x="5693664" y="4215384"/>
            <a:ext cx="1990344"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45309"/>
              </a:buClr>
              <a:buSzPts val="1300"/>
              <a:buFont typeface="Calibri"/>
              <a:buNone/>
            </a:pPr>
            <a:r>
              <a:rPr b="1" i="0" lang="en-US" sz="1300" u="none" cap="none" strike="noStrike">
                <a:solidFill>
                  <a:srgbClr val="B45309"/>
                </a:solidFill>
                <a:latin typeface="Calibri"/>
                <a:ea typeface="Calibri"/>
                <a:cs typeface="Calibri"/>
                <a:sym typeface="Calibri"/>
              </a:rPr>
              <a:t>[TO FILL]</a:t>
            </a:r>
            <a:endParaRPr b="0" i="0" sz="1300" u="none" cap="none" strike="noStrike">
              <a:solidFill>
                <a:schemeClr val="dk1"/>
              </a:solidFill>
              <a:latin typeface="Calibri"/>
              <a:ea typeface="Calibri"/>
              <a:cs typeface="Calibri"/>
              <a:sym typeface="Calibri"/>
            </a:endParaRPr>
          </a:p>
        </p:txBody>
      </p:sp>
      <p:cxnSp>
        <p:nvCxnSpPr>
          <p:cNvPr id="377" name="Google Shape;377;p7"/>
          <p:cNvCxnSpPr/>
          <p:nvPr/>
        </p:nvCxnSpPr>
        <p:spPr>
          <a:xfrm>
            <a:off x="4504944" y="4645152"/>
            <a:ext cx="3179064" cy="0"/>
          </a:xfrm>
          <a:prstGeom prst="straightConnector1">
            <a:avLst/>
          </a:prstGeom>
          <a:noFill/>
          <a:ln cap="flat" cmpd="sng" w="9525">
            <a:solidFill>
              <a:srgbClr val="D3DAE4"/>
            </a:solidFill>
            <a:prstDash val="solid"/>
            <a:round/>
            <a:headEnd len="sm" w="sm" type="none"/>
            <a:tailEnd len="sm" w="sm" type="none"/>
          </a:ln>
        </p:spPr>
      </p:cxnSp>
      <p:sp>
        <p:nvSpPr>
          <p:cNvPr id="378" name="Google Shape;378;p7"/>
          <p:cNvSpPr txBox="1"/>
          <p:nvPr/>
        </p:nvSpPr>
        <p:spPr>
          <a:xfrm>
            <a:off x="4504944" y="4736592"/>
            <a:ext cx="118872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950"/>
              <a:buFont typeface="Calibri"/>
              <a:buNone/>
            </a:pPr>
            <a:r>
              <a:rPr b="1" i="0" lang="en-US" sz="950" u="none" cap="none" strike="noStrike">
                <a:solidFill>
                  <a:srgbClr val="5B6573"/>
                </a:solidFill>
                <a:latin typeface="Calibri"/>
                <a:ea typeface="Calibri"/>
                <a:cs typeface="Calibri"/>
                <a:sym typeface="Calibri"/>
              </a:rPr>
              <a:t>CONTRIBUTION</a:t>
            </a:r>
            <a:endParaRPr b="0" i="0" sz="950" u="none" cap="none" strike="noStrike">
              <a:solidFill>
                <a:schemeClr val="dk1"/>
              </a:solidFill>
              <a:latin typeface="Calibri"/>
              <a:ea typeface="Calibri"/>
              <a:cs typeface="Calibri"/>
              <a:sym typeface="Calibri"/>
            </a:endParaRPr>
          </a:p>
        </p:txBody>
      </p:sp>
      <p:sp>
        <p:nvSpPr>
          <p:cNvPr id="379" name="Google Shape;379;p7"/>
          <p:cNvSpPr txBox="1"/>
          <p:nvPr/>
        </p:nvSpPr>
        <p:spPr>
          <a:xfrm>
            <a:off x="5693664" y="4709160"/>
            <a:ext cx="1990344"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430"/>
              </a:buClr>
              <a:buSzPts val="1300"/>
              <a:buFont typeface="Calibri"/>
              <a:buNone/>
            </a:pPr>
            <a:r>
              <a:rPr b="0" i="0" lang="en-US" sz="1300" u="none" cap="none" strike="noStrike">
                <a:solidFill>
                  <a:srgbClr val="1E2430"/>
                </a:solidFill>
                <a:latin typeface="Calibri"/>
                <a:ea typeface="Calibri"/>
                <a:cs typeface="Calibri"/>
                <a:sym typeface="Calibri"/>
              </a:rPr>
              <a:t>Data mapping and validation, condition and RCA logic, prioritization, retrieval</a:t>
            </a:r>
            <a:endParaRPr b="0" i="0" sz="1300" u="none" cap="none" strike="noStrike">
              <a:solidFill>
                <a:schemeClr val="dk1"/>
              </a:solidFill>
              <a:latin typeface="Calibri"/>
              <a:ea typeface="Calibri"/>
              <a:cs typeface="Calibri"/>
              <a:sym typeface="Calibri"/>
            </a:endParaRPr>
          </a:p>
        </p:txBody>
      </p:sp>
      <p:sp>
        <p:nvSpPr>
          <p:cNvPr id="380" name="Google Shape;380;p7"/>
          <p:cNvSpPr txBox="1"/>
          <p:nvPr/>
        </p:nvSpPr>
        <p:spPr>
          <a:xfrm>
            <a:off x="8049768" y="2240280"/>
            <a:ext cx="3636264" cy="329184"/>
          </a:xfrm>
          <a:prstGeom prst="rect">
            <a:avLst/>
          </a:prstGeom>
          <a:solidFill>
            <a:srgbClr val="192F7B"/>
          </a:solidFill>
          <a:ln cap="flat" cmpd="sng" w="9525">
            <a:solidFill>
              <a:srgbClr val="192F7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Digital twin and experience</a:t>
            </a:r>
            <a:endParaRPr b="0" i="0" sz="1200" u="none" cap="none" strike="noStrike">
              <a:solidFill>
                <a:schemeClr val="dk1"/>
              </a:solidFill>
              <a:latin typeface="Calibri"/>
              <a:ea typeface="Calibri"/>
              <a:cs typeface="Calibri"/>
              <a:sym typeface="Calibri"/>
            </a:endParaRPr>
          </a:p>
        </p:txBody>
      </p:sp>
      <p:sp>
        <p:nvSpPr>
          <p:cNvPr id="381" name="Google Shape;381;p7"/>
          <p:cNvSpPr/>
          <p:nvPr/>
        </p:nvSpPr>
        <p:spPr>
          <a:xfrm>
            <a:off x="8049768" y="2569464"/>
            <a:ext cx="3636264" cy="3154680"/>
          </a:xfrm>
          <a:prstGeom prst="rect">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7"/>
          <p:cNvSpPr txBox="1"/>
          <p:nvPr/>
        </p:nvSpPr>
        <p:spPr>
          <a:xfrm>
            <a:off x="8278368" y="2743200"/>
            <a:ext cx="3179064"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950"/>
              <a:buFont typeface="Calibri"/>
              <a:buNone/>
            </a:pPr>
            <a:r>
              <a:rPr b="1" i="0" lang="en-US" sz="950" u="none" cap="none" strike="noStrike">
                <a:solidFill>
                  <a:srgbClr val="5B6573"/>
                </a:solidFill>
                <a:latin typeface="Calibri"/>
                <a:ea typeface="Calibri"/>
                <a:cs typeface="Calibri"/>
                <a:sym typeface="Calibri"/>
              </a:rPr>
              <a:t>MEMBER 3</a:t>
            </a:r>
            <a:endParaRPr b="0" i="0" sz="950" u="none" cap="none" strike="noStrike">
              <a:solidFill>
                <a:schemeClr val="dk1"/>
              </a:solidFill>
              <a:latin typeface="Calibri"/>
              <a:ea typeface="Calibri"/>
              <a:cs typeface="Calibri"/>
              <a:sym typeface="Calibri"/>
            </a:endParaRPr>
          </a:p>
        </p:txBody>
      </p:sp>
      <p:sp>
        <p:nvSpPr>
          <p:cNvPr id="383" name="Google Shape;383;p7"/>
          <p:cNvSpPr txBox="1"/>
          <p:nvPr/>
        </p:nvSpPr>
        <p:spPr>
          <a:xfrm>
            <a:off x="8278368" y="2971800"/>
            <a:ext cx="3179064"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45309"/>
              </a:buClr>
              <a:buSzPts val="1800"/>
              <a:buFont typeface="Calibri"/>
              <a:buNone/>
            </a:pPr>
            <a:r>
              <a:rPr b="1" i="0" lang="en-US" sz="1800" u="none" cap="none" strike="noStrike">
                <a:solidFill>
                  <a:srgbClr val="B45309"/>
                </a:solidFill>
                <a:latin typeface="Calibri"/>
                <a:ea typeface="Calibri"/>
                <a:cs typeface="Calibri"/>
                <a:sym typeface="Calibri"/>
              </a:rPr>
              <a:t>[TO FILL: Atria, full name]</a:t>
            </a:r>
            <a:endParaRPr b="0" i="0" sz="1800" u="none" cap="none" strike="noStrike">
              <a:solidFill>
                <a:schemeClr val="dk1"/>
              </a:solidFill>
              <a:latin typeface="Calibri"/>
              <a:ea typeface="Calibri"/>
              <a:cs typeface="Calibri"/>
              <a:sym typeface="Calibri"/>
            </a:endParaRPr>
          </a:p>
        </p:txBody>
      </p:sp>
      <p:cxnSp>
        <p:nvCxnSpPr>
          <p:cNvPr id="384" name="Google Shape;384;p7"/>
          <p:cNvCxnSpPr/>
          <p:nvPr/>
        </p:nvCxnSpPr>
        <p:spPr>
          <a:xfrm>
            <a:off x="8278368" y="3657600"/>
            <a:ext cx="3179064" cy="0"/>
          </a:xfrm>
          <a:prstGeom prst="straightConnector1">
            <a:avLst/>
          </a:prstGeom>
          <a:noFill/>
          <a:ln cap="flat" cmpd="sng" w="9525">
            <a:solidFill>
              <a:srgbClr val="D3DAE4"/>
            </a:solidFill>
            <a:prstDash val="solid"/>
            <a:round/>
            <a:headEnd len="sm" w="sm" type="none"/>
            <a:tailEnd len="sm" w="sm" type="none"/>
          </a:ln>
        </p:spPr>
      </p:cxnSp>
      <p:sp>
        <p:nvSpPr>
          <p:cNvPr id="385" name="Google Shape;385;p7"/>
          <p:cNvSpPr txBox="1"/>
          <p:nvPr/>
        </p:nvSpPr>
        <p:spPr>
          <a:xfrm>
            <a:off x="8278368" y="3749040"/>
            <a:ext cx="118872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950"/>
              <a:buFont typeface="Calibri"/>
              <a:buNone/>
            </a:pPr>
            <a:r>
              <a:rPr b="1" i="0" lang="en-US" sz="950" u="none" cap="none" strike="noStrike">
                <a:solidFill>
                  <a:srgbClr val="5B6573"/>
                </a:solidFill>
                <a:latin typeface="Calibri"/>
                <a:ea typeface="Calibri"/>
                <a:cs typeface="Calibri"/>
                <a:sym typeface="Calibri"/>
              </a:rPr>
              <a:t>MAJOR</a:t>
            </a:r>
            <a:endParaRPr b="0" i="0" sz="950" u="none" cap="none" strike="noStrike">
              <a:solidFill>
                <a:schemeClr val="dk1"/>
              </a:solidFill>
              <a:latin typeface="Calibri"/>
              <a:ea typeface="Calibri"/>
              <a:cs typeface="Calibri"/>
              <a:sym typeface="Calibri"/>
            </a:endParaRPr>
          </a:p>
        </p:txBody>
      </p:sp>
      <p:sp>
        <p:nvSpPr>
          <p:cNvPr id="386" name="Google Shape;386;p7"/>
          <p:cNvSpPr txBox="1"/>
          <p:nvPr/>
        </p:nvSpPr>
        <p:spPr>
          <a:xfrm>
            <a:off x="9467088" y="3721608"/>
            <a:ext cx="1990344"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45309"/>
              </a:buClr>
              <a:buSzPts val="1300"/>
              <a:buFont typeface="Calibri"/>
              <a:buNone/>
            </a:pPr>
            <a:r>
              <a:rPr b="1" i="0" lang="en-US" sz="1300" u="none" cap="none" strike="noStrike">
                <a:solidFill>
                  <a:srgbClr val="B45309"/>
                </a:solidFill>
                <a:latin typeface="Calibri"/>
                <a:ea typeface="Calibri"/>
                <a:cs typeface="Calibri"/>
                <a:sym typeface="Calibri"/>
              </a:rPr>
              <a:t>[TO FILL]</a:t>
            </a:r>
            <a:endParaRPr b="0" i="0" sz="1300" u="none" cap="none" strike="noStrike">
              <a:solidFill>
                <a:schemeClr val="dk1"/>
              </a:solidFill>
              <a:latin typeface="Calibri"/>
              <a:ea typeface="Calibri"/>
              <a:cs typeface="Calibri"/>
              <a:sym typeface="Calibri"/>
            </a:endParaRPr>
          </a:p>
        </p:txBody>
      </p:sp>
      <p:cxnSp>
        <p:nvCxnSpPr>
          <p:cNvPr id="387" name="Google Shape;387;p7"/>
          <p:cNvCxnSpPr/>
          <p:nvPr/>
        </p:nvCxnSpPr>
        <p:spPr>
          <a:xfrm>
            <a:off x="8278368" y="4151376"/>
            <a:ext cx="3179064" cy="0"/>
          </a:xfrm>
          <a:prstGeom prst="straightConnector1">
            <a:avLst/>
          </a:prstGeom>
          <a:noFill/>
          <a:ln cap="flat" cmpd="sng" w="9525">
            <a:solidFill>
              <a:srgbClr val="D3DAE4"/>
            </a:solidFill>
            <a:prstDash val="solid"/>
            <a:round/>
            <a:headEnd len="sm" w="sm" type="none"/>
            <a:tailEnd len="sm" w="sm" type="none"/>
          </a:ln>
        </p:spPr>
      </p:cxnSp>
      <p:sp>
        <p:nvSpPr>
          <p:cNvPr id="388" name="Google Shape;388;p7"/>
          <p:cNvSpPr txBox="1"/>
          <p:nvPr/>
        </p:nvSpPr>
        <p:spPr>
          <a:xfrm>
            <a:off x="8278368" y="4242816"/>
            <a:ext cx="118872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950"/>
              <a:buFont typeface="Calibri"/>
              <a:buNone/>
            </a:pPr>
            <a:r>
              <a:rPr b="1" i="0" lang="en-US" sz="950" u="none" cap="none" strike="noStrike">
                <a:solidFill>
                  <a:srgbClr val="5B6573"/>
                </a:solidFill>
                <a:latin typeface="Calibri"/>
                <a:ea typeface="Calibri"/>
                <a:cs typeface="Calibri"/>
                <a:sym typeface="Calibri"/>
              </a:rPr>
              <a:t>SEMESTER</a:t>
            </a:r>
            <a:endParaRPr b="0" i="0" sz="950" u="none" cap="none" strike="noStrike">
              <a:solidFill>
                <a:schemeClr val="dk1"/>
              </a:solidFill>
              <a:latin typeface="Calibri"/>
              <a:ea typeface="Calibri"/>
              <a:cs typeface="Calibri"/>
              <a:sym typeface="Calibri"/>
            </a:endParaRPr>
          </a:p>
        </p:txBody>
      </p:sp>
      <p:sp>
        <p:nvSpPr>
          <p:cNvPr id="389" name="Google Shape;389;p7"/>
          <p:cNvSpPr txBox="1"/>
          <p:nvPr/>
        </p:nvSpPr>
        <p:spPr>
          <a:xfrm>
            <a:off x="9467088" y="4215384"/>
            <a:ext cx="1990344"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45309"/>
              </a:buClr>
              <a:buSzPts val="1300"/>
              <a:buFont typeface="Calibri"/>
              <a:buNone/>
            </a:pPr>
            <a:r>
              <a:rPr b="1" i="0" lang="en-US" sz="1300" u="none" cap="none" strike="noStrike">
                <a:solidFill>
                  <a:srgbClr val="B45309"/>
                </a:solidFill>
                <a:latin typeface="Calibri"/>
                <a:ea typeface="Calibri"/>
                <a:cs typeface="Calibri"/>
                <a:sym typeface="Calibri"/>
              </a:rPr>
              <a:t>[TO FILL]</a:t>
            </a:r>
            <a:endParaRPr b="0" i="0" sz="1300" u="none" cap="none" strike="noStrike">
              <a:solidFill>
                <a:schemeClr val="dk1"/>
              </a:solidFill>
              <a:latin typeface="Calibri"/>
              <a:ea typeface="Calibri"/>
              <a:cs typeface="Calibri"/>
              <a:sym typeface="Calibri"/>
            </a:endParaRPr>
          </a:p>
        </p:txBody>
      </p:sp>
      <p:cxnSp>
        <p:nvCxnSpPr>
          <p:cNvPr id="390" name="Google Shape;390;p7"/>
          <p:cNvCxnSpPr/>
          <p:nvPr/>
        </p:nvCxnSpPr>
        <p:spPr>
          <a:xfrm>
            <a:off x="8278368" y="4645152"/>
            <a:ext cx="3179064" cy="0"/>
          </a:xfrm>
          <a:prstGeom prst="straightConnector1">
            <a:avLst/>
          </a:prstGeom>
          <a:noFill/>
          <a:ln cap="flat" cmpd="sng" w="9525">
            <a:solidFill>
              <a:srgbClr val="D3DAE4"/>
            </a:solidFill>
            <a:prstDash val="solid"/>
            <a:round/>
            <a:headEnd len="sm" w="sm" type="none"/>
            <a:tailEnd len="sm" w="sm" type="none"/>
          </a:ln>
        </p:spPr>
      </p:cxnSp>
      <p:sp>
        <p:nvSpPr>
          <p:cNvPr id="391" name="Google Shape;391;p7"/>
          <p:cNvSpPr txBox="1"/>
          <p:nvPr/>
        </p:nvSpPr>
        <p:spPr>
          <a:xfrm>
            <a:off x="8278368" y="4736592"/>
            <a:ext cx="118872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950"/>
              <a:buFont typeface="Calibri"/>
              <a:buNone/>
            </a:pPr>
            <a:r>
              <a:rPr b="1" i="0" lang="en-US" sz="950" u="none" cap="none" strike="noStrike">
                <a:solidFill>
                  <a:srgbClr val="5B6573"/>
                </a:solidFill>
                <a:latin typeface="Calibri"/>
                <a:ea typeface="Calibri"/>
                <a:cs typeface="Calibri"/>
                <a:sym typeface="Calibri"/>
              </a:rPr>
              <a:t>CONTRIBUTION</a:t>
            </a:r>
            <a:endParaRPr b="0" i="0" sz="950" u="none" cap="none" strike="noStrike">
              <a:solidFill>
                <a:schemeClr val="dk1"/>
              </a:solidFill>
              <a:latin typeface="Calibri"/>
              <a:ea typeface="Calibri"/>
              <a:cs typeface="Calibri"/>
              <a:sym typeface="Calibri"/>
            </a:endParaRPr>
          </a:p>
        </p:txBody>
      </p:sp>
      <p:sp>
        <p:nvSpPr>
          <p:cNvPr id="392" name="Google Shape;392;p7"/>
          <p:cNvSpPr txBox="1"/>
          <p:nvPr/>
        </p:nvSpPr>
        <p:spPr>
          <a:xfrm>
            <a:off x="9467088" y="4709160"/>
            <a:ext cx="1990344"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430"/>
              </a:buClr>
              <a:buSzPts val="1300"/>
              <a:buFont typeface="Calibri"/>
              <a:buNone/>
            </a:pPr>
            <a:r>
              <a:rPr b="0" i="0" lang="en-US" sz="1300" u="none" cap="none" strike="noStrike">
                <a:solidFill>
                  <a:srgbClr val="1E2430"/>
                </a:solidFill>
                <a:latin typeface="Calibri"/>
                <a:ea typeface="Calibri"/>
                <a:cs typeface="Calibri"/>
                <a:sym typeface="Calibri"/>
              </a:rPr>
              <a:t>UX/UI, prototype, demo video</a:t>
            </a:r>
            <a:endParaRPr b="0" i="0" sz="1300" u="none" cap="none" strike="noStrike">
              <a:solidFill>
                <a:schemeClr val="dk1"/>
              </a:solidFill>
              <a:latin typeface="Calibri"/>
              <a:ea typeface="Calibri"/>
              <a:cs typeface="Calibri"/>
              <a:sym typeface="Calibri"/>
            </a:endParaRPr>
          </a:p>
        </p:txBody>
      </p:sp>
      <p:sp>
        <p:nvSpPr>
          <p:cNvPr id="393" name="Google Shape;393;p7"/>
          <p:cNvSpPr txBox="1"/>
          <p:nvPr/>
        </p:nvSpPr>
        <p:spPr>
          <a:xfrm>
            <a:off x="502920" y="5961888"/>
            <a:ext cx="11183112"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850"/>
              <a:buFont typeface="Calibri"/>
              <a:buNone/>
            </a:pPr>
            <a:r>
              <a:rPr b="0" i="0" lang="en-US" sz="850" u="none" cap="none" strike="noStrike">
                <a:solidFill>
                  <a:srgbClr val="5B6573"/>
                </a:solidFill>
                <a:latin typeface="Calibri"/>
                <a:ea typeface="Calibri"/>
                <a:cs typeface="Calibri"/>
                <a:sym typeface="Calibri"/>
              </a:rPr>
              <a:t>Fields per CALIBER 2026 Registration Booklet, Slide 7 Team Profile (name, major, semester, area of expertise, contribution; team name, university, supervisor). All members are from the same university, as the rules require. Roles: AETHER Master Contract §12. Every [TO FILL] must be completed before PDF export.</a:t>
            </a:r>
            <a:endParaRPr b="0" i="0" sz="850" u="none" cap="none" strike="noStrike">
              <a:solidFill>
                <a:schemeClr val="dk1"/>
              </a:solidFill>
              <a:latin typeface="Calibri"/>
              <a:ea typeface="Calibri"/>
              <a:cs typeface="Calibri"/>
              <a:sym typeface="Calibri"/>
            </a:endParaRPr>
          </a:p>
        </p:txBody>
      </p:sp>
      <p:sp>
        <p:nvSpPr>
          <p:cNvPr id="394" name="Google Shape;394;p7"/>
          <p:cNvSpPr txBox="1"/>
          <p:nvPr>
            <p:ph idx="4294967295" type="sldNum"/>
          </p:nvPr>
        </p:nvSpPr>
        <p:spPr>
          <a:xfrm>
            <a:off x="11228832" y="6473952"/>
            <a:ext cx="4572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5B6573"/>
                </a:solidFill>
                <a:latin typeface="Calibri"/>
                <a:ea typeface="Calibri"/>
                <a:cs typeface="Calibri"/>
                <a:sym typeface="Calibri"/>
              </a:rPr>
              <a:t>‹#›</a:t>
            </a:fld>
            <a:endParaRPr b="0" i="0" sz="900" u="none" cap="none" strike="noStrike">
              <a:solidFill>
                <a:srgbClr val="5B6573"/>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8"/>
          <p:cNvSpPr txBox="1"/>
          <p:nvPr>
            <p:ph type="title"/>
          </p:nvPr>
        </p:nvSpPr>
        <p:spPr>
          <a:xfrm>
            <a:off x="502920" y="548640"/>
            <a:ext cx="11183112" cy="8229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FFFFFF"/>
              </a:buClr>
              <a:buSzPts val="3000"/>
              <a:buFont typeface="Calibri"/>
              <a:buNone/>
            </a:pPr>
            <a:r>
              <a:rPr b="1" lang="en-US" sz="3000">
                <a:solidFill>
                  <a:srgbClr val="FFFFFF"/>
                </a:solidFill>
              </a:rPr>
              <a:t>Appendix: Supporting Evidence</a:t>
            </a:r>
            <a:endParaRPr sz="3000"/>
          </a:p>
        </p:txBody>
      </p:sp>
      <p:sp>
        <p:nvSpPr>
          <p:cNvPr id="401" name="Google Shape;401;p8"/>
          <p:cNvSpPr txBox="1"/>
          <p:nvPr/>
        </p:nvSpPr>
        <p:spPr>
          <a:xfrm>
            <a:off x="502920" y="1371600"/>
            <a:ext cx="73152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9D3EA"/>
              </a:buClr>
              <a:buSzPts val="1400"/>
              <a:buFont typeface="Calibri"/>
              <a:buNone/>
            </a:pPr>
            <a:r>
              <a:rPr b="0" i="1" lang="en-US" sz="1400" u="none" cap="none" strike="noStrike">
                <a:solidFill>
                  <a:srgbClr val="C9D3EA"/>
                </a:solidFill>
                <a:latin typeface="Calibri"/>
                <a:ea typeface="Calibri"/>
                <a:cs typeface="Calibri"/>
                <a:sym typeface="Calibri"/>
              </a:rPr>
              <a:t>Not part of the 7-slide main deck</a:t>
            </a:r>
            <a:endParaRPr b="0" i="0" sz="1400" u="none" cap="none" strike="noStrike">
              <a:solidFill>
                <a:schemeClr val="dk1"/>
              </a:solidFill>
              <a:latin typeface="Calibri"/>
              <a:ea typeface="Calibri"/>
              <a:cs typeface="Calibri"/>
              <a:sym typeface="Calibri"/>
            </a:endParaRPr>
          </a:p>
        </p:txBody>
      </p:sp>
      <p:cxnSp>
        <p:nvCxnSpPr>
          <p:cNvPr id="402" name="Google Shape;402;p8"/>
          <p:cNvCxnSpPr/>
          <p:nvPr/>
        </p:nvCxnSpPr>
        <p:spPr>
          <a:xfrm>
            <a:off x="502920" y="2011680"/>
            <a:ext cx="7772400" cy="0"/>
          </a:xfrm>
          <a:prstGeom prst="straightConnector1">
            <a:avLst/>
          </a:prstGeom>
          <a:noFill/>
          <a:ln cap="flat" cmpd="sng" w="9525">
            <a:solidFill>
              <a:srgbClr val="33478C"/>
            </a:solidFill>
            <a:prstDash val="solid"/>
            <a:round/>
            <a:headEnd len="sm" w="sm" type="none"/>
            <a:tailEnd len="sm" w="sm" type="none"/>
          </a:ln>
        </p:spPr>
      </p:cxnSp>
      <p:sp>
        <p:nvSpPr>
          <p:cNvPr id="403" name="Google Shape;403;p8"/>
          <p:cNvSpPr txBox="1"/>
          <p:nvPr/>
        </p:nvSpPr>
        <p:spPr>
          <a:xfrm>
            <a:off x="502920" y="2084832"/>
            <a:ext cx="7772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3EA"/>
              </a:buClr>
              <a:buSzPts val="1800"/>
              <a:buFont typeface="Calibri"/>
              <a:buNone/>
            </a:pPr>
            <a:r>
              <a:rPr b="1" i="0" lang="en-US" sz="1800" u="none" cap="none" strike="noStrike">
                <a:solidFill>
                  <a:srgbClr val="C9D3EA"/>
                </a:solidFill>
                <a:latin typeface="Calibri"/>
                <a:ea typeface="Calibri"/>
                <a:cs typeface="Calibri"/>
                <a:sym typeface="Calibri"/>
              </a:rPr>
              <a:t>A1    </a:t>
            </a:r>
            <a:r>
              <a:rPr b="0" i="0" lang="en-US" sz="1800" u="none" cap="none" strike="noStrike">
                <a:solidFill>
                  <a:srgbClr val="FFFFFF"/>
                </a:solidFill>
                <a:latin typeface="Calibri"/>
                <a:ea typeface="Calibri"/>
                <a:cs typeface="Calibri"/>
                <a:sym typeface="Calibri"/>
              </a:rPr>
              <a:t>Data foundation and limitations</a:t>
            </a:r>
            <a:endParaRPr b="0" i="0" sz="1800" u="none" cap="none" strike="noStrike">
              <a:solidFill>
                <a:schemeClr val="dk1"/>
              </a:solidFill>
              <a:latin typeface="Calibri"/>
              <a:ea typeface="Calibri"/>
              <a:cs typeface="Calibri"/>
              <a:sym typeface="Calibri"/>
            </a:endParaRPr>
          </a:p>
        </p:txBody>
      </p:sp>
      <p:cxnSp>
        <p:nvCxnSpPr>
          <p:cNvPr id="404" name="Google Shape;404;p8"/>
          <p:cNvCxnSpPr/>
          <p:nvPr/>
        </p:nvCxnSpPr>
        <p:spPr>
          <a:xfrm>
            <a:off x="502920" y="2560320"/>
            <a:ext cx="7772400" cy="0"/>
          </a:xfrm>
          <a:prstGeom prst="straightConnector1">
            <a:avLst/>
          </a:prstGeom>
          <a:noFill/>
          <a:ln cap="flat" cmpd="sng" w="9525">
            <a:solidFill>
              <a:srgbClr val="33478C"/>
            </a:solidFill>
            <a:prstDash val="solid"/>
            <a:round/>
            <a:headEnd len="sm" w="sm" type="none"/>
            <a:tailEnd len="sm" w="sm" type="none"/>
          </a:ln>
        </p:spPr>
      </p:cxnSp>
      <p:sp>
        <p:nvSpPr>
          <p:cNvPr id="405" name="Google Shape;405;p8"/>
          <p:cNvSpPr txBox="1"/>
          <p:nvPr/>
        </p:nvSpPr>
        <p:spPr>
          <a:xfrm>
            <a:off x="502920" y="2633472"/>
            <a:ext cx="7772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3EA"/>
              </a:buClr>
              <a:buSzPts val="1800"/>
              <a:buFont typeface="Calibri"/>
              <a:buNone/>
            </a:pPr>
            <a:r>
              <a:rPr b="1" i="0" lang="en-US" sz="1800" u="none" cap="none" strike="noStrike">
                <a:solidFill>
                  <a:srgbClr val="C9D3EA"/>
                </a:solidFill>
                <a:latin typeface="Calibri"/>
                <a:ea typeface="Calibri"/>
                <a:cs typeface="Calibri"/>
                <a:sym typeface="Calibri"/>
              </a:rPr>
              <a:t>A2    </a:t>
            </a:r>
            <a:r>
              <a:rPr b="0" i="0" lang="en-US" sz="1800" u="none" cap="none" strike="noStrike">
                <a:solidFill>
                  <a:srgbClr val="FFFFFF"/>
                </a:solidFill>
                <a:latin typeface="Calibri"/>
                <a:ea typeface="Calibri"/>
                <a:cs typeface="Calibri"/>
                <a:sym typeface="Calibri"/>
              </a:rPr>
              <a:t>KO-3201: documented event vs AETHER decision support</a:t>
            </a:r>
            <a:endParaRPr b="0" i="0" sz="1800" u="none" cap="none" strike="noStrike">
              <a:solidFill>
                <a:schemeClr val="dk1"/>
              </a:solidFill>
              <a:latin typeface="Calibri"/>
              <a:ea typeface="Calibri"/>
              <a:cs typeface="Calibri"/>
              <a:sym typeface="Calibri"/>
            </a:endParaRPr>
          </a:p>
        </p:txBody>
      </p:sp>
      <p:cxnSp>
        <p:nvCxnSpPr>
          <p:cNvPr id="406" name="Google Shape;406;p8"/>
          <p:cNvCxnSpPr/>
          <p:nvPr/>
        </p:nvCxnSpPr>
        <p:spPr>
          <a:xfrm>
            <a:off x="502920" y="3108960"/>
            <a:ext cx="7772400" cy="0"/>
          </a:xfrm>
          <a:prstGeom prst="straightConnector1">
            <a:avLst/>
          </a:prstGeom>
          <a:noFill/>
          <a:ln cap="flat" cmpd="sng" w="9525">
            <a:solidFill>
              <a:srgbClr val="33478C"/>
            </a:solidFill>
            <a:prstDash val="solid"/>
            <a:round/>
            <a:headEnd len="sm" w="sm" type="none"/>
            <a:tailEnd len="sm" w="sm" type="none"/>
          </a:ln>
        </p:spPr>
      </p:cxnSp>
      <p:sp>
        <p:nvSpPr>
          <p:cNvPr id="407" name="Google Shape;407;p8"/>
          <p:cNvSpPr txBox="1"/>
          <p:nvPr/>
        </p:nvSpPr>
        <p:spPr>
          <a:xfrm>
            <a:off x="502920" y="3182112"/>
            <a:ext cx="7772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3EA"/>
              </a:buClr>
              <a:buSzPts val="1800"/>
              <a:buFont typeface="Calibri"/>
              <a:buNone/>
            </a:pPr>
            <a:r>
              <a:rPr b="1" i="0" lang="en-US" sz="1800" u="none" cap="none" strike="noStrike">
                <a:solidFill>
                  <a:srgbClr val="C9D3EA"/>
                </a:solidFill>
                <a:latin typeface="Calibri"/>
                <a:ea typeface="Calibri"/>
                <a:cs typeface="Calibri"/>
                <a:sym typeface="Calibri"/>
              </a:rPr>
              <a:t>A3    </a:t>
            </a:r>
            <a:r>
              <a:rPr b="0" i="0" lang="en-US" sz="1800" u="none" cap="none" strike="noStrike">
                <a:solidFill>
                  <a:srgbClr val="FFFFFF"/>
                </a:solidFill>
                <a:latin typeface="Calibri"/>
                <a:ea typeface="Calibri"/>
                <a:cs typeface="Calibri"/>
                <a:sym typeface="Calibri"/>
              </a:rPr>
              <a:t>Value framework and pilot measurement</a:t>
            </a:r>
            <a:endParaRPr b="0" i="0" sz="1800" u="none" cap="none" strike="noStrike">
              <a:solidFill>
                <a:schemeClr val="dk1"/>
              </a:solidFill>
              <a:latin typeface="Calibri"/>
              <a:ea typeface="Calibri"/>
              <a:cs typeface="Calibri"/>
              <a:sym typeface="Calibri"/>
            </a:endParaRPr>
          </a:p>
        </p:txBody>
      </p:sp>
      <p:cxnSp>
        <p:nvCxnSpPr>
          <p:cNvPr id="408" name="Google Shape;408;p8"/>
          <p:cNvCxnSpPr/>
          <p:nvPr/>
        </p:nvCxnSpPr>
        <p:spPr>
          <a:xfrm>
            <a:off x="502920" y="3657600"/>
            <a:ext cx="7772400" cy="0"/>
          </a:xfrm>
          <a:prstGeom prst="straightConnector1">
            <a:avLst/>
          </a:prstGeom>
          <a:noFill/>
          <a:ln cap="flat" cmpd="sng" w="9525">
            <a:solidFill>
              <a:srgbClr val="33478C"/>
            </a:solidFill>
            <a:prstDash val="solid"/>
            <a:round/>
            <a:headEnd len="sm" w="sm" type="none"/>
            <a:tailEnd len="sm" w="sm" type="none"/>
          </a:ln>
        </p:spPr>
      </p:cxnSp>
      <p:sp>
        <p:nvSpPr>
          <p:cNvPr id="409" name="Google Shape;409;p8"/>
          <p:cNvSpPr txBox="1"/>
          <p:nvPr/>
        </p:nvSpPr>
        <p:spPr>
          <a:xfrm>
            <a:off x="502920" y="3730752"/>
            <a:ext cx="7772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3EA"/>
              </a:buClr>
              <a:buSzPts val="1800"/>
              <a:buFont typeface="Calibri"/>
              <a:buNone/>
            </a:pPr>
            <a:r>
              <a:rPr b="1" i="0" lang="en-US" sz="1800" u="none" cap="none" strike="noStrike">
                <a:solidFill>
                  <a:srgbClr val="C9D3EA"/>
                </a:solidFill>
                <a:latin typeface="Calibri"/>
                <a:ea typeface="Calibri"/>
                <a:cs typeface="Calibri"/>
                <a:sym typeface="Calibri"/>
              </a:rPr>
              <a:t>A4    </a:t>
            </a:r>
            <a:r>
              <a:rPr b="0" i="0" lang="en-US" sz="1800" u="none" cap="none" strike="noStrike">
                <a:solidFill>
                  <a:srgbClr val="FFFFFF"/>
                </a:solidFill>
                <a:latin typeface="Calibri"/>
                <a:ea typeface="Calibri"/>
                <a:cs typeface="Calibri"/>
                <a:sym typeface="Calibri"/>
              </a:rPr>
              <a:t>Human sign-off points and status model</a:t>
            </a:r>
            <a:endParaRPr b="0" i="0" sz="1800" u="none" cap="none" strike="noStrike">
              <a:solidFill>
                <a:schemeClr val="dk1"/>
              </a:solidFill>
              <a:latin typeface="Calibri"/>
              <a:ea typeface="Calibri"/>
              <a:cs typeface="Calibri"/>
              <a:sym typeface="Calibri"/>
            </a:endParaRPr>
          </a:p>
        </p:txBody>
      </p:sp>
      <p:cxnSp>
        <p:nvCxnSpPr>
          <p:cNvPr id="410" name="Google Shape;410;p8"/>
          <p:cNvCxnSpPr/>
          <p:nvPr/>
        </p:nvCxnSpPr>
        <p:spPr>
          <a:xfrm>
            <a:off x="502920" y="4206240"/>
            <a:ext cx="7772400" cy="0"/>
          </a:xfrm>
          <a:prstGeom prst="straightConnector1">
            <a:avLst/>
          </a:prstGeom>
          <a:noFill/>
          <a:ln cap="flat" cmpd="sng" w="9525">
            <a:solidFill>
              <a:srgbClr val="33478C"/>
            </a:solidFill>
            <a:prstDash val="solid"/>
            <a:round/>
            <a:headEnd len="sm" w="sm" type="none"/>
            <a:tailEnd len="sm" w="sm" type="none"/>
          </a:ln>
        </p:spPr>
      </p:cxnSp>
      <p:sp>
        <p:nvSpPr>
          <p:cNvPr id="411" name="Google Shape;411;p8"/>
          <p:cNvSpPr txBox="1"/>
          <p:nvPr/>
        </p:nvSpPr>
        <p:spPr>
          <a:xfrm>
            <a:off x="502920" y="4279392"/>
            <a:ext cx="7772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3EA"/>
              </a:buClr>
              <a:buSzPts val="1800"/>
              <a:buFont typeface="Calibri"/>
              <a:buNone/>
            </a:pPr>
            <a:r>
              <a:rPr b="1" i="0" lang="en-US" sz="1800" u="none" cap="none" strike="noStrike">
                <a:solidFill>
                  <a:srgbClr val="C9D3EA"/>
                </a:solidFill>
                <a:latin typeface="Calibri"/>
                <a:ea typeface="Calibri"/>
                <a:cs typeface="Calibri"/>
                <a:sym typeface="Calibri"/>
              </a:rPr>
              <a:t>A5    </a:t>
            </a:r>
            <a:r>
              <a:rPr b="0" i="0" lang="en-US" sz="1800" u="none" cap="none" strike="noStrike">
                <a:solidFill>
                  <a:srgbClr val="FFFFFF"/>
                </a:solidFill>
                <a:latin typeface="Calibri"/>
                <a:ea typeface="Calibri"/>
                <a:cs typeface="Calibri"/>
                <a:sym typeface="Calibri"/>
              </a:rPr>
              <a:t>Feasibility detail and phase scope</a:t>
            </a:r>
            <a:endParaRPr b="0" i="0" sz="1800" u="none" cap="none" strike="noStrike">
              <a:solidFill>
                <a:schemeClr val="dk1"/>
              </a:solidFill>
              <a:latin typeface="Calibri"/>
              <a:ea typeface="Calibri"/>
              <a:cs typeface="Calibri"/>
              <a:sym typeface="Calibri"/>
            </a:endParaRPr>
          </a:p>
        </p:txBody>
      </p:sp>
      <p:cxnSp>
        <p:nvCxnSpPr>
          <p:cNvPr id="412" name="Google Shape;412;p8"/>
          <p:cNvCxnSpPr/>
          <p:nvPr/>
        </p:nvCxnSpPr>
        <p:spPr>
          <a:xfrm>
            <a:off x="502920" y="4754880"/>
            <a:ext cx="7772400" cy="0"/>
          </a:xfrm>
          <a:prstGeom prst="straightConnector1">
            <a:avLst/>
          </a:prstGeom>
          <a:noFill/>
          <a:ln cap="flat" cmpd="sng" w="9525">
            <a:solidFill>
              <a:srgbClr val="33478C"/>
            </a:solidFill>
            <a:prstDash val="solid"/>
            <a:round/>
            <a:headEnd len="sm" w="sm" type="none"/>
            <a:tailEnd len="sm" w="sm" type="none"/>
          </a:ln>
        </p:spPr>
      </p:cxnSp>
      <p:sp>
        <p:nvSpPr>
          <p:cNvPr id="413" name="Google Shape;413;p8"/>
          <p:cNvSpPr txBox="1"/>
          <p:nvPr/>
        </p:nvSpPr>
        <p:spPr>
          <a:xfrm>
            <a:off x="502920" y="4828032"/>
            <a:ext cx="7772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3EA"/>
              </a:buClr>
              <a:buSzPts val="1800"/>
              <a:buFont typeface="Calibri"/>
              <a:buNone/>
            </a:pPr>
            <a:r>
              <a:rPr b="1" i="0" lang="en-US" sz="1800" u="none" cap="none" strike="noStrike">
                <a:solidFill>
                  <a:srgbClr val="C9D3EA"/>
                </a:solidFill>
                <a:latin typeface="Calibri"/>
                <a:ea typeface="Calibri"/>
                <a:cs typeface="Calibri"/>
                <a:sym typeface="Calibri"/>
              </a:rPr>
              <a:t>A6    </a:t>
            </a:r>
            <a:r>
              <a:rPr b="0" i="0" lang="en-US" sz="1800" u="none" cap="none" strike="noStrike">
                <a:solidFill>
                  <a:srgbClr val="FFFFFF"/>
                </a:solidFill>
                <a:latin typeface="Calibri"/>
                <a:ea typeface="Calibri"/>
                <a:cs typeface="Calibri"/>
                <a:sym typeface="Calibri"/>
              </a:rPr>
              <a:t>Prototype journey (Gate 5 screenshots)</a:t>
            </a:r>
            <a:endParaRPr b="0" i="0" sz="1800" u="none" cap="none" strike="noStrike">
              <a:solidFill>
                <a:schemeClr val="dk1"/>
              </a:solidFill>
              <a:latin typeface="Calibri"/>
              <a:ea typeface="Calibri"/>
              <a:cs typeface="Calibri"/>
              <a:sym typeface="Calibri"/>
            </a:endParaRPr>
          </a:p>
        </p:txBody>
      </p:sp>
      <p:cxnSp>
        <p:nvCxnSpPr>
          <p:cNvPr id="414" name="Google Shape;414;p8"/>
          <p:cNvCxnSpPr/>
          <p:nvPr/>
        </p:nvCxnSpPr>
        <p:spPr>
          <a:xfrm>
            <a:off x="502920" y="5303520"/>
            <a:ext cx="7772400" cy="0"/>
          </a:xfrm>
          <a:prstGeom prst="straightConnector1">
            <a:avLst/>
          </a:prstGeom>
          <a:noFill/>
          <a:ln cap="flat" cmpd="sng" w="9525">
            <a:solidFill>
              <a:srgbClr val="33478C"/>
            </a:solidFill>
            <a:prstDash val="solid"/>
            <a:round/>
            <a:headEnd len="sm" w="sm" type="none"/>
            <a:tailEnd len="sm" w="sm" type="none"/>
          </a:ln>
        </p:spPr>
      </p:cxnSp>
      <p:sp>
        <p:nvSpPr>
          <p:cNvPr id="415" name="Google Shape;415;p8"/>
          <p:cNvSpPr txBox="1"/>
          <p:nvPr/>
        </p:nvSpPr>
        <p:spPr>
          <a:xfrm>
            <a:off x="502920" y="5376672"/>
            <a:ext cx="7772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3EA"/>
              </a:buClr>
              <a:buSzPts val="1800"/>
              <a:buFont typeface="Calibri"/>
              <a:buNone/>
            </a:pPr>
            <a:r>
              <a:rPr b="1" i="0" lang="en-US" sz="1800" u="none" cap="none" strike="noStrike">
                <a:solidFill>
                  <a:srgbClr val="C9D3EA"/>
                </a:solidFill>
                <a:latin typeface="Calibri"/>
                <a:ea typeface="Calibri"/>
                <a:cs typeface="Calibri"/>
                <a:sym typeface="Calibri"/>
              </a:rPr>
              <a:t>A7    </a:t>
            </a:r>
            <a:r>
              <a:rPr b="0" i="0" lang="en-US" sz="1800" u="none" cap="none" strike="noStrike">
                <a:solidFill>
                  <a:srgbClr val="FFFFFF"/>
                </a:solidFill>
                <a:latin typeface="Calibri"/>
                <a:ea typeface="Calibri"/>
                <a:cs typeface="Calibri"/>
                <a:sym typeface="Calibri"/>
              </a:rPr>
              <a:t>References</a:t>
            </a:r>
            <a:endParaRPr b="0" i="0" sz="1800" u="none" cap="none" strike="noStrike">
              <a:solidFill>
                <a:schemeClr val="dk1"/>
              </a:solidFill>
              <a:latin typeface="Calibri"/>
              <a:ea typeface="Calibri"/>
              <a:cs typeface="Calibri"/>
              <a:sym typeface="Calibri"/>
            </a:endParaRPr>
          </a:p>
        </p:txBody>
      </p:sp>
      <p:sp>
        <p:nvSpPr>
          <p:cNvPr id="416" name="Google Shape;416;p8"/>
          <p:cNvSpPr txBox="1"/>
          <p:nvPr>
            <p:ph idx="4294967295" type="sldNum"/>
          </p:nvPr>
        </p:nvSpPr>
        <p:spPr>
          <a:xfrm>
            <a:off x="11228832" y="6473952"/>
            <a:ext cx="4572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C9D3EA"/>
                </a:solidFill>
                <a:latin typeface="Calibri"/>
                <a:ea typeface="Calibri"/>
                <a:cs typeface="Calibri"/>
                <a:sym typeface="Calibri"/>
              </a:rPr>
              <a:t>‹#›</a:t>
            </a:fld>
            <a:endParaRPr b="0" i="0" sz="900" u="none" cap="none" strike="noStrike">
              <a:solidFill>
                <a:srgbClr val="C9D3EA"/>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9"/>
          <p:cNvSpPr txBox="1"/>
          <p:nvPr/>
        </p:nvSpPr>
        <p:spPr>
          <a:xfrm>
            <a:off x="502920" y="146304"/>
            <a:ext cx="914400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9D3EA"/>
              </a:buClr>
              <a:buSzPts val="1000"/>
              <a:buFont typeface="Calibri"/>
              <a:buNone/>
            </a:pPr>
            <a:r>
              <a:rPr b="1" i="0" lang="en-US" sz="1000" u="none" cap="none" strike="noStrike">
                <a:solidFill>
                  <a:srgbClr val="C9D3EA"/>
                </a:solidFill>
                <a:latin typeface="Calibri"/>
                <a:ea typeface="Calibri"/>
                <a:cs typeface="Calibri"/>
                <a:sym typeface="Calibri"/>
              </a:rPr>
              <a:t>APPENDIX  |  SUPPORTING EVIDENCE, NOT PART OF THE 7-SLIDE DECK</a:t>
            </a:r>
            <a:endParaRPr b="0" i="0" sz="1000" u="none" cap="none" strike="noStrike">
              <a:solidFill>
                <a:schemeClr val="dk1"/>
              </a:solidFill>
              <a:latin typeface="Calibri"/>
              <a:ea typeface="Calibri"/>
              <a:cs typeface="Calibri"/>
              <a:sym typeface="Calibri"/>
            </a:endParaRPr>
          </a:p>
        </p:txBody>
      </p:sp>
      <p:sp>
        <p:nvSpPr>
          <p:cNvPr id="423" name="Google Shape;423;p9"/>
          <p:cNvSpPr txBox="1"/>
          <p:nvPr>
            <p:ph type="title"/>
          </p:nvPr>
        </p:nvSpPr>
        <p:spPr>
          <a:xfrm>
            <a:off x="502920" y="384048"/>
            <a:ext cx="11183112" cy="749808"/>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FFFFFF"/>
              </a:buClr>
              <a:buSzPts val="2400"/>
              <a:buFont typeface="Calibri"/>
              <a:buNone/>
            </a:pPr>
            <a:r>
              <a:rPr b="1" lang="en-US" sz="2400">
                <a:solidFill>
                  <a:srgbClr val="FFFFFF"/>
                </a:solidFill>
              </a:rPr>
              <a:t>A1  The Case Data Shows Exposure and Five Verified Chains; It Cannot Show Fleet Condition, Energy or Prevention</a:t>
            </a:r>
            <a:endParaRPr sz="2400"/>
          </a:p>
        </p:txBody>
      </p:sp>
      <p:graphicFrame>
        <p:nvGraphicFramePr>
          <p:cNvPr id="424" name="Google Shape;424;p9"/>
          <p:cNvGraphicFramePr/>
          <p:nvPr/>
        </p:nvGraphicFramePr>
        <p:xfrm>
          <a:off x="502920" y="1417320"/>
          <a:ext cx="3000000" cy="3000000"/>
        </p:xfrm>
        <a:graphic>
          <a:graphicData uri="http://schemas.openxmlformats.org/drawingml/2006/table">
            <a:tbl>
              <a:tblPr>
                <a:noFill/>
                <a:tableStyleId>{E2E4A7D4-D2CB-402E-B673-409BCF92103C}</a:tableStyleId>
              </a:tblPr>
              <a:tblGrid>
                <a:gridCol w="2194550"/>
                <a:gridCol w="2926075"/>
                <a:gridCol w="3017525"/>
                <a:gridCol w="3044950"/>
              </a:tblGrid>
              <a:tr h="420625">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Dataset</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192F7B"/>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Coverage</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192F7B"/>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Can show</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192F7B"/>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Cannot show</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192F7B"/>
                    </a:solidFill>
                  </a:tcPr>
                </a:tc>
              </a:tr>
              <a:tr h="420625">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Incident Database</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380 incidents, 12 plants, 4 Jan 2024 to 25 Jul 2026</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Exposure by plant, status, discipline, mechanism</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Root cause of 375 incidents; action-level progress</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Hourly production data</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5 hero assets, 720 hours each</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Trend into each trip; run status</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Long baselines; the other 374 tags; energy</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Weekly condition history</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5 hero assets, 26 weeks each</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Parameters against alarm and trip limits</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Fleet condition</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RCA / CAPA / PAA</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5 verified investigations; 20 actions</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Verified causes, actions, owners, status</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Generalization to all 380 incidents</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Energy / emissions</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None in the supplied case data</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n/a</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Any energy or emission value</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r>
            </a:tbl>
          </a:graphicData>
        </a:graphic>
      </p:graphicFrame>
      <p:sp>
        <p:nvSpPr>
          <p:cNvPr id="425" name="Google Shape;425;p9"/>
          <p:cNvSpPr txBox="1"/>
          <p:nvPr/>
        </p:nvSpPr>
        <p:spPr>
          <a:xfrm>
            <a:off x="502920" y="4206240"/>
            <a:ext cx="11183112" cy="1463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92F7B"/>
              </a:buClr>
              <a:buSzPts val="1300"/>
              <a:buFont typeface="Calibri"/>
              <a:buNone/>
            </a:pPr>
            <a:r>
              <a:rPr b="1" i="0" lang="en-US" sz="1300" u="none" cap="none" strike="noStrike">
                <a:solidFill>
                  <a:srgbClr val="192F7B"/>
                </a:solidFill>
                <a:latin typeface="Calibri"/>
                <a:ea typeface="Calibri"/>
                <a:cs typeface="Calibri"/>
                <a:sym typeface="Calibri"/>
              </a:rPr>
              <a:t>Status at the snapshot: </a:t>
            </a:r>
            <a:r>
              <a:rPr b="0" i="0" lang="en-US" sz="1300" u="none" cap="none" strike="noStrike">
                <a:solidFill>
                  <a:srgbClr val="1E2430"/>
                </a:solidFill>
                <a:latin typeface="Calibri"/>
                <a:ea typeface="Calibri"/>
                <a:cs typeface="Calibri"/>
                <a:sym typeface="Calibri"/>
              </a:rPr>
              <a:t>220 of 380 incidents (57.9%) not closed or canceled </a:t>
            </a:r>
            <a:r>
              <a:rPr b="1" i="0" lang="en-US" sz="850" u="none" cap="none" strike="noStrike">
                <a:solidFill>
                  <a:srgbClr val="5B6573"/>
                </a:solidFill>
                <a:latin typeface="Calibri"/>
                <a:ea typeface="Calibri"/>
                <a:cs typeface="Calibri"/>
                <a:sym typeface="Calibri"/>
              </a:rPr>
              <a:t>[DERIVED]</a:t>
            </a:r>
            <a:endParaRPr b="0" i="0" sz="1300" u="none" cap="none" strike="noStrike">
              <a:solidFill>
                <a:schemeClr val="dk1"/>
              </a:solidFill>
              <a:latin typeface="Calibri"/>
              <a:ea typeface="Calibri"/>
              <a:cs typeface="Calibri"/>
              <a:sym typeface="Calibri"/>
            </a:endParaRPr>
          </a:p>
          <a:p>
            <a:pPr indent="0" lvl="0" marL="0" marR="0" rtl="0" algn="l">
              <a:spcBef>
                <a:spcPts val="800"/>
              </a:spcBef>
              <a:spcAft>
                <a:spcPts val="0"/>
              </a:spcAft>
              <a:buClr>
                <a:srgbClr val="192F7B"/>
              </a:buClr>
              <a:buSzPts val="1300"/>
              <a:buFont typeface="Calibri"/>
              <a:buNone/>
            </a:pPr>
            <a:r>
              <a:rPr b="1" i="0" lang="en-US" sz="1300" u="none" cap="none" strike="noStrike">
                <a:solidFill>
                  <a:srgbClr val="192F7B"/>
                </a:solidFill>
                <a:latin typeface="Calibri"/>
                <a:ea typeface="Calibri"/>
                <a:cs typeface="Calibri"/>
                <a:sym typeface="Calibri"/>
              </a:rPr>
              <a:t>Open source conflicts, kept visible (not silently resolved): </a:t>
            </a:r>
            <a:r>
              <a:rPr b="0" i="0" lang="en-US" sz="1300" u="none" cap="none" strike="noStrike">
                <a:solidFill>
                  <a:srgbClr val="1E2430"/>
                </a:solidFill>
                <a:latin typeface="Calibri"/>
                <a:ea typeface="Calibri"/>
                <a:cs typeface="Calibri"/>
                <a:sym typeface="Calibri"/>
              </a:rPr>
              <a:t>KO-3201 timing (RCA "5 days" vs hourly vs weekly records); KO-3201 vibration unit (μm in condition data and RCA vs an mm/s tag label); KO-3201 alert level (45 / 75 μm limits vs a 60 μm pre-event alert); weekly vs hourly condition records for the same periods.</a:t>
            </a:r>
            <a:endParaRPr b="0" i="0" sz="1300" u="none" cap="none" strike="noStrike">
              <a:solidFill>
                <a:schemeClr val="dk1"/>
              </a:solidFill>
              <a:latin typeface="Calibri"/>
              <a:ea typeface="Calibri"/>
              <a:cs typeface="Calibri"/>
              <a:sym typeface="Calibri"/>
            </a:endParaRPr>
          </a:p>
        </p:txBody>
      </p:sp>
      <p:sp>
        <p:nvSpPr>
          <p:cNvPr id="426" name="Google Shape;426;p9"/>
          <p:cNvSpPr txBox="1"/>
          <p:nvPr/>
        </p:nvSpPr>
        <p:spPr>
          <a:xfrm>
            <a:off x="502920" y="5961888"/>
            <a:ext cx="11183112"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850"/>
              <a:buFont typeface="Calibri"/>
              <a:buNone/>
            </a:pPr>
            <a:r>
              <a:rPr b="0" i="0" lang="en-US" sz="850" u="none" cap="none" strike="noStrike">
                <a:solidFill>
                  <a:srgbClr val="5B6573"/>
                </a:solidFill>
                <a:latin typeface="Calibri"/>
                <a:ea typeface="Calibri"/>
                <a:cs typeface="Calibri"/>
                <a:sym typeface="Calibri"/>
              </a:rPr>
              <a:t>Sources: CALIBER 2026 Case 2 datasets; AETHER Gate 0 (source synthesis), Gate 3 evidence ledger and Gate 2 draft data checks.</a:t>
            </a:r>
            <a:endParaRPr b="0" i="0" sz="850" u="none" cap="none" strike="noStrike">
              <a:solidFill>
                <a:schemeClr val="dk1"/>
              </a:solidFill>
              <a:latin typeface="Calibri"/>
              <a:ea typeface="Calibri"/>
              <a:cs typeface="Calibri"/>
              <a:sym typeface="Calibri"/>
            </a:endParaRPr>
          </a:p>
        </p:txBody>
      </p:sp>
      <p:sp>
        <p:nvSpPr>
          <p:cNvPr id="427" name="Google Shape;427;p9"/>
          <p:cNvSpPr txBox="1"/>
          <p:nvPr>
            <p:ph idx="4294967295" type="sldNum"/>
          </p:nvPr>
        </p:nvSpPr>
        <p:spPr>
          <a:xfrm>
            <a:off x="11228832" y="6473952"/>
            <a:ext cx="4572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5B6573"/>
                </a:solidFill>
                <a:latin typeface="Calibri"/>
                <a:ea typeface="Calibri"/>
                <a:cs typeface="Calibri"/>
                <a:sym typeface="Calibri"/>
              </a:rPr>
              <a:t>‹#›</a:t>
            </a:fld>
            <a:endParaRPr b="0" i="0" sz="900" u="none" cap="none" strike="noStrike">
              <a:solidFill>
                <a:srgbClr val="5B6573"/>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10"/>
          <p:cNvSpPr txBox="1"/>
          <p:nvPr/>
        </p:nvSpPr>
        <p:spPr>
          <a:xfrm>
            <a:off x="502920" y="146304"/>
            <a:ext cx="914400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9D3EA"/>
              </a:buClr>
              <a:buSzPts val="1000"/>
              <a:buFont typeface="Calibri"/>
              <a:buNone/>
            </a:pPr>
            <a:r>
              <a:rPr b="1" i="0" lang="en-US" sz="1000" u="none" cap="none" strike="noStrike">
                <a:solidFill>
                  <a:srgbClr val="C9D3EA"/>
                </a:solidFill>
                <a:latin typeface="Calibri"/>
                <a:ea typeface="Calibri"/>
                <a:cs typeface="Calibri"/>
                <a:sym typeface="Calibri"/>
              </a:rPr>
              <a:t>APPENDIX  |  SUPPORTING EVIDENCE, NOT PART OF THE 7-SLIDE DECK</a:t>
            </a:r>
            <a:endParaRPr b="0" i="0" sz="1000" u="none" cap="none" strike="noStrike">
              <a:solidFill>
                <a:schemeClr val="dk1"/>
              </a:solidFill>
              <a:latin typeface="Calibri"/>
              <a:ea typeface="Calibri"/>
              <a:cs typeface="Calibri"/>
              <a:sym typeface="Calibri"/>
            </a:endParaRPr>
          </a:p>
        </p:txBody>
      </p:sp>
      <p:sp>
        <p:nvSpPr>
          <p:cNvPr id="434" name="Google Shape;434;p10"/>
          <p:cNvSpPr txBox="1"/>
          <p:nvPr>
            <p:ph type="title"/>
          </p:nvPr>
        </p:nvSpPr>
        <p:spPr>
          <a:xfrm>
            <a:off x="502920" y="384048"/>
            <a:ext cx="11183112" cy="749808"/>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FFFFFF"/>
              </a:buClr>
              <a:buSzPts val="2400"/>
              <a:buFont typeface="Calibri"/>
              <a:buNone/>
            </a:pPr>
            <a:r>
              <a:rPr b="1" lang="en-US" sz="2400">
                <a:solidFill>
                  <a:srgbClr val="FFFFFF"/>
                </a:solidFill>
              </a:rPr>
              <a:t>A2  KO-3201: What Is Documented vs What AETHER Would Enable</a:t>
            </a:r>
            <a:endParaRPr sz="2400"/>
          </a:p>
        </p:txBody>
      </p:sp>
      <p:sp>
        <p:nvSpPr>
          <p:cNvPr id="435" name="Google Shape;435;p10"/>
          <p:cNvSpPr txBox="1"/>
          <p:nvPr/>
        </p:nvSpPr>
        <p:spPr>
          <a:xfrm>
            <a:off x="502920" y="1417320"/>
            <a:ext cx="5500116" cy="329184"/>
          </a:xfrm>
          <a:prstGeom prst="rect">
            <a:avLst/>
          </a:prstGeom>
          <a:solidFill>
            <a:srgbClr val="192F7B"/>
          </a:solidFill>
          <a:ln cap="flat" cmpd="sng" w="9525">
            <a:solidFill>
              <a:srgbClr val="192F7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Documented event (RCA 2)</a:t>
            </a:r>
            <a:endParaRPr b="0" i="0" sz="1200" u="none" cap="none" strike="noStrike">
              <a:solidFill>
                <a:schemeClr val="dk1"/>
              </a:solidFill>
              <a:latin typeface="Calibri"/>
              <a:ea typeface="Calibri"/>
              <a:cs typeface="Calibri"/>
              <a:sym typeface="Calibri"/>
            </a:endParaRPr>
          </a:p>
        </p:txBody>
      </p:sp>
      <p:sp>
        <p:nvSpPr>
          <p:cNvPr id="436" name="Google Shape;436;p10"/>
          <p:cNvSpPr/>
          <p:nvPr/>
        </p:nvSpPr>
        <p:spPr>
          <a:xfrm>
            <a:off x="502920" y="1746504"/>
            <a:ext cx="5500116" cy="3611880"/>
          </a:xfrm>
          <a:prstGeom prst="rect">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0"/>
          <p:cNvSpPr txBox="1"/>
          <p:nvPr/>
        </p:nvSpPr>
        <p:spPr>
          <a:xfrm>
            <a:off x="685800" y="1874520"/>
            <a:ext cx="182880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850"/>
              <a:buFont typeface="Calibri"/>
              <a:buNone/>
            </a:pPr>
            <a:r>
              <a:rPr b="1" i="0" lang="en-US" sz="850" u="none" cap="none" strike="noStrike">
                <a:solidFill>
                  <a:srgbClr val="5B6573"/>
                </a:solidFill>
                <a:latin typeface="Calibri"/>
                <a:ea typeface="Calibri"/>
                <a:cs typeface="Calibri"/>
                <a:sym typeface="Calibri"/>
              </a:rPr>
              <a:t>[OBSERVED]</a:t>
            </a:r>
            <a:endParaRPr b="0" i="0" sz="850" u="none" cap="none" strike="noStrike">
              <a:solidFill>
                <a:schemeClr val="dk1"/>
              </a:solidFill>
              <a:latin typeface="Calibri"/>
              <a:ea typeface="Calibri"/>
              <a:cs typeface="Calibri"/>
              <a:sym typeface="Calibri"/>
            </a:endParaRPr>
          </a:p>
        </p:txBody>
      </p:sp>
      <p:sp>
        <p:nvSpPr>
          <p:cNvPr id="438" name="Google Shape;438;p10"/>
          <p:cNvSpPr txBox="1"/>
          <p:nvPr/>
        </p:nvSpPr>
        <p:spPr>
          <a:xfrm>
            <a:off x="685800" y="2148840"/>
            <a:ext cx="5134356" cy="310896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1E2430"/>
              </a:buClr>
              <a:buSzPts val="1300"/>
              <a:buFont typeface="Calibri"/>
              <a:buChar char="•"/>
            </a:pPr>
            <a:r>
              <a:rPr b="0" i="0" lang="en-US" sz="1300" u="none" cap="none" strike="noStrike">
                <a:solidFill>
                  <a:srgbClr val="1E2430"/>
                </a:solidFill>
                <a:latin typeface="Calibri"/>
                <a:ea typeface="Calibri"/>
                <a:cs typeface="Calibri"/>
                <a:sym typeface="Calibri"/>
              </a:rPr>
              <a:t>Cracked gas compressor, ZCU, Class A, Pre-Risk II</a:t>
            </a:r>
            <a:endParaRPr b="0" i="0" sz="1300" u="none" cap="none" strike="noStrike">
              <a:solidFill>
                <a:schemeClr val="dk1"/>
              </a:solidFill>
              <a:latin typeface="Calibri"/>
              <a:ea typeface="Calibri"/>
              <a:cs typeface="Calibri"/>
              <a:sym typeface="Calibri"/>
            </a:endParaRPr>
          </a:p>
          <a:p>
            <a:pPr indent="-177800" lvl="0" marL="177800" marR="0" rtl="0" algn="l">
              <a:spcBef>
                <a:spcPts val="600"/>
              </a:spcBef>
              <a:spcAft>
                <a:spcPts val="0"/>
              </a:spcAft>
              <a:buClr>
                <a:srgbClr val="1E2430"/>
              </a:buClr>
              <a:buSzPts val="1300"/>
              <a:buFont typeface="Calibri"/>
              <a:buChar char="•"/>
            </a:pPr>
            <a:r>
              <a:rPr b="0" i="0" lang="en-US" sz="1300" u="none" cap="none" strike="noStrike">
                <a:solidFill>
                  <a:srgbClr val="1E2430"/>
                </a:solidFill>
                <a:latin typeface="Calibri"/>
                <a:ea typeface="Calibri"/>
                <a:cs typeface="Calibri"/>
                <a:sym typeface="Calibri"/>
              </a:rPr>
              <a:t>29 Apr 2026, 06:40: trip on high-high radial vibration (75 μm)</a:t>
            </a:r>
            <a:endParaRPr b="0" i="0" sz="1300" u="none" cap="none" strike="noStrike">
              <a:solidFill>
                <a:schemeClr val="dk1"/>
              </a:solidFill>
              <a:latin typeface="Calibri"/>
              <a:ea typeface="Calibri"/>
              <a:cs typeface="Calibri"/>
              <a:sym typeface="Calibri"/>
            </a:endParaRPr>
          </a:p>
          <a:p>
            <a:pPr indent="-177800" lvl="0" marL="177800" marR="0" rtl="0" algn="l">
              <a:spcBef>
                <a:spcPts val="600"/>
              </a:spcBef>
              <a:spcAft>
                <a:spcPts val="0"/>
              </a:spcAft>
              <a:buClr>
                <a:srgbClr val="1E2430"/>
              </a:buClr>
              <a:buSzPts val="1300"/>
              <a:buFont typeface="Calibri"/>
              <a:buChar char="•"/>
            </a:pPr>
            <a:r>
              <a:rPr b="0" i="0" lang="en-US" sz="1300" u="none" cap="none" strike="noStrike">
                <a:solidFill>
                  <a:srgbClr val="1E2430"/>
                </a:solidFill>
                <a:latin typeface="Calibri"/>
                <a:ea typeface="Calibri"/>
                <a:cs typeface="Calibri"/>
                <a:sym typeface="Calibri"/>
              </a:rPr>
              <a:t>32.0 h downtime · 1,760 t · US$1,584.00k actual loss</a:t>
            </a:r>
            <a:endParaRPr b="0" i="0" sz="1300" u="none" cap="none" strike="noStrike">
              <a:solidFill>
                <a:schemeClr val="dk1"/>
              </a:solidFill>
              <a:latin typeface="Calibri"/>
              <a:ea typeface="Calibri"/>
              <a:cs typeface="Calibri"/>
              <a:sym typeface="Calibri"/>
            </a:endParaRPr>
          </a:p>
          <a:p>
            <a:pPr indent="-177800" lvl="0" marL="177800" marR="0" rtl="0" algn="l">
              <a:spcBef>
                <a:spcPts val="600"/>
              </a:spcBef>
              <a:spcAft>
                <a:spcPts val="0"/>
              </a:spcAft>
              <a:buClr>
                <a:srgbClr val="1E2430"/>
              </a:buClr>
              <a:buSzPts val="1300"/>
              <a:buFont typeface="Calibri"/>
              <a:buChar char="•"/>
            </a:pPr>
            <a:r>
              <a:rPr b="0" i="0" lang="en-US" sz="1300" u="none" cap="none" strike="noStrike">
                <a:solidFill>
                  <a:srgbClr val="1E2430"/>
                </a:solidFill>
                <a:latin typeface="Calibri"/>
                <a:ea typeface="Calibri"/>
                <a:cs typeface="Calibri"/>
                <a:sym typeface="Calibri"/>
              </a:rPr>
              <a:t>Verified cause: water ingress through a leaking lube-oil cooler tube → degraded oil-film strength → journal-bearing babbitt distress</a:t>
            </a:r>
            <a:endParaRPr b="0" i="0" sz="1300" u="none" cap="none" strike="noStrike">
              <a:solidFill>
                <a:schemeClr val="dk1"/>
              </a:solidFill>
              <a:latin typeface="Calibri"/>
              <a:ea typeface="Calibri"/>
              <a:cs typeface="Calibri"/>
              <a:sym typeface="Calibri"/>
            </a:endParaRPr>
          </a:p>
          <a:p>
            <a:pPr indent="-177800" lvl="0" marL="177800" marR="0" rtl="0" algn="l">
              <a:spcBef>
                <a:spcPts val="600"/>
              </a:spcBef>
              <a:spcAft>
                <a:spcPts val="0"/>
              </a:spcAft>
              <a:buClr>
                <a:srgbClr val="1E2430"/>
              </a:buClr>
              <a:buSzPts val="1300"/>
              <a:buFont typeface="Calibri"/>
              <a:buChar char="•"/>
            </a:pPr>
            <a:r>
              <a:rPr b="0" i="0" lang="en-US" sz="1300" u="none" cap="none" strike="noStrike">
                <a:solidFill>
                  <a:srgbClr val="1E2430"/>
                </a:solidFill>
                <a:latin typeface="Calibri"/>
                <a:ea typeface="Calibri"/>
                <a:cs typeface="Calibri"/>
                <a:sym typeface="Calibri"/>
              </a:rPr>
              <a:t>NG factors: no online water-in-oil monitoring; cooler integrity not trended; alert limits too wide</a:t>
            </a:r>
            <a:endParaRPr b="0" i="0" sz="1300" u="none" cap="none" strike="noStrike">
              <a:solidFill>
                <a:schemeClr val="dk1"/>
              </a:solidFill>
              <a:latin typeface="Calibri"/>
              <a:ea typeface="Calibri"/>
              <a:cs typeface="Calibri"/>
              <a:sym typeface="Calibri"/>
            </a:endParaRPr>
          </a:p>
          <a:p>
            <a:pPr indent="-177800" lvl="0" marL="177800" marR="0" rtl="0" algn="l">
              <a:spcBef>
                <a:spcPts val="600"/>
              </a:spcBef>
              <a:spcAft>
                <a:spcPts val="0"/>
              </a:spcAft>
              <a:buClr>
                <a:srgbClr val="1E2430"/>
              </a:buClr>
              <a:buSzPts val="1300"/>
              <a:buFont typeface="Calibri"/>
              <a:buChar char="•"/>
            </a:pPr>
            <a:r>
              <a:rPr b="0" i="0" lang="en-US" sz="1300" u="none" cap="none" strike="noStrike">
                <a:solidFill>
                  <a:srgbClr val="1E2430"/>
                </a:solidFill>
                <a:latin typeface="Calibri"/>
                <a:ea typeface="Calibri"/>
                <a:cs typeface="Calibri"/>
                <a:sym typeface="Calibri"/>
              </a:rPr>
              <a:t>4 recorded actions: 1 Closed, 1 In Progress, 2 Open</a:t>
            </a:r>
            <a:endParaRPr b="0" i="0" sz="1300" u="none" cap="none" strike="noStrike">
              <a:solidFill>
                <a:schemeClr val="dk1"/>
              </a:solidFill>
              <a:latin typeface="Calibri"/>
              <a:ea typeface="Calibri"/>
              <a:cs typeface="Calibri"/>
              <a:sym typeface="Calibri"/>
            </a:endParaRPr>
          </a:p>
        </p:txBody>
      </p:sp>
      <p:sp>
        <p:nvSpPr>
          <p:cNvPr id="439" name="Google Shape;439;p10"/>
          <p:cNvSpPr txBox="1"/>
          <p:nvPr/>
        </p:nvSpPr>
        <p:spPr>
          <a:xfrm>
            <a:off x="6185916" y="1417320"/>
            <a:ext cx="5500116" cy="329184"/>
          </a:xfrm>
          <a:prstGeom prst="rect">
            <a:avLst/>
          </a:prstGeom>
          <a:solidFill>
            <a:srgbClr val="192F7B"/>
          </a:solidFill>
          <a:ln cap="flat" cmpd="sng" w="9525">
            <a:solidFill>
              <a:srgbClr val="192F7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AETHER decision support</a:t>
            </a:r>
            <a:endParaRPr b="0" i="0" sz="1200" u="none" cap="none" strike="noStrike">
              <a:solidFill>
                <a:schemeClr val="dk1"/>
              </a:solidFill>
              <a:latin typeface="Calibri"/>
              <a:ea typeface="Calibri"/>
              <a:cs typeface="Calibri"/>
              <a:sym typeface="Calibri"/>
            </a:endParaRPr>
          </a:p>
        </p:txBody>
      </p:sp>
      <p:sp>
        <p:nvSpPr>
          <p:cNvPr id="440" name="Google Shape;440;p10"/>
          <p:cNvSpPr/>
          <p:nvPr/>
        </p:nvSpPr>
        <p:spPr>
          <a:xfrm>
            <a:off x="6185916" y="1746504"/>
            <a:ext cx="5500116" cy="3611880"/>
          </a:xfrm>
          <a:prstGeom prst="rect">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0"/>
          <p:cNvSpPr txBox="1"/>
          <p:nvPr/>
        </p:nvSpPr>
        <p:spPr>
          <a:xfrm>
            <a:off x="6368796" y="1874520"/>
            <a:ext cx="182880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850"/>
              <a:buFont typeface="Calibri"/>
              <a:buNone/>
            </a:pPr>
            <a:r>
              <a:rPr b="1" i="0" lang="en-US" sz="850" u="none" cap="none" strike="noStrike">
                <a:solidFill>
                  <a:srgbClr val="5B6573"/>
                </a:solidFill>
                <a:latin typeface="Calibri"/>
                <a:ea typeface="Calibri"/>
                <a:cs typeface="Calibri"/>
                <a:sym typeface="Calibri"/>
              </a:rPr>
              <a:t>[PROPOSED]</a:t>
            </a:r>
            <a:endParaRPr b="0" i="0" sz="850" u="none" cap="none" strike="noStrike">
              <a:solidFill>
                <a:schemeClr val="dk1"/>
              </a:solidFill>
              <a:latin typeface="Calibri"/>
              <a:ea typeface="Calibri"/>
              <a:cs typeface="Calibri"/>
              <a:sym typeface="Calibri"/>
            </a:endParaRPr>
          </a:p>
        </p:txBody>
      </p:sp>
      <p:sp>
        <p:nvSpPr>
          <p:cNvPr id="442" name="Google Shape;442;p10"/>
          <p:cNvSpPr txBox="1"/>
          <p:nvPr/>
        </p:nvSpPr>
        <p:spPr>
          <a:xfrm>
            <a:off x="6368796" y="2148840"/>
            <a:ext cx="5134356" cy="310896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1E2430"/>
              </a:buClr>
              <a:buSzPts val="1300"/>
              <a:buFont typeface="Calibri"/>
              <a:buChar char="•"/>
            </a:pPr>
            <a:r>
              <a:rPr b="0" i="0" lang="en-US" sz="1300" u="none" cap="none" strike="noStrike">
                <a:solidFill>
                  <a:srgbClr val="1E2430"/>
                </a:solidFill>
                <a:latin typeface="Calibri"/>
                <a:ea typeface="Calibri"/>
                <a:cs typeface="Calibri"/>
                <a:sym typeface="Calibri"/>
              </a:rPr>
              <a:t>A lube-oil water reading above its alarm limit in the weekly condition record raises a Problem, source shown</a:t>
            </a:r>
            <a:endParaRPr b="0" i="0" sz="1300" u="none" cap="none" strike="noStrike">
              <a:solidFill>
                <a:schemeClr val="dk1"/>
              </a:solidFill>
              <a:latin typeface="Calibri"/>
              <a:ea typeface="Calibri"/>
              <a:cs typeface="Calibri"/>
              <a:sym typeface="Calibri"/>
            </a:endParaRPr>
          </a:p>
          <a:p>
            <a:pPr indent="-177800" lvl="0" marL="177800" marR="0" rtl="0" algn="l">
              <a:spcBef>
                <a:spcPts val="600"/>
              </a:spcBef>
              <a:spcAft>
                <a:spcPts val="0"/>
              </a:spcAft>
              <a:buClr>
                <a:srgbClr val="1E2430"/>
              </a:buClr>
              <a:buSzPts val="1300"/>
              <a:buFont typeface="Calibri"/>
              <a:buChar char="•"/>
            </a:pPr>
            <a:r>
              <a:rPr b="0" i="0" lang="en-US" sz="1300" u="none" cap="none" strike="noStrike">
                <a:solidFill>
                  <a:srgbClr val="1E2430"/>
                </a:solidFill>
                <a:latin typeface="Calibri"/>
                <a:ea typeface="Calibri"/>
                <a:cs typeface="Calibri"/>
                <a:sym typeface="Calibri"/>
              </a:rPr>
              <a:t>Ranked by condition and consequence (≈ US$49.5k per downtime hour = US$1,584.00k ÷ 32.0 h, DERIVED)</a:t>
            </a:r>
            <a:endParaRPr b="0" i="0" sz="1300" u="none" cap="none" strike="noStrike">
              <a:solidFill>
                <a:schemeClr val="dk1"/>
              </a:solidFill>
              <a:latin typeface="Calibri"/>
              <a:ea typeface="Calibri"/>
              <a:cs typeface="Calibri"/>
              <a:sym typeface="Calibri"/>
            </a:endParaRPr>
          </a:p>
          <a:p>
            <a:pPr indent="-177800" lvl="0" marL="177800" marR="0" rtl="0" algn="l">
              <a:spcBef>
                <a:spcPts val="600"/>
              </a:spcBef>
              <a:spcAft>
                <a:spcPts val="0"/>
              </a:spcAft>
              <a:buClr>
                <a:srgbClr val="1E2430"/>
              </a:buClr>
              <a:buSzPts val="1300"/>
              <a:buFont typeface="Calibri"/>
              <a:buChar char="•"/>
            </a:pPr>
            <a:r>
              <a:rPr b="0" i="0" lang="en-US" sz="1300" u="none" cap="none" strike="noStrike">
                <a:solidFill>
                  <a:srgbClr val="1E2430"/>
                </a:solidFill>
                <a:latin typeface="Calibri"/>
                <a:ea typeface="Calibri"/>
                <a:cs typeface="Calibri"/>
                <a:sym typeface="Calibri"/>
              </a:rPr>
              <a:t>Probable cause shown as AI indication, with evidence and a verification step: water-in-oil lab test, cooler leak check</a:t>
            </a:r>
            <a:endParaRPr b="0" i="0" sz="1300" u="none" cap="none" strike="noStrike">
              <a:solidFill>
                <a:schemeClr val="dk1"/>
              </a:solidFill>
              <a:latin typeface="Calibri"/>
              <a:ea typeface="Calibri"/>
              <a:cs typeface="Calibri"/>
              <a:sym typeface="Calibri"/>
            </a:endParaRPr>
          </a:p>
          <a:p>
            <a:pPr indent="-177800" lvl="0" marL="177800" marR="0" rtl="0" algn="l">
              <a:spcBef>
                <a:spcPts val="600"/>
              </a:spcBef>
              <a:spcAft>
                <a:spcPts val="0"/>
              </a:spcAft>
              <a:buClr>
                <a:srgbClr val="1E2430"/>
              </a:buClr>
              <a:buSzPts val="1300"/>
              <a:buFont typeface="Calibri"/>
              <a:buChar char="•"/>
            </a:pPr>
            <a:r>
              <a:rPr b="0" i="0" lang="en-US" sz="1300" u="none" cap="none" strike="noStrike">
                <a:solidFill>
                  <a:srgbClr val="1E2430"/>
                </a:solidFill>
                <a:latin typeface="Calibri"/>
                <a:ea typeface="Calibri"/>
                <a:cs typeface="Calibri"/>
                <a:sym typeface="Calibri"/>
              </a:rPr>
              <a:t>RCA owner accepts or rejects; owned actions traced to verified history</a:t>
            </a:r>
            <a:endParaRPr b="0" i="0" sz="1300" u="none" cap="none" strike="noStrike">
              <a:solidFill>
                <a:schemeClr val="dk1"/>
              </a:solidFill>
              <a:latin typeface="Calibri"/>
              <a:ea typeface="Calibri"/>
              <a:cs typeface="Calibri"/>
              <a:sym typeface="Calibri"/>
            </a:endParaRPr>
          </a:p>
          <a:p>
            <a:pPr indent="-177800" lvl="0" marL="177800" marR="0" rtl="0" algn="l">
              <a:spcBef>
                <a:spcPts val="600"/>
              </a:spcBef>
              <a:spcAft>
                <a:spcPts val="0"/>
              </a:spcAft>
              <a:buClr>
                <a:srgbClr val="1E2430"/>
              </a:buClr>
              <a:buSzPts val="1300"/>
              <a:buFont typeface="Calibri"/>
              <a:buChar char="•"/>
            </a:pPr>
            <a:r>
              <a:rPr b="0" i="0" lang="en-US" sz="1300" u="none" cap="none" strike="noStrike">
                <a:solidFill>
                  <a:srgbClr val="1E2430"/>
                </a:solidFill>
                <a:latin typeface="Calibri"/>
                <a:ea typeface="Calibri"/>
                <a:cs typeface="Calibri"/>
                <a:sym typeface="Calibri"/>
              </a:rPr>
              <a:t>Effectiveness checked against the RCA target: water &lt; 500 ppm, vibration &lt; 45 μm</a:t>
            </a:r>
            <a:endParaRPr b="0" i="0" sz="1300" u="none" cap="none" strike="noStrike">
              <a:solidFill>
                <a:schemeClr val="dk1"/>
              </a:solidFill>
              <a:latin typeface="Calibri"/>
              <a:ea typeface="Calibri"/>
              <a:cs typeface="Calibri"/>
              <a:sym typeface="Calibri"/>
            </a:endParaRPr>
          </a:p>
        </p:txBody>
      </p:sp>
      <p:sp>
        <p:nvSpPr>
          <p:cNvPr id="443" name="Google Shape;443;p10"/>
          <p:cNvSpPr txBox="1"/>
          <p:nvPr/>
        </p:nvSpPr>
        <p:spPr>
          <a:xfrm>
            <a:off x="502920" y="5440680"/>
            <a:ext cx="11183112" cy="411480"/>
          </a:xfrm>
          <a:prstGeom prst="rect">
            <a:avLst/>
          </a:prstGeom>
          <a:solidFill>
            <a:srgbClr val="192F7B"/>
          </a:solidFill>
          <a:ln cap="flat" cmpd="sng" w="9525">
            <a:solidFill>
              <a:srgbClr val="192F7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This shows what AETHER would enable. It does not claim that AETHER would have prevented the trip or saved the loss.</a:t>
            </a:r>
            <a:endParaRPr b="0" i="0" sz="1300" u="none" cap="none" strike="noStrike">
              <a:solidFill>
                <a:schemeClr val="dk1"/>
              </a:solidFill>
              <a:latin typeface="Calibri"/>
              <a:ea typeface="Calibri"/>
              <a:cs typeface="Calibri"/>
              <a:sym typeface="Calibri"/>
            </a:endParaRPr>
          </a:p>
        </p:txBody>
      </p:sp>
      <p:sp>
        <p:nvSpPr>
          <p:cNvPr id="444" name="Google Shape;444;p10"/>
          <p:cNvSpPr txBox="1"/>
          <p:nvPr/>
        </p:nvSpPr>
        <p:spPr>
          <a:xfrm>
            <a:off x="502920" y="5961888"/>
            <a:ext cx="11183112"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850"/>
              <a:buFont typeface="Calibri"/>
              <a:buNone/>
            </a:pPr>
            <a:r>
              <a:rPr b="0" i="0" lang="en-US" sz="850" u="none" cap="none" strike="noStrike">
                <a:solidFill>
                  <a:srgbClr val="5B6573"/>
                </a:solidFill>
                <a:latin typeface="Calibri"/>
                <a:ea typeface="Calibri"/>
                <a:cs typeface="Calibri"/>
                <a:sym typeface="Calibri"/>
              </a:rPr>
              <a:t>Sources: RCA 2 (AR-2026-ZCU-0142); KO-3201 weekly condition record (Gate 2 draft analysis); AETHER Gate 3 §6. No day count between signal and trip is stated (timing conflict open, Q-T01).</a:t>
            </a:r>
            <a:endParaRPr b="0" i="0" sz="850" u="none" cap="none" strike="noStrike">
              <a:solidFill>
                <a:schemeClr val="dk1"/>
              </a:solidFill>
              <a:latin typeface="Calibri"/>
              <a:ea typeface="Calibri"/>
              <a:cs typeface="Calibri"/>
              <a:sym typeface="Calibri"/>
            </a:endParaRPr>
          </a:p>
        </p:txBody>
      </p:sp>
      <p:sp>
        <p:nvSpPr>
          <p:cNvPr id="445" name="Google Shape;445;p10"/>
          <p:cNvSpPr txBox="1"/>
          <p:nvPr>
            <p:ph idx="4294967295" type="sldNum"/>
          </p:nvPr>
        </p:nvSpPr>
        <p:spPr>
          <a:xfrm>
            <a:off x="11228832" y="6473952"/>
            <a:ext cx="4572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5B6573"/>
                </a:solidFill>
                <a:latin typeface="Calibri"/>
                <a:ea typeface="Calibri"/>
                <a:cs typeface="Calibri"/>
                <a:sym typeface="Calibri"/>
              </a:rPr>
              <a:t>‹#›</a:t>
            </a:fld>
            <a:endParaRPr b="0" i="0" sz="900" u="none" cap="none" strike="noStrike">
              <a:solidFill>
                <a:srgbClr val="5B6573"/>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11"/>
          <p:cNvSpPr txBox="1"/>
          <p:nvPr/>
        </p:nvSpPr>
        <p:spPr>
          <a:xfrm>
            <a:off x="502920" y="146304"/>
            <a:ext cx="914400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9D3EA"/>
              </a:buClr>
              <a:buSzPts val="1000"/>
              <a:buFont typeface="Calibri"/>
              <a:buNone/>
            </a:pPr>
            <a:r>
              <a:rPr b="1" i="0" lang="en-US" sz="1000" u="none" cap="none" strike="noStrike">
                <a:solidFill>
                  <a:srgbClr val="C9D3EA"/>
                </a:solidFill>
                <a:latin typeface="Calibri"/>
                <a:ea typeface="Calibri"/>
                <a:cs typeface="Calibri"/>
                <a:sym typeface="Calibri"/>
              </a:rPr>
              <a:t>APPENDIX  |  SUPPORTING EVIDENCE, NOT PART OF THE 7-SLIDE DECK</a:t>
            </a:r>
            <a:endParaRPr b="0" i="0" sz="1000" u="none" cap="none" strike="noStrike">
              <a:solidFill>
                <a:schemeClr val="dk1"/>
              </a:solidFill>
              <a:latin typeface="Calibri"/>
              <a:ea typeface="Calibri"/>
              <a:cs typeface="Calibri"/>
              <a:sym typeface="Calibri"/>
            </a:endParaRPr>
          </a:p>
        </p:txBody>
      </p:sp>
      <p:sp>
        <p:nvSpPr>
          <p:cNvPr id="452" name="Google Shape;452;p11"/>
          <p:cNvSpPr txBox="1"/>
          <p:nvPr>
            <p:ph type="title"/>
          </p:nvPr>
        </p:nvSpPr>
        <p:spPr>
          <a:xfrm>
            <a:off x="502920" y="384048"/>
            <a:ext cx="11183112" cy="749808"/>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FFFFFF"/>
              </a:buClr>
              <a:buSzPts val="2400"/>
              <a:buFont typeface="Calibri"/>
              <a:buNone/>
            </a:pPr>
            <a:r>
              <a:rPr b="1" lang="en-US" sz="2400">
                <a:solidFill>
                  <a:srgbClr val="FFFFFF"/>
                </a:solidFill>
              </a:rPr>
              <a:t>A3  The Value Formula Is Fixed; Its Parameters Stay Unset Until Evidence Exists</a:t>
            </a:r>
            <a:endParaRPr sz="2400"/>
          </a:p>
        </p:txBody>
      </p:sp>
      <p:sp>
        <p:nvSpPr>
          <p:cNvPr id="453" name="Google Shape;453;p11"/>
          <p:cNvSpPr txBox="1"/>
          <p:nvPr/>
        </p:nvSpPr>
        <p:spPr>
          <a:xfrm>
            <a:off x="502920" y="1417320"/>
            <a:ext cx="5486400" cy="329184"/>
          </a:xfrm>
          <a:prstGeom prst="rect">
            <a:avLst/>
          </a:prstGeom>
          <a:solidFill>
            <a:srgbClr val="192F7B"/>
          </a:solidFill>
          <a:ln cap="flat" cmpd="sng" w="9525">
            <a:solidFill>
              <a:srgbClr val="192F7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Value formula</a:t>
            </a:r>
            <a:endParaRPr b="0" i="0" sz="1200" u="none" cap="none" strike="noStrike">
              <a:solidFill>
                <a:schemeClr val="dk1"/>
              </a:solidFill>
              <a:latin typeface="Calibri"/>
              <a:ea typeface="Calibri"/>
              <a:cs typeface="Calibri"/>
              <a:sym typeface="Calibri"/>
            </a:endParaRPr>
          </a:p>
        </p:txBody>
      </p:sp>
      <p:sp>
        <p:nvSpPr>
          <p:cNvPr id="454" name="Google Shape;454;p11"/>
          <p:cNvSpPr txBox="1"/>
          <p:nvPr/>
        </p:nvSpPr>
        <p:spPr>
          <a:xfrm>
            <a:off x="502920" y="1746504"/>
            <a:ext cx="5486400" cy="132588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101600" lIns="177800" spcFirstLastPara="1" rIns="127000" wrap="square" tIns="101600">
            <a:noAutofit/>
          </a:bodyPr>
          <a:lstStyle/>
          <a:p>
            <a:pPr indent="0" lvl="0" marL="0" marR="0" rtl="0" algn="l">
              <a:spcBef>
                <a:spcPts val="0"/>
              </a:spcBef>
              <a:spcAft>
                <a:spcPts val="0"/>
              </a:spcAft>
              <a:buClr>
                <a:srgbClr val="192F7B"/>
              </a:buClr>
              <a:buSzPts val="2000"/>
              <a:buFont typeface="Calibri"/>
              <a:buNone/>
            </a:pPr>
            <a:r>
              <a:rPr b="1" i="0" lang="en-US" sz="2000" u="none" cap="none" strike="noStrike">
                <a:solidFill>
                  <a:srgbClr val="192F7B"/>
                </a:solidFill>
                <a:latin typeface="Calibri"/>
                <a:ea typeface="Calibri"/>
                <a:cs typeface="Calibri"/>
                <a:sym typeface="Calibri"/>
              </a:rPr>
              <a:t>Annual gross value  =  B  ×  a  ×  c  ×  s  ×  m</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430"/>
              </a:buClr>
              <a:buSzPts val="1400"/>
              <a:buFont typeface="Calibri"/>
              <a:buNone/>
            </a:pPr>
            <a:r>
              <a:rPr b="0" i="0" lang="en-US" sz="1400" u="none" cap="none" strike="noStrike">
                <a:solidFill>
                  <a:srgbClr val="1E2430"/>
                </a:solidFill>
                <a:latin typeface="Calibri"/>
                <a:ea typeface="Calibri"/>
                <a:cs typeface="Calibri"/>
                <a:sym typeface="Calibri"/>
              </a:rPr>
              <a:t>Net value  =  gross value  −  total cost of ownership</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430"/>
              </a:buClr>
              <a:buSzPts val="1400"/>
              <a:buFont typeface="Calibri"/>
              <a:buNone/>
            </a:pPr>
            <a:r>
              <a:rPr b="0" i="0" lang="en-US" sz="1400" u="none" cap="none" strike="noStrike">
                <a:solidFill>
                  <a:srgbClr val="1E2430"/>
                </a:solidFill>
                <a:latin typeface="Calibri"/>
                <a:ea typeface="Calibri"/>
                <a:cs typeface="Calibri"/>
                <a:sym typeface="Calibri"/>
              </a:rPr>
              <a:t>Break-even improvement  s*  =  annual cost  /  (B × a × c × m)</a:t>
            </a:r>
            <a:endParaRPr b="0" i="0" sz="2000" u="none" cap="none" strike="noStrike">
              <a:solidFill>
                <a:schemeClr val="dk1"/>
              </a:solidFill>
              <a:latin typeface="Calibri"/>
              <a:ea typeface="Calibri"/>
              <a:cs typeface="Calibri"/>
              <a:sym typeface="Calibri"/>
            </a:endParaRPr>
          </a:p>
        </p:txBody>
      </p:sp>
      <p:graphicFrame>
        <p:nvGraphicFramePr>
          <p:cNvPr id="455" name="Google Shape;455;p11"/>
          <p:cNvGraphicFramePr/>
          <p:nvPr/>
        </p:nvGraphicFramePr>
        <p:xfrm>
          <a:off x="6263640" y="1417320"/>
          <a:ext cx="3000000" cy="3000000"/>
        </p:xfrm>
        <a:graphic>
          <a:graphicData uri="http://schemas.openxmlformats.org/drawingml/2006/table">
            <a:tbl>
              <a:tblPr>
                <a:noFill/>
                <a:tableStyleId>{E2E4A7D4-D2CB-402E-B673-409BCF92103C}</a:tableStyleId>
              </a:tblPr>
              <a:tblGrid>
                <a:gridCol w="2240275"/>
                <a:gridCol w="1463050"/>
                <a:gridCol w="1719075"/>
              </a:tblGrid>
              <a:tr h="365750">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Parameter</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192F7B"/>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Value</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192F7B"/>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Basis required</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192F7B"/>
                    </a:solidFill>
                  </a:tcPr>
                </a:tc>
              </a:tr>
              <a:tr h="365750">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B  downtime-linked loss per year</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 US$24.15M (DERIVED)</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Register, 933-day basis</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a  addressable share</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45309"/>
                        </a:buClr>
                        <a:buSzPts val="1150"/>
                        <a:buFont typeface="Calibri"/>
                        <a:buNone/>
                      </a:pPr>
                      <a:r>
                        <a:rPr b="1" lang="en-US" sz="1150" u="none" cap="none" strike="noStrike">
                          <a:solidFill>
                            <a:srgbClr val="B45309"/>
                          </a:solidFill>
                          <a:latin typeface="Calibri"/>
                          <a:ea typeface="Calibri"/>
                          <a:cs typeface="Calibri"/>
                          <a:sym typeface="Calibri"/>
                        </a:rPr>
                        <a:t>TO BE SET</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Engineering classification</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c  AETHER coverage</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45309"/>
                        </a:buClr>
                        <a:buSzPts val="1150"/>
                        <a:buFont typeface="Calibri"/>
                        <a:buNone/>
                      </a:pPr>
                      <a:r>
                        <a:rPr b="1" lang="en-US" sz="1150" u="none" cap="none" strike="noStrike">
                          <a:solidFill>
                            <a:srgbClr val="B45309"/>
                          </a:solidFill>
                          <a:latin typeface="Calibri"/>
                          <a:ea typeface="Calibri"/>
                          <a:cs typeface="Calibri"/>
                          <a:sym typeface="Calibri"/>
                        </a:rPr>
                        <a:t>TO BE SET</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Pilot scope</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s  improvement</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45309"/>
                        </a:buClr>
                        <a:buSzPts val="1150"/>
                        <a:buFont typeface="Calibri"/>
                        <a:buNone/>
                      </a:pPr>
                      <a:r>
                        <a:rPr b="1" lang="en-US" sz="1150" u="none" cap="none" strike="noStrike">
                          <a:solidFill>
                            <a:srgbClr val="B45309"/>
                          </a:solidFill>
                          <a:latin typeface="Calibri"/>
                          <a:ea typeface="Calibri"/>
                          <a:cs typeface="Calibri"/>
                          <a:sym typeface="Calibri"/>
                        </a:rPr>
                        <a:t>TO BE SET</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Pilot measurement</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m  margin factor</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45309"/>
                        </a:buClr>
                        <a:buSzPts val="1150"/>
                        <a:buFont typeface="Calibri"/>
                        <a:buNone/>
                      </a:pPr>
                      <a:r>
                        <a:rPr b="1" lang="en-US" sz="1150" u="none" cap="none" strike="noStrike">
                          <a:solidFill>
                            <a:srgbClr val="B45309"/>
                          </a:solidFill>
                          <a:latin typeface="Calibri"/>
                          <a:ea typeface="Calibri"/>
                          <a:cs typeface="Calibri"/>
                          <a:sym typeface="Calibri"/>
                        </a:rPr>
                        <a:t>TO BE SET</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Finance data</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Total cost of ownership</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45309"/>
                        </a:buClr>
                        <a:buSzPts val="1150"/>
                        <a:buFont typeface="Calibri"/>
                        <a:buNone/>
                      </a:pPr>
                      <a:r>
                        <a:rPr b="1" lang="en-US" sz="1150" u="none" cap="none" strike="noStrike">
                          <a:solidFill>
                            <a:srgbClr val="B45309"/>
                          </a:solidFill>
                          <a:latin typeface="Calibri"/>
                          <a:ea typeface="Calibri"/>
                          <a:cs typeface="Calibri"/>
                          <a:sym typeface="Calibri"/>
                        </a:rPr>
                        <a:t>TO BE SET</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Cost estimate, 8 categories</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r>
            </a:tbl>
          </a:graphicData>
        </a:graphic>
      </p:graphicFrame>
      <p:sp>
        <p:nvSpPr>
          <p:cNvPr id="456" name="Google Shape;456;p11"/>
          <p:cNvSpPr txBox="1"/>
          <p:nvPr/>
        </p:nvSpPr>
        <p:spPr>
          <a:xfrm>
            <a:off x="502920" y="3291840"/>
            <a:ext cx="5486400" cy="329184"/>
          </a:xfrm>
          <a:prstGeom prst="rect">
            <a:avLst/>
          </a:prstGeom>
          <a:solidFill>
            <a:srgbClr val="192F7B"/>
          </a:solidFill>
          <a:ln cap="flat" cmpd="sng" w="9525">
            <a:solidFill>
              <a:srgbClr val="192F7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Pilot measurement, in order</a:t>
            </a:r>
            <a:endParaRPr b="0" i="0" sz="1200" u="none" cap="none" strike="noStrike">
              <a:solidFill>
                <a:schemeClr val="dk1"/>
              </a:solidFill>
              <a:latin typeface="Calibri"/>
              <a:ea typeface="Calibri"/>
              <a:cs typeface="Calibri"/>
              <a:sym typeface="Calibri"/>
            </a:endParaRPr>
          </a:p>
        </p:txBody>
      </p:sp>
      <p:sp>
        <p:nvSpPr>
          <p:cNvPr id="457" name="Google Shape;457;p11"/>
          <p:cNvSpPr txBox="1"/>
          <p:nvPr/>
        </p:nvSpPr>
        <p:spPr>
          <a:xfrm>
            <a:off x="502920" y="3694176"/>
            <a:ext cx="5486400" cy="603504"/>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38100" lIns="127000" spcFirstLastPara="1" rIns="101600" wrap="square" tIns="38100">
            <a:noAutofit/>
          </a:bodyPr>
          <a:lstStyle/>
          <a:p>
            <a:pPr indent="0" lvl="0" marL="0" marR="0" rtl="0" algn="l">
              <a:spcBef>
                <a:spcPts val="0"/>
              </a:spcBef>
              <a:spcAft>
                <a:spcPts val="0"/>
              </a:spcAft>
              <a:buClr>
                <a:srgbClr val="1E2430"/>
              </a:buClr>
              <a:buSzPts val="1200"/>
              <a:buFont typeface="Calibri"/>
              <a:buNone/>
            </a:pPr>
            <a:r>
              <a:rPr b="0" i="0" lang="en-US" sz="1200" u="none" cap="none" strike="noStrike">
                <a:solidFill>
                  <a:srgbClr val="1E2430"/>
                </a:solidFill>
                <a:latin typeface="Calibri"/>
                <a:ea typeface="Calibri"/>
                <a:cs typeface="Calibri"/>
                <a:sym typeface="Calibri"/>
              </a:rPr>
              <a:t>1  Leading: decision KPIs (detection to acknowledgement time, high-consequence problems handled first, RCA and action on time, effectiveness verified before closure)</a:t>
            </a:r>
            <a:endParaRPr b="0" i="0" sz="1200" u="none" cap="none" strike="noStrike">
              <a:solidFill>
                <a:schemeClr val="dk1"/>
              </a:solidFill>
              <a:latin typeface="Calibri"/>
              <a:ea typeface="Calibri"/>
              <a:cs typeface="Calibri"/>
              <a:sym typeface="Calibri"/>
            </a:endParaRPr>
          </a:p>
        </p:txBody>
      </p:sp>
      <p:sp>
        <p:nvSpPr>
          <p:cNvPr id="458" name="Google Shape;458;p11"/>
          <p:cNvSpPr txBox="1"/>
          <p:nvPr/>
        </p:nvSpPr>
        <p:spPr>
          <a:xfrm>
            <a:off x="502920" y="4370832"/>
            <a:ext cx="5486400" cy="603504"/>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38100" lIns="127000" spcFirstLastPara="1" rIns="101600" wrap="square" tIns="38100">
            <a:noAutofit/>
          </a:bodyPr>
          <a:lstStyle/>
          <a:p>
            <a:pPr indent="0" lvl="0" marL="0" marR="0" rtl="0" algn="l">
              <a:spcBef>
                <a:spcPts val="0"/>
              </a:spcBef>
              <a:spcAft>
                <a:spcPts val="0"/>
              </a:spcAft>
              <a:buClr>
                <a:srgbClr val="1E2430"/>
              </a:buClr>
              <a:buSzPts val="1200"/>
              <a:buFont typeface="Calibri"/>
              <a:buNone/>
            </a:pPr>
            <a:r>
              <a:rPr b="0" i="0" lang="en-US" sz="1200" u="none" cap="none" strike="noStrike">
                <a:solidFill>
                  <a:srgbClr val="1E2430"/>
                </a:solidFill>
                <a:latin typeface="Calibri"/>
                <a:ea typeface="Calibri"/>
                <a:cs typeface="Calibri"/>
                <a:sym typeface="Calibri"/>
              </a:rPr>
              <a:t>2  Then: case-level outcomes against a counterfactual recorded before the outcome is known</a:t>
            </a:r>
            <a:endParaRPr b="0" i="0" sz="1200" u="none" cap="none" strike="noStrike">
              <a:solidFill>
                <a:schemeClr val="dk1"/>
              </a:solidFill>
              <a:latin typeface="Calibri"/>
              <a:ea typeface="Calibri"/>
              <a:cs typeface="Calibri"/>
              <a:sym typeface="Calibri"/>
            </a:endParaRPr>
          </a:p>
        </p:txBody>
      </p:sp>
      <p:sp>
        <p:nvSpPr>
          <p:cNvPr id="459" name="Google Shape;459;p11"/>
          <p:cNvSpPr txBox="1"/>
          <p:nvPr/>
        </p:nvSpPr>
        <p:spPr>
          <a:xfrm>
            <a:off x="502920" y="5047488"/>
            <a:ext cx="5486400" cy="603504"/>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38100" lIns="127000" spcFirstLastPara="1" rIns="101600" wrap="square" tIns="38100">
            <a:noAutofit/>
          </a:bodyPr>
          <a:lstStyle/>
          <a:p>
            <a:pPr indent="0" lvl="0" marL="0" marR="0" rtl="0" algn="l">
              <a:spcBef>
                <a:spcPts val="0"/>
              </a:spcBef>
              <a:spcAft>
                <a:spcPts val="0"/>
              </a:spcAft>
              <a:buClr>
                <a:srgbClr val="1E2430"/>
              </a:buClr>
              <a:buSzPts val="1200"/>
              <a:buFont typeface="Calibri"/>
              <a:buNone/>
            </a:pPr>
            <a:r>
              <a:rPr b="0" i="0" lang="en-US" sz="1200" u="none" cap="none" strike="noStrike">
                <a:solidFill>
                  <a:srgbClr val="1E2430"/>
                </a:solidFill>
                <a:latin typeface="Calibri"/>
                <a:ea typeface="Calibri"/>
                <a:cs typeface="Calibri"/>
                <a:sym typeface="Calibri"/>
              </a:rPr>
              <a:t>3  Then: financial attribution, only for cases that pass all eight checks</a:t>
            </a:r>
            <a:endParaRPr b="0" i="0" sz="1200" u="none" cap="none" strike="noStrike">
              <a:solidFill>
                <a:schemeClr val="dk1"/>
              </a:solidFill>
              <a:latin typeface="Calibri"/>
              <a:ea typeface="Calibri"/>
              <a:cs typeface="Calibri"/>
              <a:sym typeface="Calibri"/>
            </a:endParaRPr>
          </a:p>
        </p:txBody>
      </p:sp>
      <p:sp>
        <p:nvSpPr>
          <p:cNvPr id="460" name="Google Shape;460;p11"/>
          <p:cNvSpPr txBox="1"/>
          <p:nvPr/>
        </p:nvSpPr>
        <p:spPr>
          <a:xfrm>
            <a:off x="6263640" y="4526280"/>
            <a:ext cx="5422392"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92F7B"/>
              </a:buClr>
              <a:buSzPts val="1200"/>
              <a:buFont typeface="Calibri"/>
              <a:buNone/>
            </a:pPr>
            <a:r>
              <a:rPr b="1" i="0" lang="en-US" sz="1200" u="none" cap="none" strike="noStrike">
                <a:solidFill>
                  <a:srgbClr val="192F7B"/>
                </a:solidFill>
                <a:latin typeface="Calibri"/>
                <a:ea typeface="Calibri"/>
                <a:cs typeface="Calibri"/>
                <a:sym typeface="Calibri"/>
              </a:rPr>
              <a:t>Lagging outcome KPIs (measured later): </a:t>
            </a:r>
            <a:r>
              <a:rPr b="0" i="0" lang="en-US" sz="1200" u="none" cap="none" strike="noStrike">
                <a:solidFill>
                  <a:srgbClr val="1E2430"/>
                </a:solidFill>
                <a:latin typeface="Calibri"/>
                <a:ea typeface="Calibri"/>
                <a:cs typeface="Calibri"/>
                <a:sym typeface="Calibri"/>
              </a:rPr>
              <a:t>downtime hours on eligible assets; avoided downtime per validated case; recurrence of verified failure modes.</a:t>
            </a:r>
            <a:endParaRPr b="0" i="0" sz="12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5B6573"/>
              </a:buClr>
              <a:buSzPts val="1200"/>
              <a:buFont typeface="Calibri"/>
              <a:buNone/>
            </a:pPr>
            <a:r>
              <a:rPr b="0" i="1" lang="en-US" sz="1200" u="none" cap="none" strike="noStrike">
                <a:solidFill>
                  <a:srgbClr val="5B6573"/>
                </a:solidFill>
                <a:latin typeface="Calibri"/>
                <a:ea typeface="Calibri"/>
                <a:cs typeface="Calibri"/>
                <a:sym typeface="Calibri"/>
              </a:rPr>
              <a:t>A short pilot sees few failures (about 12 incidents in six months at the largest plant, at the historical rate), so no statistical proof of a downtime reduction is claimed from a small number of events.</a:t>
            </a:r>
            <a:endParaRPr b="0" i="0" sz="1200" u="none" cap="none" strike="noStrike">
              <a:solidFill>
                <a:schemeClr val="dk1"/>
              </a:solidFill>
              <a:latin typeface="Calibri"/>
              <a:ea typeface="Calibri"/>
              <a:cs typeface="Calibri"/>
              <a:sym typeface="Calibri"/>
            </a:endParaRPr>
          </a:p>
        </p:txBody>
      </p:sp>
      <p:sp>
        <p:nvSpPr>
          <p:cNvPr id="461" name="Google Shape;461;p11"/>
          <p:cNvSpPr txBox="1"/>
          <p:nvPr/>
        </p:nvSpPr>
        <p:spPr>
          <a:xfrm>
            <a:off x="502920" y="5961888"/>
            <a:ext cx="11183112"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850"/>
              <a:buFont typeface="Calibri"/>
              <a:buNone/>
            </a:pPr>
            <a:r>
              <a:rPr b="0" i="0" lang="en-US" sz="850" u="none" cap="none" strike="noStrike">
                <a:solidFill>
                  <a:srgbClr val="5B6573"/>
                </a:solidFill>
                <a:latin typeface="Calibri"/>
                <a:ea typeface="Calibri"/>
                <a:cs typeface="Calibri"/>
                <a:sym typeface="Calibri"/>
              </a:rPr>
              <a:t>Source: AETHER Gate 3 v1.0 §10, §11 (BDR06, BDR08, BDR16). Each 1 percentage point of B ≈ US$241.5k per year (1% × US$24.15M): unit conversion, not a forecast or savings claim.</a:t>
            </a:r>
            <a:endParaRPr b="0" i="0" sz="850" u="none" cap="none" strike="noStrike">
              <a:solidFill>
                <a:schemeClr val="dk1"/>
              </a:solidFill>
              <a:latin typeface="Calibri"/>
              <a:ea typeface="Calibri"/>
              <a:cs typeface="Calibri"/>
              <a:sym typeface="Calibri"/>
            </a:endParaRPr>
          </a:p>
        </p:txBody>
      </p:sp>
      <p:sp>
        <p:nvSpPr>
          <p:cNvPr id="462" name="Google Shape;462;p11"/>
          <p:cNvSpPr txBox="1"/>
          <p:nvPr>
            <p:ph idx="4294967295" type="sldNum"/>
          </p:nvPr>
        </p:nvSpPr>
        <p:spPr>
          <a:xfrm>
            <a:off x="11228832" y="6473952"/>
            <a:ext cx="4572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5B6573"/>
                </a:solidFill>
                <a:latin typeface="Calibri"/>
                <a:ea typeface="Calibri"/>
                <a:cs typeface="Calibri"/>
                <a:sym typeface="Calibri"/>
              </a:rPr>
              <a:t>‹#›</a:t>
            </a:fld>
            <a:endParaRPr b="0" i="0" sz="900" u="none" cap="none" strike="noStrike">
              <a:solidFill>
                <a:srgbClr val="5B6573"/>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2"/>
          <p:cNvSpPr txBox="1"/>
          <p:nvPr/>
        </p:nvSpPr>
        <p:spPr>
          <a:xfrm>
            <a:off x="502920" y="146304"/>
            <a:ext cx="914400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9D3EA"/>
              </a:buClr>
              <a:buSzPts val="1000"/>
              <a:buFont typeface="Calibri"/>
              <a:buNone/>
            </a:pPr>
            <a:r>
              <a:rPr b="1" i="0" lang="en-US" sz="1000" u="none" cap="none" strike="noStrike">
                <a:solidFill>
                  <a:srgbClr val="C9D3EA"/>
                </a:solidFill>
                <a:latin typeface="Calibri"/>
                <a:ea typeface="Calibri"/>
                <a:cs typeface="Calibri"/>
                <a:sym typeface="Calibri"/>
              </a:rPr>
              <a:t>APPENDIX  |  SUPPORTING EVIDENCE, NOT PART OF THE 7-SLIDE DECK</a:t>
            </a:r>
            <a:endParaRPr b="0" i="0" sz="1000" u="none" cap="none" strike="noStrike">
              <a:solidFill>
                <a:schemeClr val="dk1"/>
              </a:solidFill>
              <a:latin typeface="Calibri"/>
              <a:ea typeface="Calibri"/>
              <a:cs typeface="Calibri"/>
              <a:sym typeface="Calibri"/>
            </a:endParaRPr>
          </a:p>
        </p:txBody>
      </p:sp>
      <p:sp>
        <p:nvSpPr>
          <p:cNvPr id="469" name="Google Shape;469;p12"/>
          <p:cNvSpPr txBox="1"/>
          <p:nvPr>
            <p:ph type="title"/>
          </p:nvPr>
        </p:nvSpPr>
        <p:spPr>
          <a:xfrm>
            <a:off x="502920" y="384048"/>
            <a:ext cx="11183112" cy="749808"/>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FFFFFF"/>
              </a:buClr>
              <a:buSzPts val="2400"/>
              <a:buFont typeface="Calibri"/>
              <a:buNone/>
            </a:pPr>
            <a:r>
              <a:rPr b="1" lang="en-US" sz="2400">
                <a:solidFill>
                  <a:srgbClr val="FFFFFF"/>
                </a:solidFill>
              </a:rPr>
              <a:t>A4  Ten Human Sign-off Points and Separate Status Fields Keep Every Decision Owned and Traceable</a:t>
            </a:r>
            <a:endParaRPr sz="2400"/>
          </a:p>
        </p:txBody>
      </p:sp>
      <p:graphicFrame>
        <p:nvGraphicFramePr>
          <p:cNvPr id="470" name="Google Shape;470;p12"/>
          <p:cNvGraphicFramePr/>
          <p:nvPr/>
        </p:nvGraphicFramePr>
        <p:xfrm>
          <a:off x="502920" y="1417320"/>
          <a:ext cx="3000000" cy="3000000"/>
        </p:xfrm>
        <a:graphic>
          <a:graphicData uri="http://schemas.openxmlformats.org/drawingml/2006/table">
            <a:tbl>
              <a:tblPr>
                <a:noFill/>
                <a:tableStyleId>{E2E4A7D4-D2CB-402E-B673-409BCF92103C}</a:tableStyleId>
              </a:tblPr>
              <a:tblGrid>
                <a:gridCol w="640075"/>
                <a:gridCol w="3840475"/>
                <a:gridCol w="2103125"/>
              </a:tblGrid>
              <a:tr h="365750">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ID</a:t>
                      </a:r>
                      <a:endParaRPr sz="1150" u="none" cap="none" strike="noStrike">
                        <a:latin typeface="Calibri"/>
                        <a:ea typeface="Calibri"/>
                        <a:cs typeface="Calibri"/>
                        <a:sym typeface="Calibri"/>
                      </a:endParaRPr>
                    </a:p>
                  </a:txBody>
                  <a:tcPr marT="45725" marB="45725" marR="45725" marL="45725"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192F7B"/>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Human decision</a:t>
                      </a:r>
                      <a:endParaRPr sz="1150" u="none" cap="none" strike="noStrike">
                        <a:latin typeface="Calibri"/>
                        <a:ea typeface="Calibri"/>
                        <a:cs typeface="Calibri"/>
                        <a:sym typeface="Calibri"/>
                      </a:endParaRPr>
                    </a:p>
                  </a:txBody>
                  <a:tcPr marT="45725" marB="45725" marR="45725" marL="45725"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192F7B"/>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Who</a:t>
                      </a:r>
                      <a:endParaRPr sz="1150" u="none" cap="none" strike="noStrike">
                        <a:latin typeface="Calibri"/>
                        <a:ea typeface="Calibri"/>
                        <a:cs typeface="Calibri"/>
                        <a:sym typeface="Calibri"/>
                      </a:endParaRPr>
                    </a:p>
                  </a:txBody>
                  <a:tcPr marT="45725" marB="45725" marR="45725" marL="45725"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192F7B"/>
                    </a:solidFill>
                  </a:tcPr>
                </a:tc>
              </a:tr>
              <a:tr h="365750">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HV1</a:t>
                      </a:r>
                      <a:endParaRPr sz="1150" u="none" cap="none" strike="noStrike">
                        <a:latin typeface="Calibri"/>
                        <a:ea typeface="Calibri"/>
                        <a:cs typeface="Calibri"/>
                        <a:sym typeface="Calibri"/>
                      </a:endParaRPr>
                    </a:p>
                  </a:txBody>
                  <a:tcPr marT="45725" marB="45725" marR="45725" marL="45725"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Acknowledge, dismiss (with reason) or monitor a Problem</a:t>
                      </a:r>
                      <a:endParaRPr sz="1150" u="none" cap="none" strike="noStrike">
                        <a:latin typeface="Calibri"/>
                        <a:ea typeface="Calibri"/>
                        <a:cs typeface="Calibri"/>
                        <a:sym typeface="Calibri"/>
                      </a:endParaRPr>
                    </a:p>
                  </a:txBody>
                  <a:tcPr marT="45725" marB="45725" marR="45725" marL="45725"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On-duty engineer</a:t>
                      </a:r>
                      <a:endParaRPr sz="1150" u="none" cap="none" strike="noStrike">
                        <a:latin typeface="Calibri"/>
                        <a:ea typeface="Calibri"/>
                        <a:cs typeface="Calibri"/>
                        <a:sym typeface="Calibri"/>
                      </a:endParaRPr>
                    </a:p>
                  </a:txBody>
                  <a:tcPr marT="45725" marB="45725" marR="45725" marL="45725"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HV2</a:t>
                      </a:r>
                      <a:endParaRPr sz="1150" u="none" cap="none" strike="noStrike">
                        <a:latin typeface="Calibri"/>
                        <a:ea typeface="Calibri"/>
                        <a:cs typeface="Calibri"/>
                        <a:sym typeface="Calibri"/>
                      </a:endParaRPr>
                    </a:p>
                  </a:txBody>
                  <a:tcPr marT="45725" marB="45725" marR="45725" marL="45725"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Re-rank with a reason</a:t>
                      </a:r>
                      <a:endParaRPr sz="1150" u="none" cap="none" strike="noStrike">
                        <a:latin typeface="Calibri"/>
                        <a:ea typeface="Calibri"/>
                        <a:cs typeface="Calibri"/>
                        <a:sym typeface="Calibri"/>
                      </a:endParaRPr>
                    </a:p>
                  </a:txBody>
                  <a:tcPr marT="45725" marB="45725" marR="45725" marL="45725"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Reliability lead</a:t>
                      </a:r>
                      <a:endParaRPr sz="1150" u="none" cap="none" strike="noStrike">
                        <a:latin typeface="Calibri"/>
                        <a:ea typeface="Calibri"/>
                        <a:cs typeface="Calibri"/>
                        <a:sym typeface="Calibri"/>
                      </a:endParaRPr>
                    </a:p>
                  </a:txBody>
                  <a:tcPr marT="45725" marB="45725" marR="45725" marL="45725"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HV3</a:t>
                      </a:r>
                      <a:endParaRPr sz="1150" u="none" cap="none" strike="noStrike">
                        <a:latin typeface="Calibri"/>
                        <a:ea typeface="Calibri"/>
                        <a:cs typeface="Calibri"/>
                        <a:sym typeface="Calibri"/>
                      </a:endParaRPr>
                    </a:p>
                  </a:txBody>
                  <a:tcPr marT="45725" marB="45725" marR="45725" marL="45725"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Assign RCA PIC</a:t>
                      </a:r>
                      <a:endParaRPr sz="1150" u="none" cap="none" strike="noStrike">
                        <a:latin typeface="Calibri"/>
                        <a:ea typeface="Calibri"/>
                        <a:cs typeface="Calibri"/>
                        <a:sym typeface="Calibri"/>
                      </a:endParaRPr>
                    </a:p>
                  </a:txBody>
                  <a:tcPr marT="45725" marB="45725" marR="45725" marL="45725"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Reliability lead</a:t>
                      </a:r>
                      <a:endParaRPr sz="1150" u="none" cap="none" strike="noStrike">
                        <a:latin typeface="Calibri"/>
                        <a:ea typeface="Calibri"/>
                        <a:cs typeface="Calibri"/>
                        <a:sym typeface="Calibri"/>
                      </a:endParaRPr>
                    </a:p>
                  </a:txBody>
                  <a:tcPr marT="45725" marB="45725" marR="45725" marL="45725"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HV4</a:t>
                      </a:r>
                      <a:endParaRPr sz="1150" u="none" cap="none" strike="noStrike">
                        <a:latin typeface="Calibri"/>
                        <a:ea typeface="Calibri"/>
                        <a:cs typeface="Calibri"/>
                        <a:sym typeface="Calibri"/>
                      </a:endParaRPr>
                    </a:p>
                  </a:txBody>
                  <a:tcPr marT="45725" marB="45725" marR="45725" marL="45725"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Accept, reject or modify each hypothesis</a:t>
                      </a:r>
                      <a:endParaRPr sz="1150" u="none" cap="none" strike="noStrike">
                        <a:latin typeface="Calibri"/>
                        <a:ea typeface="Calibri"/>
                        <a:cs typeface="Calibri"/>
                        <a:sym typeface="Calibri"/>
                      </a:endParaRPr>
                    </a:p>
                  </a:txBody>
                  <a:tcPr marT="45725" marB="45725" marR="45725" marL="45725"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RCA PIC</a:t>
                      </a:r>
                      <a:endParaRPr sz="1150" u="none" cap="none" strike="noStrike">
                        <a:latin typeface="Calibri"/>
                        <a:ea typeface="Calibri"/>
                        <a:cs typeface="Calibri"/>
                        <a:sym typeface="Calibri"/>
                      </a:endParaRPr>
                    </a:p>
                  </a:txBody>
                  <a:tcPr marT="45725" marB="45725" marR="45725" marL="45725"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HV5</a:t>
                      </a:r>
                      <a:endParaRPr sz="1150" u="none" cap="none" strike="noStrike">
                        <a:latin typeface="Calibri"/>
                        <a:ea typeface="Calibri"/>
                        <a:cs typeface="Calibri"/>
                        <a:sym typeface="Calibri"/>
                      </a:endParaRPr>
                    </a:p>
                  </a:txBody>
                  <a:tcPr marT="45725" marB="45725" marR="45725" marL="45725"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Record the verified root cause</a:t>
                      </a:r>
                      <a:endParaRPr sz="1150" u="none" cap="none" strike="noStrike">
                        <a:latin typeface="Calibri"/>
                        <a:ea typeface="Calibri"/>
                        <a:cs typeface="Calibri"/>
                        <a:sym typeface="Calibri"/>
                      </a:endParaRPr>
                    </a:p>
                  </a:txBody>
                  <a:tcPr marT="45725" marB="45725" marR="45725" marL="45725"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RCA PIC</a:t>
                      </a:r>
                      <a:endParaRPr sz="1150" u="none" cap="none" strike="noStrike">
                        <a:latin typeface="Calibri"/>
                        <a:ea typeface="Calibri"/>
                        <a:cs typeface="Calibri"/>
                        <a:sym typeface="Calibri"/>
                      </a:endParaRPr>
                    </a:p>
                  </a:txBody>
                  <a:tcPr marT="45725" marB="45725" marR="45725" marL="45725"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HV6</a:t>
                      </a:r>
                      <a:endParaRPr sz="1150" u="none" cap="none" strike="noStrike">
                        <a:latin typeface="Calibri"/>
                        <a:ea typeface="Calibri"/>
                        <a:cs typeface="Calibri"/>
                        <a:sym typeface="Calibri"/>
                      </a:endParaRPr>
                    </a:p>
                  </a:txBody>
                  <a:tcPr marT="45725" marB="45725" marR="45725" marL="45725"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Approve action, owner, plan date</a:t>
                      </a:r>
                      <a:endParaRPr sz="1150" u="none" cap="none" strike="noStrike">
                        <a:latin typeface="Calibri"/>
                        <a:ea typeface="Calibri"/>
                        <a:cs typeface="Calibri"/>
                        <a:sym typeface="Calibri"/>
                      </a:endParaRPr>
                    </a:p>
                  </a:txBody>
                  <a:tcPr marT="45725" marB="45725" marR="45725" marL="45725"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RCA PIC with action owner</a:t>
                      </a:r>
                      <a:endParaRPr sz="1150" u="none" cap="none" strike="noStrike">
                        <a:latin typeface="Calibri"/>
                        <a:ea typeface="Calibri"/>
                        <a:cs typeface="Calibri"/>
                        <a:sym typeface="Calibri"/>
                      </a:endParaRPr>
                    </a:p>
                  </a:txBody>
                  <a:tcPr marT="45725" marB="45725" marR="45725" marL="45725"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HV7</a:t>
                      </a:r>
                      <a:endParaRPr sz="1150" u="none" cap="none" strike="noStrike">
                        <a:latin typeface="Calibri"/>
                        <a:ea typeface="Calibri"/>
                        <a:cs typeface="Calibri"/>
                        <a:sym typeface="Calibri"/>
                      </a:endParaRPr>
                    </a:p>
                  </a:txBody>
                  <a:tcPr marT="45725" marB="45725" marR="45725" marL="45725"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Sign off effectiveness</a:t>
                      </a:r>
                      <a:endParaRPr sz="1150" u="none" cap="none" strike="noStrike">
                        <a:latin typeface="Calibri"/>
                        <a:ea typeface="Calibri"/>
                        <a:cs typeface="Calibri"/>
                        <a:sym typeface="Calibri"/>
                      </a:endParaRPr>
                    </a:p>
                  </a:txBody>
                  <a:tcPr marT="45725" marB="45725" marR="45725" marL="45725"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Verifier other than the owner</a:t>
                      </a:r>
                      <a:endParaRPr sz="1150" u="none" cap="none" strike="noStrike">
                        <a:latin typeface="Calibri"/>
                        <a:ea typeface="Calibri"/>
                        <a:cs typeface="Calibri"/>
                        <a:sym typeface="Calibri"/>
                      </a:endParaRPr>
                    </a:p>
                  </a:txBody>
                  <a:tcPr marT="45725" marB="45725" marR="45725" marL="45725"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HV8</a:t>
                      </a:r>
                      <a:endParaRPr sz="1150" u="none" cap="none" strike="noStrike">
                        <a:latin typeface="Calibri"/>
                        <a:ea typeface="Calibri"/>
                        <a:cs typeface="Calibri"/>
                        <a:sym typeface="Calibri"/>
                      </a:endParaRPr>
                    </a:p>
                  </a:txBody>
                  <a:tcPr marT="45725" marB="45725" marR="45725" marL="45725"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Close or cancel the incident</a:t>
                      </a:r>
                      <a:endParaRPr sz="1150" u="none" cap="none" strike="noStrike">
                        <a:latin typeface="Calibri"/>
                        <a:ea typeface="Calibri"/>
                        <a:cs typeface="Calibri"/>
                        <a:sym typeface="Calibri"/>
                      </a:endParaRPr>
                    </a:p>
                  </a:txBody>
                  <a:tcPr marT="45725" marB="45725" marR="45725" marL="45725"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Closure authority</a:t>
                      </a:r>
                      <a:endParaRPr sz="1150" u="none" cap="none" strike="noStrike">
                        <a:latin typeface="Calibri"/>
                        <a:ea typeface="Calibri"/>
                        <a:cs typeface="Calibri"/>
                        <a:sym typeface="Calibri"/>
                      </a:endParaRPr>
                    </a:p>
                  </a:txBody>
                  <a:tcPr marT="45725" marB="45725" marR="45725" marL="45725"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HV9</a:t>
                      </a:r>
                      <a:endParaRPr sz="1150" u="none" cap="none" strike="noStrike">
                        <a:latin typeface="Calibri"/>
                        <a:ea typeface="Calibri"/>
                        <a:cs typeface="Calibri"/>
                        <a:sym typeface="Calibri"/>
                      </a:endParaRPr>
                    </a:p>
                  </a:txBody>
                  <a:tcPr marT="45725" marB="45725" marR="45725" marL="45725"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Admit knowledge or rule change</a:t>
                      </a:r>
                      <a:endParaRPr sz="1150" u="none" cap="none" strike="noStrike">
                        <a:latin typeface="Calibri"/>
                        <a:ea typeface="Calibri"/>
                        <a:cs typeface="Calibri"/>
                        <a:sym typeface="Calibri"/>
                      </a:endParaRPr>
                    </a:p>
                  </a:txBody>
                  <a:tcPr marT="45725" marB="45725" marR="45725" marL="45725"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Reliability lead + rule owner</a:t>
                      </a:r>
                      <a:endParaRPr sz="1150" u="none" cap="none" strike="noStrike">
                        <a:latin typeface="Calibri"/>
                        <a:ea typeface="Calibri"/>
                        <a:cs typeface="Calibri"/>
                        <a:sym typeface="Calibri"/>
                      </a:endParaRPr>
                    </a:p>
                  </a:txBody>
                  <a:tcPr marT="45725" marB="45725" marR="45725" marL="45725"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HV10</a:t>
                      </a:r>
                      <a:endParaRPr sz="1150" u="none" cap="none" strike="noStrike">
                        <a:latin typeface="Calibri"/>
                        <a:ea typeface="Calibri"/>
                        <a:cs typeface="Calibri"/>
                        <a:sym typeface="Calibri"/>
                      </a:endParaRPr>
                    </a:p>
                  </a:txBody>
                  <a:tcPr marT="45725" marB="45725" marR="45725" marL="45725"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Attribution review of pilot cases</a:t>
                      </a:r>
                      <a:endParaRPr sz="1150" u="none" cap="none" strike="noStrike">
                        <a:latin typeface="Calibri"/>
                        <a:ea typeface="Calibri"/>
                        <a:cs typeface="Calibri"/>
                        <a:sym typeface="Calibri"/>
                      </a:endParaRPr>
                    </a:p>
                  </a:txBody>
                  <a:tcPr marT="45725" marB="45725" marR="45725" marL="45725"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Independent reviewer</a:t>
                      </a:r>
                      <a:endParaRPr sz="1150" u="none" cap="none" strike="noStrike">
                        <a:latin typeface="Calibri"/>
                        <a:ea typeface="Calibri"/>
                        <a:cs typeface="Calibri"/>
                        <a:sym typeface="Calibri"/>
                      </a:endParaRPr>
                    </a:p>
                  </a:txBody>
                  <a:tcPr marT="45725" marB="45725" marR="45725" marL="45725"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r>
            </a:tbl>
          </a:graphicData>
        </a:graphic>
      </p:graphicFrame>
      <p:sp>
        <p:nvSpPr>
          <p:cNvPr id="471" name="Google Shape;471;p12"/>
          <p:cNvSpPr txBox="1"/>
          <p:nvPr/>
        </p:nvSpPr>
        <p:spPr>
          <a:xfrm>
            <a:off x="7360920" y="1417320"/>
            <a:ext cx="4325112" cy="329184"/>
          </a:xfrm>
          <a:prstGeom prst="rect">
            <a:avLst/>
          </a:prstGeom>
          <a:solidFill>
            <a:srgbClr val="192F7B"/>
          </a:solidFill>
          <a:ln cap="flat" cmpd="sng" w="9525">
            <a:solidFill>
              <a:srgbClr val="192F7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Incident status (register)</a:t>
            </a:r>
            <a:endParaRPr b="0" i="0" sz="1200" u="none" cap="none" strike="noStrike">
              <a:solidFill>
                <a:schemeClr val="dk1"/>
              </a:solidFill>
              <a:latin typeface="Calibri"/>
              <a:ea typeface="Calibri"/>
              <a:cs typeface="Calibri"/>
              <a:sym typeface="Calibri"/>
            </a:endParaRPr>
          </a:p>
        </p:txBody>
      </p:sp>
      <p:sp>
        <p:nvSpPr>
          <p:cNvPr id="472" name="Google Shape;472;p12"/>
          <p:cNvSpPr txBox="1"/>
          <p:nvPr/>
        </p:nvSpPr>
        <p:spPr>
          <a:xfrm>
            <a:off x="7360920" y="1746504"/>
            <a:ext cx="4325112" cy="786384"/>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38100" lIns="127000" spcFirstLastPara="1" rIns="101600" wrap="square" tIns="38100">
            <a:noAutofit/>
          </a:bodyPr>
          <a:lstStyle/>
          <a:p>
            <a:pPr indent="0" lvl="0" marL="0" marR="0" rtl="0" algn="l">
              <a:spcBef>
                <a:spcPts val="0"/>
              </a:spcBef>
              <a:spcAft>
                <a:spcPts val="0"/>
              </a:spcAft>
              <a:buClr>
                <a:srgbClr val="1E2430"/>
              </a:buClr>
              <a:buSzPts val="1200"/>
              <a:buFont typeface="Calibri"/>
              <a:buNone/>
            </a:pPr>
            <a:r>
              <a:rPr b="1" i="0" lang="en-US" sz="1200" u="none" cap="none" strike="noStrike">
                <a:solidFill>
                  <a:srgbClr val="1E2430"/>
                </a:solidFill>
                <a:latin typeface="Calibri"/>
                <a:ea typeface="Calibri"/>
                <a:cs typeface="Calibri"/>
                <a:sym typeface="Calibri"/>
              </a:rPr>
              <a:t>NEW REGISTERED → RCA PROCESS → CA/PA EXECUTION → MONITORING RESULT → RISK CLOSED  ·  RISK CANCELED</a:t>
            </a:r>
            <a:endParaRPr b="0" i="0" sz="1200" u="none" cap="none" strike="noStrike">
              <a:solidFill>
                <a:schemeClr val="dk1"/>
              </a:solidFill>
              <a:latin typeface="Calibri"/>
              <a:ea typeface="Calibri"/>
              <a:cs typeface="Calibri"/>
              <a:sym typeface="Calibri"/>
            </a:endParaRPr>
          </a:p>
        </p:txBody>
      </p:sp>
      <p:sp>
        <p:nvSpPr>
          <p:cNvPr id="473" name="Google Shape;473;p12"/>
          <p:cNvSpPr txBox="1"/>
          <p:nvPr/>
        </p:nvSpPr>
        <p:spPr>
          <a:xfrm>
            <a:off x="7360920" y="2697480"/>
            <a:ext cx="4325112" cy="329184"/>
          </a:xfrm>
          <a:prstGeom prst="rect">
            <a:avLst/>
          </a:prstGeom>
          <a:solidFill>
            <a:srgbClr val="192F7B"/>
          </a:solidFill>
          <a:ln cap="flat" cmpd="sng" w="9525">
            <a:solidFill>
              <a:srgbClr val="192F7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Action execution</a:t>
            </a:r>
            <a:endParaRPr b="0" i="0" sz="1200" u="none" cap="none" strike="noStrike">
              <a:solidFill>
                <a:schemeClr val="dk1"/>
              </a:solidFill>
              <a:latin typeface="Calibri"/>
              <a:ea typeface="Calibri"/>
              <a:cs typeface="Calibri"/>
              <a:sym typeface="Calibri"/>
            </a:endParaRPr>
          </a:p>
        </p:txBody>
      </p:sp>
      <p:sp>
        <p:nvSpPr>
          <p:cNvPr id="474" name="Google Shape;474;p12"/>
          <p:cNvSpPr txBox="1"/>
          <p:nvPr/>
        </p:nvSpPr>
        <p:spPr>
          <a:xfrm>
            <a:off x="7360920" y="3026664"/>
            <a:ext cx="4325112" cy="786384"/>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38100" lIns="127000" spcFirstLastPara="1" rIns="101600" wrap="square" tIns="38100">
            <a:noAutofit/>
          </a:bodyPr>
          <a:lstStyle/>
          <a:p>
            <a:pPr indent="0" lvl="0" marL="0" marR="0" rtl="0" algn="l">
              <a:spcBef>
                <a:spcPts val="0"/>
              </a:spcBef>
              <a:spcAft>
                <a:spcPts val="0"/>
              </a:spcAft>
              <a:buClr>
                <a:srgbClr val="1E2430"/>
              </a:buClr>
              <a:buSzPts val="1200"/>
              <a:buFont typeface="Calibri"/>
              <a:buNone/>
            </a:pPr>
            <a:r>
              <a:rPr b="1" i="0" lang="en-US" sz="1200" u="none" cap="none" strike="noStrike">
                <a:solidFill>
                  <a:srgbClr val="1E2430"/>
                </a:solidFill>
                <a:latin typeface="Calibri"/>
                <a:ea typeface="Calibri"/>
                <a:cs typeface="Calibri"/>
                <a:sym typeface="Calibri"/>
              </a:rPr>
              <a:t>OPEN → IN PROGRESS → CLOSED</a:t>
            </a:r>
            <a:endParaRPr b="0" i="0" sz="1200" u="none" cap="none" strike="noStrike">
              <a:solidFill>
                <a:schemeClr val="dk1"/>
              </a:solidFill>
              <a:latin typeface="Calibri"/>
              <a:ea typeface="Calibri"/>
              <a:cs typeface="Calibri"/>
              <a:sym typeface="Calibri"/>
            </a:endParaRPr>
          </a:p>
        </p:txBody>
      </p:sp>
      <p:sp>
        <p:nvSpPr>
          <p:cNvPr id="475" name="Google Shape;475;p12"/>
          <p:cNvSpPr txBox="1"/>
          <p:nvPr/>
        </p:nvSpPr>
        <p:spPr>
          <a:xfrm>
            <a:off x="7360920" y="3977640"/>
            <a:ext cx="4325112" cy="329184"/>
          </a:xfrm>
          <a:prstGeom prst="rect">
            <a:avLst/>
          </a:prstGeom>
          <a:solidFill>
            <a:srgbClr val="192F7B"/>
          </a:solidFill>
          <a:ln cap="flat" cmpd="sng" w="9525">
            <a:solidFill>
              <a:srgbClr val="192F7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Effectiveness</a:t>
            </a:r>
            <a:endParaRPr b="0" i="0" sz="1200" u="none" cap="none" strike="noStrike">
              <a:solidFill>
                <a:schemeClr val="dk1"/>
              </a:solidFill>
              <a:latin typeface="Calibri"/>
              <a:ea typeface="Calibri"/>
              <a:cs typeface="Calibri"/>
              <a:sym typeface="Calibri"/>
            </a:endParaRPr>
          </a:p>
        </p:txBody>
      </p:sp>
      <p:sp>
        <p:nvSpPr>
          <p:cNvPr id="476" name="Google Shape;476;p12"/>
          <p:cNvSpPr txBox="1"/>
          <p:nvPr/>
        </p:nvSpPr>
        <p:spPr>
          <a:xfrm>
            <a:off x="7360920" y="4306824"/>
            <a:ext cx="4325112" cy="786384"/>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38100" lIns="127000" spcFirstLastPara="1" rIns="101600" wrap="square" tIns="38100">
            <a:noAutofit/>
          </a:bodyPr>
          <a:lstStyle/>
          <a:p>
            <a:pPr indent="0" lvl="0" marL="0" marR="0" rtl="0" algn="l">
              <a:spcBef>
                <a:spcPts val="0"/>
              </a:spcBef>
              <a:spcAft>
                <a:spcPts val="0"/>
              </a:spcAft>
              <a:buClr>
                <a:srgbClr val="1E2430"/>
              </a:buClr>
              <a:buSzPts val="1200"/>
              <a:buFont typeface="Calibri"/>
              <a:buNone/>
            </a:pPr>
            <a:r>
              <a:rPr b="1" i="0" lang="en-US" sz="1200" u="none" cap="none" strike="noStrike">
                <a:solidFill>
                  <a:srgbClr val="1E2430"/>
                </a:solidFill>
                <a:latin typeface="Calibri"/>
                <a:ea typeface="Calibri"/>
                <a:cs typeface="Calibri"/>
                <a:sym typeface="Calibri"/>
              </a:rPr>
              <a:t>NOT DUE → PENDING → EFFECTIVE | NOT EFFECTIVE | NOT TESTABLE</a:t>
            </a:r>
            <a:endParaRPr b="0" i="0" sz="1200" u="none" cap="none" strike="noStrike">
              <a:solidFill>
                <a:schemeClr val="dk1"/>
              </a:solidFill>
              <a:latin typeface="Calibri"/>
              <a:ea typeface="Calibri"/>
              <a:cs typeface="Calibri"/>
              <a:sym typeface="Calibri"/>
            </a:endParaRPr>
          </a:p>
        </p:txBody>
      </p:sp>
      <p:sp>
        <p:nvSpPr>
          <p:cNvPr id="477" name="Google Shape;477;p12"/>
          <p:cNvSpPr txBox="1"/>
          <p:nvPr/>
        </p:nvSpPr>
        <p:spPr>
          <a:xfrm>
            <a:off x="7360920" y="5349240"/>
            <a:ext cx="4325112"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1100"/>
              <a:buFont typeface="Calibri"/>
              <a:buNone/>
            </a:pPr>
            <a:r>
              <a:rPr b="0" i="1" lang="en-US" sz="1100" u="none" cap="none" strike="noStrike">
                <a:solidFill>
                  <a:srgbClr val="5B6573"/>
                </a:solidFill>
                <a:latin typeface="Calibri"/>
                <a:ea typeface="Calibri"/>
                <a:cs typeface="Calibri"/>
                <a:sym typeface="Calibri"/>
              </a:rPr>
              <a:t>A completed repair is not an effective CAPA: execution and effectiveness are separate fields. AETHER never sets RISK CLOSED.</a:t>
            </a:r>
            <a:endParaRPr b="0" i="0" sz="1100" u="none" cap="none" strike="noStrike">
              <a:solidFill>
                <a:schemeClr val="dk1"/>
              </a:solidFill>
              <a:latin typeface="Calibri"/>
              <a:ea typeface="Calibri"/>
              <a:cs typeface="Calibri"/>
              <a:sym typeface="Calibri"/>
            </a:endParaRPr>
          </a:p>
        </p:txBody>
      </p:sp>
      <p:sp>
        <p:nvSpPr>
          <p:cNvPr id="478" name="Google Shape;478;p12"/>
          <p:cNvSpPr txBox="1"/>
          <p:nvPr/>
        </p:nvSpPr>
        <p:spPr>
          <a:xfrm>
            <a:off x="502920" y="5961888"/>
            <a:ext cx="11183112"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850"/>
              <a:buFont typeface="Calibri"/>
              <a:buNone/>
            </a:pPr>
            <a:r>
              <a:rPr b="0" i="0" lang="en-US" sz="850" u="none" cap="none" strike="noStrike">
                <a:solidFill>
                  <a:srgbClr val="5B6573"/>
                </a:solidFill>
                <a:latin typeface="Calibri"/>
                <a:ea typeface="Calibri"/>
                <a:cs typeface="Calibri"/>
                <a:sym typeface="Calibri"/>
              </a:rPr>
              <a:t>Source: AETHER Gate 4 v1.0 §3, GDR04; incident statuses as defined in the CALIBER 2026 Case 2 materials.</a:t>
            </a:r>
            <a:endParaRPr b="0" i="0" sz="850" u="none" cap="none" strike="noStrike">
              <a:solidFill>
                <a:schemeClr val="dk1"/>
              </a:solidFill>
              <a:latin typeface="Calibri"/>
              <a:ea typeface="Calibri"/>
              <a:cs typeface="Calibri"/>
              <a:sym typeface="Calibri"/>
            </a:endParaRPr>
          </a:p>
        </p:txBody>
      </p:sp>
      <p:sp>
        <p:nvSpPr>
          <p:cNvPr id="479" name="Google Shape;479;p12"/>
          <p:cNvSpPr txBox="1"/>
          <p:nvPr>
            <p:ph idx="4294967295" type="sldNum"/>
          </p:nvPr>
        </p:nvSpPr>
        <p:spPr>
          <a:xfrm>
            <a:off x="11228832" y="6473952"/>
            <a:ext cx="4572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5B6573"/>
                </a:solidFill>
                <a:latin typeface="Calibri"/>
                <a:ea typeface="Calibri"/>
                <a:cs typeface="Calibri"/>
                <a:sym typeface="Calibri"/>
              </a:rPr>
              <a:t>‹#›</a:t>
            </a:fld>
            <a:endParaRPr b="0" i="0" sz="900" u="none" cap="none" strike="noStrike">
              <a:solidFill>
                <a:srgbClr val="5B6573"/>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13"/>
          <p:cNvSpPr txBox="1"/>
          <p:nvPr/>
        </p:nvSpPr>
        <p:spPr>
          <a:xfrm>
            <a:off x="502920" y="146304"/>
            <a:ext cx="914400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9D3EA"/>
              </a:buClr>
              <a:buSzPts val="1000"/>
              <a:buFont typeface="Calibri"/>
              <a:buNone/>
            </a:pPr>
            <a:r>
              <a:rPr b="1" i="0" lang="en-US" sz="1000" u="none" cap="none" strike="noStrike">
                <a:solidFill>
                  <a:srgbClr val="C9D3EA"/>
                </a:solidFill>
                <a:latin typeface="Calibri"/>
                <a:ea typeface="Calibri"/>
                <a:cs typeface="Calibri"/>
                <a:sym typeface="Calibri"/>
              </a:rPr>
              <a:t>APPENDIX  |  SUPPORTING EVIDENCE, NOT PART OF THE 7-SLIDE DECK</a:t>
            </a:r>
            <a:endParaRPr b="0" i="0" sz="1000" u="none" cap="none" strike="noStrike">
              <a:solidFill>
                <a:schemeClr val="dk1"/>
              </a:solidFill>
              <a:latin typeface="Calibri"/>
              <a:ea typeface="Calibri"/>
              <a:cs typeface="Calibri"/>
              <a:sym typeface="Calibri"/>
            </a:endParaRPr>
          </a:p>
        </p:txBody>
      </p:sp>
      <p:sp>
        <p:nvSpPr>
          <p:cNvPr id="486" name="Google Shape;486;p13"/>
          <p:cNvSpPr txBox="1"/>
          <p:nvPr>
            <p:ph type="title"/>
          </p:nvPr>
        </p:nvSpPr>
        <p:spPr>
          <a:xfrm>
            <a:off x="502920" y="384048"/>
            <a:ext cx="11183112" cy="749808"/>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FFFFFF"/>
              </a:buClr>
              <a:buSzPts val="2400"/>
              <a:buFont typeface="Calibri"/>
              <a:buNone/>
            </a:pPr>
            <a:r>
              <a:rPr b="1" lang="en-US" sz="2400">
                <a:solidFill>
                  <a:srgbClr val="FFFFFF"/>
                </a:solidFill>
              </a:rPr>
              <a:t>A5  Feasibility Detail: Six Readiness Dimensions and the Scope of Each Phase</a:t>
            </a:r>
            <a:endParaRPr sz="2400"/>
          </a:p>
        </p:txBody>
      </p:sp>
      <p:graphicFrame>
        <p:nvGraphicFramePr>
          <p:cNvPr id="487" name="Google Shape;487;p13"/>
          <p:cNvGraphicFramePr/>
          <p:nvPr/>
        </p:nvGraphicFramePr>
        <p:xfrm>
          <a:off x="502920" y="1417320"/>
          <a:ext cx="3000000" cy="3000000"/>
        </p:xfrm>
        <a:graphic>
          <a:graphicData uri="http://schemas.openxmlformats.org/drawingml/2006/table">
            <a:tbl>
              <a:tblPr>
                <a:noFill/>
                <a:tableStyleId>{E2E4A7D4-D2CB-402E-B673-409BCF92103C}</a:tableStyleId>
              </a:tblPr>
              <a:tblGrid>
                <a:gridCol w="1554475"/>
                <a:gridCol w="3931925"/>
              </a:tblGrid>
              <a:tr h="566925">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Dimension</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192F7B"/>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Design [PROPOSED]</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192F7B"/>
                    </a:solidFill>
                  </a:tcPr>
                </a:tc>
              </a:tr>
              <a:tr h="566925">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Technical</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Prototype runs on static case data; later, read-only feeds from historian, lab, CMMS and register</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Operational</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Fits the existing 4P / 4M+1E RCA and CAPA process; daily, weekly and monthly reviews</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Organizational</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Ten sign-off points; only a person records the verified cause or closes anything</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Cybersecurity</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No write path to DCS; one-way data flow through defined conduits (aligned with ISA/IEC 62443)</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Data governance</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Steward per source; status label on every number; conflicts flagged; append-only audit trail</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Legal (to confirm)</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50"/>
                        <a:buFont typeface="Calibri"/>
                        <a:buNone/>
                      </a:pPr>
                      <a:r>
                        <a:rPr lang="en-US" sz="1150" u="none" cap="none" strike="noStrike">
                          <a:solidFill>
                            <a:srgbClr val="1E2430"/>
                          </a:solidFill>
                          <a:latin typeface="Calibri"/>
                          <a:ea typeface="Calibri"/>
                          <a:cs typeface="Calibri"/>
                          <a:sym typeface="Calibri"/>
                        </a:rPr>
                        <a:t>Role codes, not personal data, in decision logs; user data under UU 27/2022 (PDP Law)</a:t>
                      </a:r>
                      <a:endParaRPr sz="115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r>
            </a:tbl>
          </a:graphicData>
        </a:graphic>
      </p:graphicFrame>
      <p:graphicFrame>
        <p:nvGraphicFramePr>
          <p:cNvPr id="488" name="Google Shape;488;p13"/>
          <p:cNvGraphicFramePr/>
          <p:nvPr/>
        </p:nvGraphicFramePr>
        <p:xfrm>
          <a:off x="6263640" y="1417320"/>
          <a:ext cx="3000000" cy="3000000"/>
        </p:xfrm>
        <a:graphic>
          <a:graphicData uri="http://schemas.openxmlformats.org/drawingml/2006/table">
            <a:tbl>
              <a:tblPr>
                <a:noFill/>
                <a:tableStyleId>{E2E4A7D4-D2CB-402E-B673-409BCF92103C}</a:tableStyleId>
              </a:tblPr>
              <a:tblGrid>
                <a:gridCol w="1371600"/>
                <a:gridCol w="2103125"/>
                <a:gridCol w="1947675"/>
              </a:tblGrid>
              <a:tr h="566925">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Phase</a:t>
                      </a:r>
                      <a:endParaRPr sz="110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192F7B"/>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Scope</a:t>
                      </a:r>
                      <a:endParaRPr sz="110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192F7B"/>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Exit gate</a:t>
                      </a:r>
                      <a:endParaRPr sz="110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192F7B"/>
                    </a:solidFill>
                  </a:tcPr>
                </a:tc>
              </a:tr>
              <a:tr h="566925">
                <a:tc>
                  <a:txBody>
                    <a:bodyPr/>
                    <a:lstStyle/>
                    <a:p>
                      <a:pPr indent="0" lvl="0" marL="0" marR="0" rtl="0" algn="l">
                        <a:spcBef>
                          <a:spcPts val="0"/>
                        </a:spcBef>
                        <a:spcAft>
                          <a:spcPts val="0"/>
                        </a:spcAft>
                        <a:buClr>
                          <a:srgbClr val="1E2430"/>
                        </a:buClr>
                        <a:buSzPts val="1100"/>
                        <a:buFont typeface="Calibri"/>
                        <a:buNone/>
                      </a:pPr>
                      <a:r>
                        <a:rPr lang="en-US" sz="1100" u="none" cap="none" strike="noStrike">
                          <a:solidFill>
                            <a:srgbClr val="1E2430"/>
                          </a:solidFill>
                          <a:latin typeface="Calibri"/>
                          <a:ea typeface="Calibri"/>
                          <a:cs typeface="Calibri"/>
                          <a:sym typeface="Calibri"/>
                        </a:rPr>
                        <a:t>0  Prototype (now)</a:t>
                      </a:r>
                      <a:endParaRPr sz="110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00"/>
                        <a:buFont typeface="Calibri"/>
                        <a:buNone/>
                      </a:pPr>
                      <a:r>
                        <a:rPr lang="en-US" sz="1100" u="none" cap="none" strike="noStrike">
                          <a:solidFill>
                            <a:srgbClr val="1E2430"/>
                          </a:solidFill>
                          <a:latin typeface="Calibri"/>
                          <a:ea typeface="Calibri"/>
                          <a:cs typeface="Calibri"/>
                          <a:sym typeface="Calibri"/>
                        </a:rPr>
                        <a:t>Five hero cases on case data</a:t>
                      </a:r>
                      <a:endParaRPr sz="110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00"/>
                        <a:buFont typeface="Calibri"/>
                        <a:buNone/>
                      </a:pPr>
                      <a:r>
                        <a:rPr lang="en-US" sz="1100" u="none" cap="none" strike="noStrike">
                          <a:solidFill>
                            <a:srgbClr val="1E2430"/>
                          </a:solidFill>
                          <a:latin typeface="Calibri"/>
                          <a:ea typeface="Calibri"/>
                          <a:cs typeface="Calibri"/>
                          <a:sym typeface="Calibri"/>
                        </a:rPr>
                        <a:t>Plant can follow the loop end to end</a:t>
                      </a:r>
                      <a:endParaRPr sz="110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E2430"/>
                        </a:buClr>
                        <a:buSzPts val="1100"/>
                        <a:buFont typeface="Calibri"/>
                        <a:buNone/>
                      </a:pPr>
                      <a:r>
                        <a:rPr lang="en-US" sz="1100" u="none" cap="none" strike="noStrike">
                          <a:solidFill>
                            <a:srgbClr val="1E2430"/>
                          </a:solidFill>
                          <a:latin typeface="Calibri"/>
                          <a:ea typeface="Calibri"/>
                          <a:cs typeface="Calibri"/>
                          <a:sym typeface="Calibri"/>
                        </a:rPr>
                        <a:t>1  Visibility</a:t>
                      </a:r>
                      <a:endParaRPr sz="110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00"/>
                        <a:buFont typeface="Calibri"/>
                        <a:buNone/>
                      </a:pPr>
                      <a:r>
                        <a:rPr lang="en-US" sz="1100" u="none" cap="none" strike="noStrike">
                          <a:solidFill>
                            <a:srgbClr val="1E2430"/>
                          </a:solidFill>
                          <a:latin typeface="Calibri"/>
                          <a:ea typeface="Calibri"/>
                          <a:cs typeface="Calibri"/>
                          <a:sym typeface="Calibri"/>
                        </a:rPr>
                        <a:t>Source map; executive pane on live register data (pilot plant)</a:t>
                      </a:r>
                      <a:endParaRPr sz="110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00"/>
                        <a:buFont typeface="Calibri"/>
                        <a:buNone/>
                      </a:pPr>
                      <a:r>
                        <a:rPr lang="en-US" sz="1100" u="none" cap="none" strike="noStrike">
                          <a:solidFill>
                            <a:srgbClr val="1E2430"/>
                          </a:solidFill>
                          <a:latin typeface="Calibri"/>
                          <a:ea typeface="Calibri"/>
                          <a:cs typeface="Calibri"/>
                          <a:sym typeface="Calibri"/>
                        </a:rPr>
                        <a:t>Data-quality report accepted</a:t>
                      </a:r>
                      <a:endParaRPr sz="110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E2430"/>
                        </a:buClr>
                        <a:buSzPts val="1100"/>
                        <a:buFont typeface="Calibri"/>
                        <a:buNone/>
                      </a:pPr>
                      <a:r>
                        <a:rPr lang="en-US" sz="1100" u="none" cap="none" strike="noStrike">
                          <a:solidFill>
                            <a:srgbClr val="1E2430"/>
                          </a:solidFill>
                          <a:latin typeface="Calibri"/>
                          <a:ea typeface="Calibri"/>
                          <a:cs typeface="Calibri"/>
                          <a:sym typeface="Calibri"/>
                        </a:rPr>
                        <a:t>2  Decision support</a:t>
                      </a:r>
                      <a:endParaRPr sz="110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00"/>
                        <a:buFont typeface="Calibri"/>
                        <a:buNone/>
                      </a:pPr>
                      <a:r>
                        <a:rPr lang="en-US" sz="1100" u="none" cap="none" strike="noStrike">
                          <a:solidFill>
                            <a:srgbClr val="1E2430"/>
                          </a:solidFill>
                          <a:latin typeface="Calibri"/>
                          <a:ea typeface="Calibri"/>
                          <a:cs typeface="Calibri"/>
                          <a:sym typeface="Calibri"/>
                        </a:rPr>
                        <a:t>Problem Tank, probable cause, similar cases</a:t>
                      </a:r>
                      <a:endParaRPr sz="110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00"/>
                        <a:buFont typeface="Calibri"/>
                        <a:buNone/>
                      </a:pPr>
                      <a:r>
                        <a:rPr lang="en-US" sz="1100" u="none" cap="none" strike="noStrike">
                          <a:solidFill>
                            <a:srgbClr val="1E2430"/>
                          </a:solidFill>
                          <a:latin typeface="Calibri"/>
                          <a:ea typeface="Calibri"/>
                          <a:cs typeface="Calibri"/>
                          <a:sym typeface="Calibri"/>
                        </a:rPr>
                        <a:t>Sign-off log complete; decision-KPI baseline captured</a:t>
                      </a:r>
                      <a:endParaRPr sz="110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E2430"/>
                        </a:buClr>
                        <a:buSzPts val="1100"/>
                        <a:buFont typeface="Calibri"/>
                        <a:buNone/>
                      </a:pPr>
                      <a:r>
                        <a:rPr lang="en-US" sz="1100" u="none" cap="none" strike="noStrike">
                          <a:solidFill>
                            <a:srgbClr val="1E2430"/>
                          </a:solidFill>
                          <a:latin typeface="Calibri"/>
                          <a:ea typeface="Calibri"/>
                          <a:cs typeface="Calibri"/>
                          <a:sym typeface="Calibri"/>
                        </a:rPr>
                        <a:t>3  Accountability</a:t>
                      </a:r>
                      <a:endParaRPr sz="110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00"/>
                        <a:buFont typeface="Calibri"/>
                        <a:buNone/>
                      </a:pPr>
                      <a:r>
                        <a:rPr lang="en-US" sz="1100" u="none" cap="none" strike="noStrike">
                          <a:solidFill>
                            <a:srgbClr val="1E2430"/>
                          </a:solidFill>
                          <a:latin typeface="Calibri"/>
                          <a:ea typeface="Calibri"/>
                          <a:cs typeface="Calibri"/>
                          <a:sym typeface="Calibri"/>
                        </a:rPr>
                        <a:t>Owned actions, escalation, effectiveness checks</a:t>
                      </a:r>
                      <a:endParaRPr sz="110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00"/>
                        <a:buFont typeface="Calibri"/>
                        <a:buNone/>
                      </a:pPr>
                      <a:r>
                        <a:rPr lang="en-US" sz="1100" u="none" cap="none" strike="noStrike">
                          <a:solidFill>
                            <a:srgbClr val="1E2430"/>
                          </a:solidFill>
                          <a:latin typeface="Calibri"/>
                          <a:ea typeface="Calibri"/>
                          <a:cs typeface="Calibri"/>
                          <a:sym typeface="Calibri"/>
                        </a:rPr>
                        <a:t>Case records with counterfactual and attribution</a:t>
                      </a:r>
                      <a:endParaRPr sz="110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E2430"/>
                        </a:buClr>
                        <a:buSzPts val="1100"/>
                        <a:buFont typeface="Calibri"/>
                        <a:buNone/>
                      </a:pPr>
                      <a:r>
                        <a:rPr lang="en-US" sz="1100" u="none" cap="none" strike="noStrike">
                          <a:solidFill>
                            <a:srgbClr val="1E2430"/>
                          </a:solidFill>
                          <a:latin typeface="Calibri"/>
                          <a:ea typeface="Calibri"/>
                          <a:cs typeface="Calibri"/>
                          <a:sym typeface="Calibri"/>
                        </a:rPr>
                        <a:t>4  Learning</a:t>
                      </a:r>
                      <a:endParaRPr sz="110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00"/>
                        <a:buFont typeface="Calibri"/>
                        <a:buNone/>
                      </a:pPr>
                      <a:r>
                        <a:rPr lang="en-US" sz="1100" u="none" cap="none" strike="noStrike">
                          <a:solidFill>
                            <a:srgbClr val="1E2430"/>
                          </a:solidFill>
                          <a:latin typeface="Calibri"/>
                          <a:ea typeface="Calibri"/>
                          <a:cs typeface="Calibri"/>
                          <a:sym typeface="Calibri"/>
                        </a:rPr>
                        <a:t>Verified outcomes update the knowledge base</a:t>
                      </a:r>
                      <a:endParaRPr sz="110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00"/>
                        <a:buFont typeface="Calibri"/>
                        <a:buNone/>
                      </a:pPr>
                      <a:r>
                        <a:rPr lang="en-US" sz="1100" u="none" cap="none" strike="noStrike">
                          <a:solidFill>
                            <a:srgbClr val="1E2430"/>
                          </a:solidFill>
                          <a:latin typeface="Calibri"/>
                          <a:ea typeface="Calibri"/>
                          <a:cs typeface="Calibri"/>
                          <a:sym typeface="Calibri"/>
                        </a:rPr>
                        <a:t>New verified RCAs under change control</a:t>
                      </a:r>
                      <a:endParaRPr sz="110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E2430"/>
                        </a:buClr>
                        <a:buSzPts val="1100"/>
                        <a:buFont typeface="Calibri"/>
                        <a:buNone/>
                      </a:pPr>
                      <a:r>
                        <a:rPr lang="en-US" sz="1100" u="none" cap="none" strike="noStrike">
                          <a:solidFill>
                            <a:srgbClr val="1E2430"/>
                          </a:solidFill>
                          <a:latin typeface="Calibri"/>
                          <a:ea typeface="Calibri"/>
                          <a:cs typeface="Calibri"/>
                          <a:sym typeface="Calibri"/>
                        </a:rPr>
                        <a:t>5  Scale</a:t>
                      </a:r>
                      <a:endParaRPr sz="110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00"/>
                        <a:buFont typeface="Calibri"/>
                        <a:buNone/>
                      </a:pPr>
                      <a:r>
                        <a:rPr lang="en-US" sz="1100" u="none" cap="none" strike="noStrike">
                          <a:solidFill>
                            <a:srgbClr val="1E2430"/>
                          </a:solidFill>
                          <a:latin typeface="Calibri"/>
                          <a:ea typeface="Calibri"/>
                          <a:cs typeface="Calibri"/>
                          <a:sym typeface="Calibri"/>
                        </a:rPr>
                        <a:t>More assets and plants; CMMS, lab, energy feeds (future)</a:t>
                      </a:r>
                      <a:endParaRPr sz="110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2430"/>
                        </a:buClr>
                        <a:buSzPts val="1100"/>
                        <a:buFont typeface="Calibri"/>
                        <a:buNone/>
                      </a:pPr>
                      <a:r>
                        <a:rPr lang="en-US" sz="1100" u="none" cap="none" strike="noStrike">
                          <a:solidFill>
                            <a:srgbClr val="1E2430"/>
                          </a:solidFill>
                          <a:latin typeface="Calibri"/>
                          <a:ea typeface="Calibri"/>
                          <a:cs typeface="Calibri"/>
                          <a:sym typeface="Calibri"/>
                        </a:rPr>
                        <a:t>Validated pilot results and real cost</a:t>
                      </a:r>
                      <a:endParaRPr sz="1100" u="none" cap="none" strike="noStrike">
                        <a:latin typeface="Calibri"/>
                        <a:ea typeface="Calibri"/>
                        <a:cs typeface="Calibri"/>
                        <a:sym typeface="Calibri"/>
                      </a:endParaRPr>
                    </a:p>
                  </a:txBody>
                  <a:tcPr marT="64000" marB="64000" marR="64000" marL="64000" anchor="ctr">
                    <a:lnL cap="flat" cmpd="sng" w="9525">
                      <a:solidFill>
                        <a:srgbClr val="D3DAE4"/>
                      </a:solidFill>
                      <a:prstDash val="solid"/>
                      <a:round/>
                      <a:headEnd len="sm" w="sm" type="none"/>
                      <a:tailEnd len="sm" w="sm" type="none"/>
                    </a:lnL>
                    <a:lnR cap="flat" cmpd="sng" w="9525">
                      <a:solidFill>
                        <a:srgbClr val="D3DAE4"/>
                      </a:solidFill>
                      <a:prstDash val="solid"/>
                      <a:round/>
                      <a:headEnd len="sm" w="sm" type="none"/>
                      <a:tailEnd len="sm" w="sm" type="none"/>
                    </a:lnR>
                    <a:lnT cap="flat" cmpd="sng" w="9525">
                      <a:solidFill>
                        <a:srgbClr val="D3DAE4"/>
                      </a:solidFill>
                      <a:prstDash val="solid"/>
                      <a:round/>
                      <a:headEnd len="sm" w="sm" type="none"/>
                      <a:tailEnd len="sm" w="sm" type="none"/>
                    </a:lnT>
                    <a:lnB cap="flat" cmpd="sng" w="9525">
                      <a:solidFill>
                        <a:srgbClr val="D3DAE4"/>
                      </a:solidFill>
                      <a:prstDash val="solid"/>
                      <a:round/>
                      <a:headEnd len="sm" w="sm" type="none"/>
                      <a:tailEnd len="sm" w="sm" type="none"/>
                    </a:lnB>
                    <a:solidFill>
                      <a:srgbClr val="FFFFFF"/>
                    </a:solidFill>
                  </a:tcPr>
                </a:tc>
              </a:tr>
            </a:tbl>
          </a:graphicData>
        </a:graphic>
      </p:graphicFrame>
      <p:sp>
        <p:nvSpPr>
          <p:cNvPr id="489" name="Google Shape;489;p13"/>
          <p:cNvSpPr txBox="1"/>
          <p:nvPr/>
        </p:nvSpPr>
        <p:spPr>
          <a:xfrm>
            <a:off x="502920" y="5961888"/>
            <a:ext cx="11183112"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850"/>
              <a:buFont typeface="Calibri"/>
              <a:buNone/>
            </a:pPr>
            <a:r>
              <a:rPr b="0" i="0" lang="en-US" sz="850" u="none" cap="none" strike="noStrike">
                <a:solidFill>
                  <a:srgbClr val="5B6573"/>
                </a:solidFill>
                <a:latin typeface="Calibri"/>
                <a:ea typeface="Calibri"/>
                <a:cs typeface="Calibri"/>
                <a:sym typeface="Calibri"/>
              </a:rPr>
              <a:t>Source: AETHER Gate 4 v1.0 and Gate 3 v1.0 roadmap. Durations are set at pilot planning; integrations are future, not existing.</a:t>
            </a:r>
            <a:endParaRPr b="0" i="0" sz="850" u="none" cap="none" strike="noStrike">
              <a:solidFill>
                <a:schemeClr val="dk1"/>
              </a:solidFill>
              <a:latin typeface="Calibri"/>
              <a:ea typeface="Calibri"/>
              <a:cs typeface="Calibri"/>
              <a:sym typeface="Calibri"/>
            </a:endParaRPr>
          </a:p>
        </p:txBody>
      </p:sp>
      <p:sp>
        <p:nvSpPr>
          <p:cNvPr id="490" name="Google Shape;490;p13"/>
          <p:cNvSpPr txBox="1"/>
          <p:nvPr>
            <p:ph idx="4294967295" type="sldNum"/>
          </p:nvPr>
        </p:nvSpPr>
        <p:spPr>
          <a:xfrm>
            <a:off x="11228832" y="6473952"/>
            <a:ext cx="4572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5B6573"/>
                </a:solidFill>
                <a:latin typeface="Calibri"/>
                <a:ea typeface="Calibri"/>
                <a:cs typeface="Calibri"/>
                <a:sym typeface="Calibri"/>
              </a:rPr>
              <a:t>‹#›</a:t>
            </a:fld>
            <a:endParaRPr b="0" i="0" sz="900" u="none" cap="none" strike="noStrike">
              <a:solidFill>
                <a:srgbClr val="5B6573"/>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14"/>
          <p:cNvSpPr txBox="1"/>
          <p:nvPr/>
        </p:nvSpPr>
        <p:spPr>
          <a:xfrm>
            <a:off x="502920" y="146304"/>
            <a:ext cx="914400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9D3EA"/>
              </a:buClr>
              <a:buSzPts val="1000"/>
              <a:buFont typeface="Calibri"/>
              <a:buNone/>
            </a:pPr>
            <a:r>
              <a:rPr b="1" i="0" lang="en-US" sz="1000" u="none" cap="none" strike="noStrike">
                <a:solidFill>
                  <a:srgbClr val="C9D3EA"/>
                </a:solidFill>
                <a:latin typeface="Calibri"/>
                <a:ea typeface="Calibri"/>
                <a:cs typeface="Calibri"/>
                <a:sym typeface="Calibri"/>
              </a:rPr>
              <a:t>APPENDIX  |  SUPPORTING EVIDENCE, NOT PART OF THE 7-SLIDE DECK</a:t>
            </a:r>
            <a:endParaRPr b="0" i="0" sz="1000" u="none" cap="none" strike="noStrike">
              <a:solidFill>
                <a:schemeClr val="dk1"/>
              </a:solidFill>
              <a:latin typeface="Calibri"/>
              <a:ea typeface="Calibri"/>
              <a:cs typeface="Calibri"/>
              <a:sym typeface="Calibri"/>
            </a:endParaRPr>
          </a:p>
        </p:txBody>
      </p:sp>
      <p:sp>
        <p:nvSpPr>
          <p:cNvPr id="497" name="Google Shape;497;p14"/>
          <p:cNvSpPr txBox="1"/>
          <p:nvPr>
            <p:ph type="title"/>
          </p:nvPr>
        </p:nvSpPr>
        <p:spPr>
          <a:xfrm>
            <a:off x="502920" y="384048"/>
            <a:ext cx="11183112" cy="749808"/>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FFFFFF"/>
              </a:buClr>
              <a:buSzPts val="2400"/>
              <a:buFont typeface="Calibri"/>
              <a:buNone/>
            </a:pPr>
            <a:r>
              <a:rPr b="1" lang="en-US" sz="2400">
                <a:solidFill>
                  <a:srgbClr val="FFFFFF"/>
                </a:solidFill>
              </a:rPr>
              <a:t>A6  Prototype Journey: Executive View to Verified Result</a:t>
            </a:r>
            <a:endParaRPr sz="2400"/>
          </a:p>
        </p:txBody>
      </p:sp>
      <p:sp>
        <p:nvSpPr>
          <p:cNvPr id="498" name="Google Shape;498;p14"/>
          <p:cNvSpPr txBox="1"/>
          <p:nvPr/>
        </p:nvSpPr>
        <p:spPr>
          <a:xfrm>
            <a:off x="502920" y="1417320"/>
            <a:ext cx="3605784" cy="1691640"/>
          </a:xfrm>
          <a:prstGeom prst="rect">
            <a:avLst/>
          </a:prstGeom>
          <a:solidFill>
            <a:srgbClr val="FFFFFF"/>
          </a:solidFill>
          <a:ln cap="flat" cmpd="sng" w="12700">
            <a:solidFill>
              <a:srgbClr val="B45309"/>
            </a:solidFill>
            <a:prstDash val="dash"/>
            <a:round/>
            <a:headEnd len="sm" w="sm" type="none"/>
            <a:tailEnd len="sm" w="sm" type="none"/>
          </a:ln>
        </p:spPr>
        <p:txBody>
          <a:bodyPr anchorCtr="0" anchor="ctr" bIns="101600" lIns="101600" spcFirstLastPara="1" rIns="101600" wrap="square" tIns="101600">
            <a:noAutofit/>
          </a:bodyPr>
          <a:lstStyle/>
          <a:p>
            <a:pPr indent="0" lvl="0" marL="0" marR="0" rtl="0" algn="ctr">
              <a:spcBef>
                <a:spcPts val="0"/>
              </a:spcBef>
              <a:spcAft>
                <a:spcPts val="0"/>
              </a:spcAft>
              <a:buClr>
                <a:srgbClr val="B45309"/>
              </a:buClr>
              <a:buSzPts val="1100"/>
              <a:buFont typeface="Calibri"/>
              <a:buNone/>
            </a:pPr>
            <a:r>
              <a:rPr b="1" i="0" lang="en-US" sz="1100" u="none" cap="none" strike="noStrike">
                <a:solidFill>
                  <a:srgbClr val="B45309"/>
                </a:solidFill>
                <a:latin typeface="Calibri"/>
                <a:ea typeface="Calibri"/>
                <a:cs typeface="Calibri"/>
                <a:sym typeface="Calibri"/>
              </a:rPr>
              <a:t>[INSERT ACTUAL GATE 5 SCREENSHOT: EXECUTIVE PANE]</a:t>
            </a:r>
            <a:endParaRPr b="0" i="0" sz="1100" u="none" cap="none" strike="noStrike">
              <a:solidFill>
                <a:schemeClr val="dk1"/>
              </a:solidFill>
              <a:latin typeface="Calibri"/>
              <a:ea typeface="Calibri"/>
              <a:cs typeface="Calibri"/>
              <a:sym typeface="Calibri"/>
            </a:endParaRPr>
          </a:p>
        </p:txBody>
      </p:sp>
      <p:sp>
        <p:nvSpPr>
          <p:cNvPr id="499" name="Google Shape;499;p14"/>
          <p:cNvSpPr txBox="1"/>
          <p:nvPr/>
        </p:nvSpPr>
        <p:spPr>
          <a:xfrm>
            <a:off x="502920" y="3154680"/>
            <a:ext cx="3605784"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1050"/>
              <a:buFont typeface="Calibri"/>
              <a:buNone/>
            </a:pPr>
            <a:r>
              <a:rPr b="0" i="0" lang="en-US" sz="1050" u="none" cap="none" strike="noStrike">
                <a:solidFill>
                  <a:srgbClr val="5B6573"/>
                </a:solidFill>
                <a:latin typeface="Calibri"/>
                <a:ea typeface="Calibri"/>
                <a:cs typeface="Calibri"/>
                <a:sym typeface="Calibri"/>
              </a:rPr>
              <a:t>Step 1: annotate with numbered callouts</a:t>
            </a:r>
            <a:endParaRPr b="0" i="0" sz="1050" u="none" cap="none" strike="noStrike">
              <a:solidFill>
                <a:schemeClr val="dk1"/>
              </a:solidFill>
              <a:latin typeface="Calibri"/>
              <a:ea typeface="Calibri"/>
              <a:cs typeface="Calibri"/>
              <a:sym typeface="Calibri"/>
            </a:endParaRPr>
          </a:p>
        </p:txBody>
      </p:sp>
      <p:sp>
        <p:nvSpPr>
          <p:cNvPr id="500" name="Google Shape;500;p14"/>
          <p:cNvSpPr txBox="1"/>
          <p:nvPr/>
        </p:nvSpPr>
        <p:spPr>
          <a:xfrm>
            <a:off x="4291584" y="1417320"/>
            <a:ext cx="3605784" cy="1691640"/>
          </a:xfrm>
          <a:prstGeom prst="rect">
            <a:avLst/>
          </a:prstGeom>
          <a:solidFill>
            <a:srgbClr val="FFFFFF"/>
          </a:solidFill>
          <a:ln cap="flat" cmpd="sng" w="12700">
            <a:solidFill>
              <a:srgbClr val="B45309"/>
            </a:solidFill>
            <a:prstDash val="dash"/>
            <a:round/>
            <a:headEnd len="sm" w="sm" type="none"/>
            <a:tailEnd len="sm" w="sm" type="none"/>
          </a:ln>
        </p:spPr>
        <p:txBody>
          <a:bodyPr anchorCtr="0" anchor="ctr" bIns="101600" lIns="101600" spcFirstLastPara="1" rIns="101600" wrap="square" tIns="101600">
            <a:noAutofit/>
          </a:bodyPr>
          <a:lstStyle/>
          <a:p>
            <a:pPr indent="0" lvl="0" marL="0" marR="0" rtl="0" algn="ctr">
              <a:spcBef>
                <a:spcPts val="0"/>
              </a:spcBef>
              <a:spcAft>
                <a:spcPts val="0"/>
              </a:spcAft>
              <a:buClr>
                <a:srgbClr val="B45309"/>
              </a:buClr>
              <a:buSzPts val="1100"/>
              <a:buFont typeface="Calibri"/>
              <a:buNone/>
            </a:pPr>
            <a:r>
              <a:rPr b="1" i="0" lang="en-US" sz="1100" u="none" cap="none" strike="noStrike">
                <a:solidFill>
                  <a:srgbClr val="B45309"/>
                </a:solidFill>
                <a:latin typeface="Calibri"/>
                <a:ea typeface="Calibri"/>
                <a:cs typeface="Calibri"/>
                <a:sym typeface="Calibri"/>
              </a:rPr>
              <a:t>[INSERT ACTUAL GATE 5 SCREENSHOT: PROBLEM TANK]</a:t>
            </a:r>
            <a:endParaRPr b="0" i="0" sz="1100" u="none" cap="none" strike="noStrike">
              <a:solidFill>
                <a:schemeClr val="dk1"/>
              </a:solidFill>
              <a:latin typeface="Calibri"/>
              <a:ea typeface="Calibri"/>
              <a:cs typeface="Calibri"/>
              <a:sym typeface="Calibri"/>
            </a:endParaRPr>
          </a:p>
        </p:txBody>
      </p:sp>
      <p:sp>
        <p:nvSpPr>
          <p:cNvPr id="501" name="Google Shape;501;p14"/>
          <p:cNvSpPr txBox="1"/>
          <p:nvPr/>
        </p:nvSpPr>
        <p:spPr>
          <a:xfrm>
            <a:off x="4291584" y="3154680"/>
            <a:ext cx="3605784"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1050"/>
              <a:buFont typeface="Calibri"/>
              <a:buNone/>
            </a:pPr>
            <a:r>
              <a:rPr b="0" i="0" lang="en-US" sz="1050" u="none" cap="none" strike="noStrike">
                <a:solidFill>
                  <a:srgbClr val="5B6573"/>
                </a:solidFill>
                <a:latin typeface="Calibri"/>
                <a:ea typeface="Calibri"/>
                <a:cs typeface="Calibri"/>
                <a:sym typeface="Calibri"/>
              </a:rPr>
              <a:t>Step 2: annotate with numbered callouts</a:t>
            </a:r>
            <a:endParaRPr b="0" i="0" sz="1050" u="none" cap="none" strike="noStrike">
              <a:solidFill>
                <a:schemeClr val="dk1"/>
              </a:solidFill>
              <a:latin typeface="Calibri"/>
              <a:ea typeface="Calibri"/>
              <a:cs typeface="Calibri"/>
              <a:sym typeface="Calibri"/>
            </a:endParaRPr>
          </a:p>
        </p:txBody>
      </p:sp>
      <p:sp>
        <p:nvSpPr>
          <p:cNvPr id="502" name="Google Shape;502;p14"/>
          <p:cNvSpPr txBox="1"/>
          <p:nvPr/>
        </p:nvSpPr>
        <p:spPr>
          <a:xfrm>
            <a:off x="8080248" y="1417320"/>
            <a:ext cx="3605784" cy="1691640"/>
          </a:xfrm>
          <a:prstGeom prst="rect">
            <a:avLst/>
          </a:prstGeom>
          <a:solidFill>
            <a:srgbClr val="FFFFFF"/>
          </a:solidFill>
          <a:ln cap="flat" cmpd="sng" w="12700">
            <a:solidFill>
              <a:srgbClr val="B45309"/>
            </a:solidFill>
            <a:prstDash val="dash"/>
            <a:round/>
            <a:headEnd len="sm" w="sm" type="none"/>
            <a:tailEnd len="sm" w="sm" type="none"/>
          </a:ln>
        </p:spPr>
        <p:txBody>
          <a:bodyPr anchorCtr="0" anchor="ctr" bIns="101600" lIns="101600" spcFirstLastPara="1" rIns="101600" wrap="square" tIns="101600">
            <a:noAutofit/>
          </a:bodyPr>
          <a:lstStyle/>
          <a:p>
            <a:pPr indent="0" lvl="0" marL="0" marR="0" rtl="0" algn="ctr">
              <a:spcBef>
                <a:spcPts val="0"/>
              </a:spcBef>
              <a:spcAft>
                <a:spcPts val="0"/>
              </a:spcAft>
              <a:buClr>
                <a:srgbClr val="B45309"/>
              </a:buClr>
              <a:buSzPts val="1100"/>
              <a:buFont typeface="Calibri"/>
              <a:buNone/>
            </a:pPr>
            <a:r>
              <a:rPr b="1" i="0" lang="en-US" sz="1100" u="none" cap="none" strike="noStrike">
                <a:solidFill>
                  <a:srgbClr val="B45309"/>
                </a:solidFill>
                <a:latin typeface="Calibri"/>
                <a:ea typeface="Calibri"/>
                <a:cs typeface="Calibri"/>
                <a:sym typeface="Calibri"/>
              </a:rPr>
              <a:t>[INSERT ACTUAL GATE 5 SCREENSHOT: ASSET CONDITION]</a:t>
            </a:r>
            <a:endParaRPr b="0" i="0" sz="1100" u="none" cap="none" strike="noStrike">
              <a:solidFill>
                <a:schemeClr val="dk1"/>
              </a:solidFill>
              <a:latin typeface="Calibri"/>
              <a:ea typeface="Calibri"/>
              <a:cs typeface="Calibri"/>
              <a:sym typeface="Calibri"/>
            </a:endParaRPr>
          </a:p>
        </p:txBody>
      </p:sp>
      <p:sp>
        <p:nvSpPr>
          <p:cNvPr id="503" name="Google Shape;503;p14"/>
          <p:cNvSpPr txBox="1"/>
          <p:nvPr/>
        </p:nvSpPr>
        <p:spPr>
          <a:xfrm>
            <a:off x="8080248" y="3154680"/>
            <a:ext cx="3605784"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1050"/>
              <a:buFont typeface="Calibri"/>
              <a:buNone/>
            </a:pPr>
            <a:r>
              <a:rPr b="0" i="0" lang="en-US" sz="1050" u="none" cap="none" strike="noStrike">
                <a:solidFill>
                  <a:srgbClr val="5B6573"/>
                </a:solidFill>
                <a:latin typeface="Calibri"/>
                <a:ea typeface="Calibri"/>
                <a:cs typeface="Calibri"/>
                <a:sym typeface="Calibri"/>
              </a:rPr>
              <a:t>Step 3: annotate with numbered callouts</a:t>
            </a:r>
            <a:endParaRPr b="0" i="0" sz="1050" u="none" cap="none" strike="noStrike">
              <a:solidFill>
                <a:schemeClr val="dk1"/>
              </a:solidFill>
              <a:latin typeface="Calibri"/>
              <a:ea typeface="Calibri"/>
              <a:cs typeface="Calibri"/>
              <a:sym typeface="Calibri"/>
            </a:endParaRPr>
          </a:p>
        </p:txBody>
      </p:sp>
      <p:sp>
        <p:nvSpPr>
          <p:cNvPr id="504" name="Google Shape;504;p14"/>
          <p:cNvSpPr txBox="1"/>
          <p:nvPr/>
        </p:nvSpPr>
        <p:spPr>
          <a:xfrm>
            <a:off x="502920" y="3520440"/>
            <a:ext cx="3605784" cy="1691640"/>
          </a:xfrm>
          <a:prstGeom prst="rect">
            <a:avLst/>
          </a:prstGeom>
          <a:solidFill>
            <a:srgbClr val="FFFFFF"/>
          </a:solidFill>
          <a:ln cap="flat" cmpd="sng" w="12700">
            <a:solidFill>
              <a:srgbClr val="B45309"/>
            </a:solidFill>
            <a:prstDash val="dash"/>
            <a:round/>
            <a:headEnd len="sm" w="sm" type="none"/>
            <a:tailEnd len="sm" w="sm" type="none"/>
          </a:ln>
        </p:spPr>
        <p:txBody>
          <a:bodyPr anchorCtr="0" anchor="ctr" bIns="101600" lIns="101600" spcFirstLastPara="1" rIns="101600" wrap="square" tIns="101600">
            <a:noAutofit/>
          </a:bodyPr>
          <a:lstStyle/>
          <a:p>
            <a:pPr indent="0" lvl="0" marL="0" marR="0" rtl="0" algn="ctr">
              <a:spcBef>
                <a:spcPts val="0"/>
              </a:spcBef>
              <a:spcAft>
                <a:spcPts val="0"/>
              </a:spcAft>
              <a:buClr>
                <a:srgbClr val="B45309"/>
              </a:buClr>
              <a:buSzPts val="1100"/>
              <a:buFont typeface="Calibri"/>
              <a:buNone/>
            </a:pPr>
            <a:r>
              <a:rPr b="1" i="0" lang="en-US" sz="1100" u="none" cap="none" strike="noStrike">
                <a:solidFill>
                  <a:srgbClr val="B45309"/>
                </a:solidFill>
                <a:latin typeface="Calibri"/>
                <a:ea typeface="Calibri"/>
                <a:cs typeface="Calibri"/>
                <a:sym typeface="Calibri"/>
              </a:rPr>
              <a:t>[INSERT ACTUAL GATE 5 SCREENSHOT: RCA INDICATION]</a:t>
            </a:r>
            <a:endParaRPr b="0" i="0" sz="1100" u="none" cap="none" strike="noStrike">
              <a:solidFill>
                <a:schemeClr val="dk1"/>
              </a:solidFill>
              <a:latin typeface="Calibri"/>
              <a:ea typeface="Calibri"/>
              <a:cs typeface="Calibri"/>
              <a:sym typeface="Calibri"/>
            </a:endParaRPr>
          </a:p>
        </p:txBody>
      </p:sp>
      <p:sp>
        <p:nvSpPr>
          <p:cNvPr id="505" name="Google Shape;505;p14"/>
          <p:cNvSpPr txBox="1"/>
          <p:nvPr/>
        </p:nvSpPr>
        <p:spPr>
          <a:xfrm>
            <a:off x="502920" y="5257800"/>
            <a:ext cx="3605784"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1050"/>
              <a:buFont typeface="Calibri"/>
              <a:buNone/>
            </a:pPr>
            <a:r>
              <a:rPr b="0" i="0" lang="en-US" sz="1050" u="none" cap="none" strike="noStrike">
                <a:solidFill>
                  <a:srgbClr val="5B6573"/>
                </a:solidFill>
                <a:latin typeface="Calibri"/>
                <a:ea typeface="Calibri"/>
                <a:cs typeface="Calibri"/>
                <a:sym typeface="Calibri"/>
              </a:rPr>
              <a:t>Step 4: annotate with numbered callouts</a:t>
            </a:r>
            <a:endParaRPr b="0" i="0" sz="1050" u="none" cap="none" strike="noStrike">
              <a:solidFill>
                <a:schemeClr val="dk1"/>
              </a:solidFill>
              <a:latin typeface="Calibri"/>
              <a:ea typeface="Calibri"/>
              <a:cs typeface="Calibri"/>
              <a:sym typeface="Calibri"/>
            </a:endParaRPr>
          </a:p>
        </p:txBody>
      </p:sp>
      <p:sp>
        <p:nvSpPr>
          <p:cNvPr id="506" name="Google Shape;506;p14"/>
          <p:cNvSpPr txBox="1"/>
          <p:nvPr/>
        </p:nvSpPr>
        <p:spPr>
          <a:xfrm>
            <a:off x="4291584" y="3520440"/>
            <a:ext cx="3605784" cy="1691640"/>
          </a:xfrm>
          <a:prstGeom prst="rect">
            <a:avLst/>
          </a:prstGeom>
          <a:solidFill>
            <a:srgbClr val="FFFFFF"/>
          </a:solidFill>
          <a:ln cap="flat" cmpd="sng" w="12700">
            <a:solidFill>
              <a:srgbClr val="B45309"/>
            </a:solidFill>
            <a:prstDash val="dash"/>
            <a:round/>
            <a:headEnd len="sm" w="sm" type="none"/>
            <a:tailEnd len="sm" w="sm" type="none"/>
          </a:ln>
        </p:spPr>
        <p:txBody>
          <a:bodyPr anchorCtr="0" anchor="ctr" bIns="101600" lIns="101600" spcFirstLastPara="1" rIns="101600" wrap="square" tIns="101600">
            <a:noAutofit/>
          </a:bodyPr>
          <a:lstStyle/>
          <a:p>
            <a:pPr indent="0" lvl="0" marL="0" marR="0" rtl="0" algn="ctr">
              <a:spcBef>
                <a:spcPts val="0"/>
              </a:spcBef>
              <a:spcAft>
                <a:spcPts val="0"/>
              </a:spcAft>
              <a:buClr>
                <a:srgbClr val="B45309"/>
              </a:buClr>
              <a:buSzPts val="1100"/>
              <a:buFont typeface="Calibri"/>
              <a:buNone/>
            </a:pPr>
            <a:r>
              <a:rPr b="1" i="0" lang="en-US" sz="1100" u="none" cap="none" strike="noStrike">
                <a:solidFill>
                  <a:srgbClr val="B45309"/>
                </a:solidFill>
                <a:latin typeface="Calibri"/>
                <a:ea typeface="Calibri"/>
                <a:cs typeface="Calibri"/>
                <a:sym typeface="Calibri"/>
              </a:rPr>
              <a:t>[INSERT ACTUAL GATE 5 SCREENSHOT: SIMILAR CASES]</a:t>
            </a:r>
            <a:endParaRPr b="0" i="0" sz="1100" u="none" cap="none" strike="noStrike">
              <a:solidFill>
                <a:schemeClr val="dk1"/>
              </a:solidFill>
              <a:latin typeface="Calibri"/>
              <a:ea typeface="Calibri"/>
              <a:cs typeface="Calibri"/>
              <a:sym typeface="Calibri"/>
            </a:endParaRPr>
          </a:p>
        </p:txBody>
      </p:sp>
      <p:sp>
        <p:nvSpPr>
          <p:cNvPr id="507" name="Google Shape;507;p14"/>
          <p:cNvSpPr txBox="1"/>
          <p:nvPr/>
        </p:nvSpPr>
        <p:spPr>
          <a:xfrm>
            <a:off x="4291584" y="5257800"/>
            <a:ext cx="3605784"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1050"/>
              <a:buFont typeface="Calibri"/>
              <a:buNone/>
            </a:pPr>
            <a:r>
              <a:rPr b="0" i="0" lang="en-US" sz="1050" u="none" cap="none" strike="noStrike">
                <a:solidFill>
                  <a:srgbClr val="5B6573"/>
                </a:solidFill>
                <a:latin typeface="Calibri"/>
                <a:ea typeface="Calibri"/>
                <a:cs typeface="Calibri"/>
                <a:sym typeface="Calibri"/>
              </a:rPr>
              <a:t>Step 5: annotate with numbered callouts</a:t>
            </a:r>
            <a:endParaRPr b="0" i="0" sz="1050" u="none" cap="none" strike="noStrike">
              <a:solidFill>
                <a:schemeClr val="dk1"/>
              </a:solidFill>
              <a:latin typeface="Calibri"/>
              <a:ea typeface="Calibri"/>
              <a:cs typeface="Calibri"/>
              <a:sym typeface="Calibri"/>
            </a:endParaRPr>
          </a:p>
        </p:txBody>
      </p:sp>
      <p:sp>
        <p:nvSpPr>
          <p:cNvPr id="508" name="Google Shape;508;p14"/>
          <p:cNvSpPr txBox="1"/>
          <p:nvPr/>
        </p:nvSpPr>
        <p:spPr>
          <a:xfrm>
            <a:off x="8080248" y="3520440"/>
            <a:ext cx="3605784" cy="1691640"/>
          </a:xfrm>
          <a:prstGeom prst="rect">
            <a:avLst/>
          </a:prstGeom>
          <a:solidFill>
            <a:srgbClr val="FFFFFF"/>
          </a:solidFill>
          <a:ln cap="flat" cmpd="sng" w="12700">
            <a:solidFill>
              <a:srgbClr val="B45309"/>
            </a:solidFill>
            <a:prstDash val="dash"/>
            <a:round/>
            <a:headEnd len="sm" w="sm" type="none"/>
            <a:tailEnd len="sm" w="sm" type="none"/>
          </a:ln>
        </p:spPr>
        <p:txBody>
          <a:bodyPr anchorCtr="0" anchor="ctr" bIns="101600" lIns="101600" spcFirstLastPara="1" rIns="101600" wrap="square" tIns="101600">
            <a:noAutofit/>
          </a:bodyPr>
          <a:lstStyle/>
          <a:p>
            <a:pPr indent="0" lvl="0" marL="0" marR="0" rtl="0" algn="ctr">
              <a:spcBef>
                <a:spcPts val="0"/>
              </a:spcBef>
              <a:spcAft>
                <a:spcPts val="0"/>
              </a:spcAft>
              <a:buClr>
                <a:srgbClr val="B45309"/>
              </a:buClr>
              <a:buSzPts val="1100"/>
              <a:buFont typeface="Calibri"/>
              <a:buNone/>
            </a:pPr>
            <a:r>
              <a:rPr b="1" i="0" lang="en-US" sz="1100" u="none" cap="none" strike="noStrike">
                <a:solidFill>
                  <a:srgbClr val="B45309"/>
                </a:solidFill>
                <a:latin typeface="Calibri"/>
                <a:ea typeface="Calibri"/>
                <a:cs typeface="Calibri"/>
                <a:sym typeface="Calibri"/>
              </a:rPr>
              <a:t>[INSERT ACTUAL GATE 5 SCREENSHOT: ACTION TRACKER AND VERIFICATION]</a:t>
            </a:r>
            <a:endParaRPr b="0" i="0" sz="1100" u="none" cap="none" strike="noStrike">
              <a:solidFill>
                <a:schemeClr val="dk1"/>
              </a:solidFill>
              <a:latin typeface="Calibri"/>
              <a:ea typeface="Calibri"/>
              <a:cs typeface="Calibri"/>
              <a:sym typeface="Calibri"/>
            </a:endParaRPr>
          </a:p>
        </p:txBody>
      </p:sp>
      <p:sp>
        <p:nvSpPr>
          <p:cNvPr id="509" name="Google Shape;509;p14"/>
          <p:cNvSpPr txBox="1"/>
          <p:nvPr/>
        </p:nvSpPr>
        <p:spPr>
          <a:xfrm>
            <a:off x="8080248" y="5257800"/>
            <a:ext cx="3605784"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1050"/>
              <a:buFont typeface="Calibri"/>
              <a:buNone/>
            </a:pPr>
            <a:r>
              <a:rPr b="0" i="0" lang="en-US" sz="1050" u="none" cap="none" strike="noStrike">
                <a:solidFill>
                  <a:srgbClr val="5B6573"/>
                </a:solidFill>
                <a:latin typeface="Calibri"/>
                <a:ea typeface="Calibri"/>
                <a:cs typeface="Calibri"/>
                <a:sym typeface="Calibri"/>
              </a:rPr>
              <a:t>Step 6: annotate with numbered callouts</a:t>
            </a:r>
            <a:endParaRPr b="0" i="0" sz="1050" u="none" cap="none" strike="noStrike">
              <a:solidFill>
                <a:schemeClr val="dk1"/>
              </a:solidFill>
              <a:latin typeface="Calibri"/>
              <a:ea typeface="Calibri"/>
              <a:cs typeface="Calibri"/>
              <a:sym typeface="Calibri"/>
            </a:endParaRPr>
          </a:p>
        </p:txBody>
      </p:sp>
      <p:sp>
        <p:nvSpPr>
          <p:cNvPr id="510" name="Google Shape;510;p14"/>
          <p:cNvSpPr txBox="1"/>
          <p:nvPr/>
        </p:nvSpPr>
        <p:spPr>
          <a:xfrm>
            <a:off x="502920" y="5669280"/>
            <a:ext cx="548640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1200"/>
              <a:buFont typeface="Calibri"/>
              <a:buNone/>
            </a:pPr>
            <a:r>
              <a:rPr b="0" i="0" lang="en-US" sz="1200" u="none" cap="none" strike="noStrike">
                <a:solidFill>
                  <a:srgbClr val="5B6573"/>
                </a:solidFill>
                <a:latin typeface="Calibri"/>
                <a:ea typeface="Calibri"/>
                <a:cs typeface="Calibri"/>
                <a:sym typeface="Calibri"/>
              </a:rPr>
              <a:t>Prototype  </a:t>
            </a:r>
            <a:r>
              <a:rPr b="1" i="0" lang="en-US" sz="1200" u="none" cap="none" strike="noStrike">
                <a:solidFill>
                  <a:srgbClr val="B45309"/>
                </a:solidFill>
                <a:latin typeface="Calibri"/>
                <a:ea typeface="Calibri"/>
                <a:cs typeface="Calibri"/>
                <a:sym typeface="Calibri"/>
              </a:rPr>
              <a:t>[TO FILL: URL]</a:t>
            </a:r>
            <a:endParaRPr b="0" i="0" sz="1200" u="none" cap="none" strike="noStrike">
              <a:solidFill>
                <a:schemeClr val="dk1"/>
              </a:solidFill>
              <a:latin typeface="Calibri"/>
              <a:ea typeface="Calibri"/>
              <a:cs typeface="Calibri"/>
              <a:sym typeface="Calibri"/>
            </a:endParaRPr>
          </a:p>
        </p:txBody>
      </p:sp>
      <p:sp>
        <p:nvSpPr>
          <p:cNvPr id="511" name="Google Shape;511;p14"/>
          <p:cNvSpPr txBox="1"/>
          <p:nvPr/>
        </p:nvSpPr>
        <p:spPr>
          <a:xfrm>
            <a:off x="502920" y="5961888"/>
            <a:ext cx="11183112"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850"/>
              <a:buFont typeface="Calibri"/>
              <a:buNone/>
            </a:pPr>
            <a:r>
              <a:rPr b="0" i="0" lang="en-US" sz="850" u="none" cap="none" strike="noStrike">
                <a:solidFill>
                  <a:srgbClr val="5B6573"/>
                </a:solidFill>
                <a:latin typeface="Calibri"/>
                <a:ea typeface="Calibri"/>
                <a:cs typeface="Calibri"/>
                <a:sym typeface="Calibri"/>
              </a:rPr>
              <a:t>Use actual screenshots from Atria's Gate 5 prototype only. Keep on-screen truth labels (OBSERVED, DERIVED, AI INDICATION, ILLUSTRATIVE) visible.</a:t>
            </a:r>
            <a:endParaRPr b="0" i="0" sz="850" u="none" cap="none" strike="noStrike">
              <a:solidFill>
                <a:schemeClr val="dk1"/>
              </a:solidFill>
              <a:latin typeface="Calibri"/>
              <a:ea typeface="Calibri"/>
              <a:cs typeface="Calibri"/>
              <a:sym typeface="Calibri"/>
            </a:endParaRPr>
          </a:p>
        </p:txBody>
      </p:sp>
      <p:sp>
        <p:nvSpPr>
          <p:cNvPr id="512" name="Google Shape;512;p14"/>
          <p:cNvSpPr txBox="1"/>
          <p:nvPr>
            <p:ph idx="4294967295" type="sldNum"/>
          </p:nvPr>
        </p:nvSpPr>
        <p:spPr>
          <a:xfrm>
            <a:off x="11228832" y="6473952"/>
            <a:ext cx="4572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5B6573"/>
                </a:solidFill>
                <a:latin typeface="Calibri"/>
                <a:ea typeface="Calibri"/>
                <a:cs typeface="Calibri"/>
                <a:sym typeface="Calibri"/>
              </a:rPr>
              <a:t>‹#›</a:t>
            </a:fld>
            <a:endParaRPr b="0" i="0" sz="900" u="none" cap="none" strike="noStrike">
              <a:solidFill>
                <a:srgbClr val="5B6573"/>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15"/>
          <p:cNvSpPr txBox="1"/>
          <p:nvPr/>
        </p:nvSpPr>
        <p:spPr>
          <a:xfrm>
            <a:off x="502920" y="146304"/>
            <a:ext cx="914400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9D3EA"/>
              </a:buClr>
              <a:buSzPts val="1000"/>
              <a:buFont typeface="Calibri"/>
              <a:buNone/>
            </a:pPr>
            <a:r>
              <a:rPr b="1" i="0" lang="en-US" sz="1000" u="none" cap="none" strike="noStrike">
                <a:solidFill>
                  <a:srgbClr val="C9D3EA"/>
                </a:solidFill>
                <a:latin typeface="Calibri"/>
                <a:ea typeface="Calibri"/>
                <a:cs typeface="Calibri"/>
                <a:sym typeface="Calibri"/>
              </a:rPr>
              <a:t>APPENDIX  |  SUPPORTING EVIDENCE, NOT PART OF THE 7-SLIDE DECK</a:t>
            </a:r>
            <a:endParaRPr b="0" i="0" sz="1000" u="none" cap="none" strike="noStrike">
              <a:solidFill>
                <a:schemeClr val="dk1"/>
              </a:solidFill>
              <a:latin typeface="Calibri"/>
              <a:ea typeface="Calibri"/>
              <a:cs typeface="Calibri"/>
              <a:sym typeface="Calibri"/>
            </a:endParaRPr>
          </a:p>
        </p:txBody>
      </p:sp>
      <p:sp>
        <p:nvSpPr>
          <p:cNvPr id="519" name="Google Shape;519;p15"/>
          <p:cNvSpPr txBox="1"/>
          <p:nvPr>
            <p:ph type="title"/>
          </p:nvPr>
        </p:nvSpPr>
        <p:spPr>
          <a:xfrm>
            <a:off x="502920" y="384048"/>
            <a:ext cx="11183112" cy="749808"/>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FFFFFF"/>
              </a:buClr>
              <a:buSzPts val="2400"/>
              <a:buFont typeface="Calibri"/>
              <a:buNone/>
            </a:pPr>
            <a:r>
              <a:rPr b="1" lang="en-US" sz="2400">
                <a:solidFill>
                  <a:srgbClr val="FFFFFF"/>
                </a:solidFill>
              </a:rPr>
              <a:t>A7  References</a:t>
            </a:r>
            <a:endParaRPr sz="2400"/>
          </a:p>
        </p:txBody>
      </p:sp>
      <p:cxnSp>
        <p:nvCxnSpPr>
          <p:cNvPr id="520" name="Google Shape;520;p15"/>
          <p:cNvCxnSpPr/>
          <p:nvPr/>
        </p:nvCxnSpPr>
        <p:spPr>
          <a:xfrm>
            <a:off x="502920" y="1463040"/>
            <a:ext cx="11183112" cy="0"/>
          </a:xfrm>
          <a:prstGeom prst="straightConnector1">
            <a:avLst/>
          </a:prstGeom>
          <a:noFill/>
          <a:ln cap="flat" cmpd="sng" w="9525">
            <a:solidFill>
              <a:srgbClr val="D3DAE4"/>
            </a:solidFill>
            <a:prstDash val="solid"/>
            <a:round/>
            <a:headEnd len="sm" w="sm" type="none"/>
            <a:tailEnd len="sm" w="sm" type="none"/>
          </a:ln>
        </p:spPr>
      </p:cxnSp>
      <p:sp>
        <p:nvSpPr>
          <p:cNvPr id="521" name="Google Shape;521;p15"/>
          <p:cNvSpPr txBox="1"/>
          <p:nvPr/>
        </p:nvSpPr>
        <p:spPr>
          <a:xfrm>
            <a:off x="502920" y="1536192"/>
            <a:ext cx="11183112"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92F7B"/>
              </a:buClr>
              <a:buSzPts val="1300"/>
              <a:buFont typeface="Calibri"/>
              <a:buNone/>
            </a:pPr>
            <a:r>
              <a:rPr b="1" i="0" lang="en-US" sz="1300" u="none" cap="none" strike="noStrike">
                <a:solidFill>
                  <a:srgbClr val="192F7B"/>
                </a:solidFill>
                <a:latin typeface="Calibri"/>
                <a:ea typeface="Calibri"/>
                <a:cs typeface="Calibri"/>
                <a:sym typeface="Calibri"/>
              </a:rPr>
              <a:t>[1]   </a:t>
            </a:r>
            <a:r>
              <a:rPr b="0" i="0" lang="en-US" sz="1300" u="none" cap="none" strike="noStrike">
                <a:solidFill>
                  <a:srgbClr val="1E2430"/>
                </a:solidFill>
                <a:latin typeface="Calibri"/>
                <a:ea typeface="Calibri"/>
                <a:cs typeface="Calibri"/>
                <a:sym typeface="Calibri"/>
              </a:rPr>
              <a:t>Chandra Asri Group. CALIBER 2026 Case Book and Registration Booklet, Case 2: Intelligent Manufacturing Dashboard.</a:t>
            </a:r>
            <a:endParaRPr b="0" i="0" sz="1300" u="none" cap="none" strike="noStrike">
              <a:solidFill>
                <a:schemeClr val="dk1"/>
              </a:solidFill>
              <a:latin typeface="Calibri"/>
              <a:ea typeface="Calibri"/>
              <a:cs typeface="Calibri"/>
              <a:sym typeface="Calibri"/>
            </a:endParaRPr>
          </a:p>
        </p:txBody>
      </p:sp>
      <p:cxnSp>
        <p:nvCxnSpPr>
          <p:cNvPr id="522" name="Google Shape;522;p15"/>
          <p:cNvCxnSpPr/>
          <p:nvPr/>
        </p:nvCxnSpPr>
        <p:spPr>
          <a:xfrm>
            <a:off x="502920" y="2066544"/>
            <a:ext cx="11183112" cy="0"/>
          </a:xfrm>
          <a:prstGeom prst="straightConnector1">
            <a:avLst/>
          </a:prstGeom>
          <a:noFill/>
          <a:ln cap="flat" cmpd="sng" w="9525">
            <a:solidFill>
              <a:srgbClr val="D3DAE4"/>
            </a:solidFill>
            <a:prstDash val="solid"/>
            <a:round/>
            <a:headEnd len="sm" w="sm" type="none"/>
            <a:tailEnd len="sm" w="sm" type="none"/>
          </a:ln>
        </p:spPr>
      </p:cxnSp>
      <p:sp>
        <p:nvSpPr>
          <p:cNvPr id="523" name="Google Shape;523;p15"/>
          <p:cNvSpPr txBox="1"/>
          <p:nvPr/>
        </p:nvSpPr>
        <p:spPr>
          <a:xfrm>
            <a:off x="502920" y="2139696"/>
            <a:ext cx="11183112"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92F7B"/>
              </a:buClr>
              <a:buSzPts val="1300"/>
              <a:buFont typeface="Calibri"/>
              <a:buNone/>
            </a:pPr>
            <a:r>
              <a:rPr b="1" i="0" lang="en-US" sz="1300" u="none" cap="none" strike="noStrike">
                <a:solidFill>
                  <a:srgbClr val="192F7B"/>
                </a:solidFill>
                <a:latin typeface="Calibri"/>
                <a:ea typeface="Calibri"/>
                <a:cs typeface="Calibri"/>
                <a:sym typeface="Calibri"/>
              </a:rPr>
              <a:t>[2]   </a:t>
            </a:r>
            <a:r>
              <a:rPr b="0" i="0" lang="en-US" sz="1300" u="none" cap="none" strike="noStrike">
                <a:solidFill>
                  <a:srgbClr val="1E2430"/>
                </a:solidFill>
                <a:latin typeface="Calibri"/>
                <a:ea typeface="Calibri"/>
                <a:cs typeface="Calibri"/>
                <a:sym typeface="Calibri"/>
              </a:rPr>
              <a:t>CALIBER 2026 Case 2 datasets: Incident Database; Production Data (hourly); Equipment Performance (weekly); RCA and CAPA/PAA reports for PU-2101B, KO-3201, PM-4405B, HE-3301, BL-5702.</a:t>
            </a:r>
            <a:endParaRPr b="0" i="0" sz="1300" u="none" cap="none" strike="noStrike">
              <a:solidFill>
                <a:schemeClr val="dk1"/>
              </a:solidFill>
              <a:latin typeface="Calibri"/>
              <a:ea typeface="Calibri"/>
              <a:cs typeface="Calibri"/>
              <a:sym typeface="Calibri"/>
            </a:endParaRPr>
          </a:p>
        </p:txBody>
      </p:sp>
      <p:cxnSp>
        <p:nvCxnSpPr>
          <p:cNvPr id="524" name="Google Shape;524;p15"/>
          <p:cNvCxnSpPr/>
          <p:nvPr/>
        </p:nvCxnSpPr>
        <p:spPr>
          <a:xfrm>
            <a:off x="502920" y="2670048"/>
            <a:ext cx="11183112" cy="0"/>
          </a:xfrm>
          <a:prstGeom prst="straightConnector1">
            <a:avLst/>
          </a:prstGeom>
          <a:noFill/>
          <a:ln cap="flat" cmpd="sng" w="9525">
            <a:solidFill>
              <a:srgbClr val="D3DAE4"/>
            </a:solidFill>
            <a:prstDash val="solid"/>
            <a:round/>
            <a:headEnd len="sm" w="sm" type="none"/>
            <a:tailEnd len="sm" w="sm" type="none"/>
          </a:ln>
        </p:spPr>
      </p:cxnSp>
      <p:sp>
        <p:nvSpPr>
          <p:cNvPr id="525" name="Google Shape;525;p15"/>
          <p:cNvSpPr txBox="1"/>
          <p:nvPr/>
        </p:nvSpPr>
        <p:spPr>
          <a:xfrm>
            <a:off x="502920" y="2743200"/>
            <a:ext cx="11183112"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92F7B"/>
              </a:buClr>
              <a:buSzPts val="1300"/>
              <a:buFont typeface="Calibri"/>
              <a:buNone/>
            </a:pPr>
            <a:r>
              <a:rPr b="1" i="0" lang="en-US" sz="1300" u="none" cap="none" strike="noStrike">
                <a:solidFill>
                  <a:srgbClr val="192F7B"/>
                </a:solidFill>
                <a:latin typeface="Calibri"/>
                <a:ea typeface="Calibri"/>
                <a:cs typeface="Calibri"/>
                <a:sym typeface="Calibri"/>
              </a:rPr>
              <a:t>[3]   </a:t>
            </a:r>
            <a:r>
              <a:rPr b="0" i="0" lang="en-US" sz="1300" u="none" cap="none" strike="noStrike">
                <a:solidFill>
                  <a:srgbClr val="1E2430"/>
                </a:solidFill>
                <a:latin typeface="Calibri"/>
                <a:ea typeface="Calibri"/>
                <a:cs typeface="Calibri"/>
                <a:sym typeface="Calibri"/>
              </a:rPr>
              <a:t>NIST. SP 800-82 Rev. 3, Guide to Operational Technology (OT) Security, September 2023. csrc.nist.gov/pubs/sp/800/82/r3/final</a:t>
            </a:r>
            <a:endParaRPr b="0" i="0" sz="1300" u="none" cap="none" strike="noStrike">
              <a:solidFill>
                <a:schemeClr val="dk1"/>
              </a:solidFill>
              <a:latin typeface="Calibri"/>
              <a:ea typeface="Calibri"/>
              <a:cs typeface="Calibri"/>
              <a:sym typeface="Calibri"/>
            </a:endParaRPr>
          </a:p>
        </p:txBody>
      </p:sp>
      <p:cxnSp>
        <p:nvCxnSpPr>
          <p:cNvPr id="526" name="Google Shape;526;p15"/>
          <p:cNvCxnSpPr/>
          <p:nvPr/>
        </p:nvCxnSpPr>
        <p:spPr>
          <a:xfrm>
            <a:off x="502920" y="3273552"/>
            <a:ext cx="11183112" cy="0"/>
          </a:xfrm>
          <a:prstGeom prst="straightConnector1">
            <a:avLst/>
          </a:prstGeom>
          <a:noFill/>
          <a:ln cap="flat" cmpd="sng" w="9525">
            <a:solidFill>
              <a:srgbClr val="D3DAE4"/>
            </a:solidFill>
            <a:prstDash val="solid"/>
            <a:round/>
            <a:headEnd len="sm" w="sm" type="none"/>
            <a:tailEnd len="sm" w="sm" type="none"/>
          </a:ln>
        </p:spPr>
      </p:cxnSp>
      <p:sp>
        <p:nvSpPr>
          <p:cNvPr id="527" name="Google Shape;527;p15"/>
          <p:cNvSpPr txBox="1"/>
          <p:nvPr/>
        </p:nvSpPr>
        <p:spPr>
          <a:xfrm>
            <a:off x="502920" y="3346704"/>
            <a:ext cx="11183112"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92F7B"/>
              </a:buClr>
              <a:buSzPts val="1300"/>
              <a:buFont typeface="Calibri"/>
              <a:buNone/>
            </a:pPr>
            <a:r>
              <a:rPr b="1" i="0" lang="en-US" sz="1300" u="none" cap="none" strike="noStrike">
                <a:solidFill>
                  <a:srgbClr val="192F7B"/>
                </a:solidFill>
                <a:latin typeface="Calibri"/>
                <a:ea typeface="Calibri"/>
                <a:cs typeface="Calibri"/>
                <a:sym typeface="Calibri"/>
              </a:rPr>
              <a:t>[4]   </a:t>
            </a:r>
            <a:r>
              <a:rPr b="0" i="0" lang="en-US" sz="1300" u="none" cap="none" strike="noStrike">
                <a:solidFill>
                  <a:srgbClr val="1E2430"/>
                </a:solidFill>
                <a:latin typeface="Calibri"/>
                <a:ea typeface="Calibri"/>
                <a:cs typeface="Calibri"/>
                <a:sym typeface="Calibri"/>
              </a:rPr>
              <a:t>ISA/IEC 62443 zones and conduits, as summarized in Cisco, "ISA/IEC-62443-3-3: What is it and how to comply?" cisco.com</a:t>
            </a:r>
            <a:endParaRPr b="0" i="0" sz="1300" u="none" cap="none" strike="noStrike">
              <a:solidFill>
                <a:schemeClr val="dk1"/>
              </a:solidFill>
              <a:latin typeface="Calibri"/>
              <a:ea typeface="Calibri"/>
              <a:cs typeface="Calibri"/>
              <a:sym typeface="Calibri"/>
            </a:endParaRPr>
          </a:p>
        </p:txBody>
      </p:sp>
      <p:cxnSp>
        <p:nvCxnSpPr>
          <p:cNvPr id="528" name="Google Shape;528;p15"/>
          <p:cNvCxnSpPr/>
          <p:nvPr/>
        </p:nvCxnSpPr>
        <p:spPr>
          <a:xfrm>
            <a:off x="502920" y="3877056"/>
            <a:ext cx="11183112" cy="0"/>
          </a:xfrm>
          <a:prstGeom prst="straightConnector1">
            <a:avLst/>
          </a:prstGeom>
          <a:noFill/>
          <a:ln cap="flat" cmpd="sng" w="9525">
            <a:solidFill>
              <a:srgbClr val="D3DAE4"/>
            </a:solidFill>
            <a:prstDash val="solid"/>
            <a:round/>
            <a:headEnd len="sm" w="sm" type="none"/>
            <a:tailEnd len="sm" w="sm" type="none"/>
          </a:ln>
        </p:spPr>
      </p:cxnSp>
      <p:sp>
        <p:nvSpPr>
          <p:cNvPr id="529" name="Google Shape;529;p15"/>
          <p:cNvSpPr txBox="1"/>
          <p:nvPr/>
        </p:nvSpPr>
        <p:spPr>
          <a:xfrm>
            <a:off x="502920" y="3950208"/>
            <a:ext cx="11183112"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92F7B"/>
              </a:buClr>
              <a:buSzPts val="1300"/>
              <a:buFont typeface="Calibri"/>
              <a:buNone/>
            </a:pPr>
            <a:r>
              <a:rPr b="1" i="0" lang="en-US" sz="1300" u="none" cap="none" strike="noStrike">
                <a:solidFill>
                  <a:srgbClr val="192F7B"/>
                </a:solidFill>
                <a:latin typeface="Calibri"/>
                <a:ea typeface="Calibri"/>
                <a:cs typeface="Calibri"/>
                <a:sym typeface="Calibri"/>
              </a:rPr>
              <a:t>[5]   </a:t>
            </a:r>
            <a:r>
              <a:rPr b="0" i="0" lang="en-US" sz="1300" u="none" cap="none" strike="noStrike">
                <a:solidFill>
                  <a:srgbClr val="1E2430"/>
                </a:solidFill>
                <a:latin typeface="Calibri"/>
                <a:ea typeface="Calibri"/>
                <a:cs typeface="Calibri"/>
                <a:sym typeface="Calibri"/>
              </a:rPr>
              <a:t>ISA-18.2 alarm definition, as quoted in exida, "To Be an Alarm… Or Not to Be?" exida.com/blog</a:t>
            </a:r>
            <a:endParaRPr b="0" i="0" sz="1300" u="none" cap="none" strike="noStrike">
              <a:solidFill>
                <a:schemeClr val="dk1"/>
              </a:solidFill>
              <a:latin typeface="Calibri"/>
              <a:ea typeface="Calibri"/>
              <a:cs typeface="Calibri"/>
              <a:sym typeface="Calibri"/>
            </a:endParaRPr>
          </a:p>
        </p:txBody>
      </p:sp>
      <p:cxnSp>
        <p:nvCxnSpPr>
          <p:cNvPr id="530" name="Google Shape;530;p15"/>
          <p:cNvCxnSpPr/>
          <p:nvPr/>
        </p:nvCxnSpPr>
        <p:spPr>
          <a:xfrm>
            <a:off x="502920" y="4480560"/>
            <a:ext cx="11183112" cy="0"/>
          </a:xfrm>
          <a:prstGeom prst="straightConnector1">
            <a:avLst/>
          </a:prstGeom>
          <a:noFill/>
          <a:ln cap="flat" cmpd="sng" w="9525">
            <a:solidFill>
              <a:srgbClr val="D3DAE4"/>
            </a:solidFill>
            <a:prstDash val="solid"/>
            <a:round/>
            <a:headEnd len="sm" w="sm" type="none"/>
            <a:tailEnd len="sm" w="sm" type="none"/>
          </a:ln>
        </p:spPr>
      </p:cxnSp>
      <p:sp>
        <p:nvSpPr>
          <p:cNvPr id="531" name="Google Shape;531;p15"/>
          <p:cNvSpPr txBox="1"/>
          <p:nvPr/>
        </p:nvSpPr>
        <p:spPr>
          <a:xfrm>
            <a:off x="502920" y="4553712"/>
            <a:ext cx="11183112"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92F7B"/>
              </a:buClr>
              <a:buSzPts val="1300"/>
              <a:buFont typeface="Calibri"/>
              <a:buNone/>
            </a:pPr>
            <a:r>
              <a:rPr b="1" i="0" lang="en-US" sz="1300" u="none" cap="none" strike="noStrike">
                <a:solidFill>
                  <a:srgbClr val="192F7B"/>
                </a:solidFill>
                <a:latin typeface="Calibri"/>
                <a:ea typeface="Calibri"/>
                <a:cs typeface="Calibri"/>
                <a:sym typeface="Calibri"/>
              </a:rPr>
              <a:t>[6]   </a:t>
            </a:r>
            <a:r>
              <a:rPr b="0" i="0" lang="en-US" sz="1300" u="none" cap="none" strike="noStrike">
                <a:solidFill>
                  <a:srgbClr val="1E2430"/>
                </a:solidFill>
                <a:latin typeface="Calibri"/>
                <a:ea typeface="Calibri"/>
                <a:cs typeface="Calibri"/>
                <a:sym typeface="Calibri"/>
              </a:rPr>
              <a:t>Republic of Indonesia. Law No. 27 of 2022 on Personal Data Protection.</a:t>
            </a:r>
            <a:endParaRPr b="0" i="0" sz="1300" u="none" cap="none" strike="noStrike">
              <a:solidFill>
                <a:schemeClr val="dk1"/>
              </a:solidFill>
              <a:latin typeface="Calibri"/>
              <a:ea typeface="Calibri"/>
              <a:cs typeface="Calibri"/>
              <a:sym typeface="Calibri"/>
            </a:endParaRPr>
          </a:p>
        </p:txBody>
      </p:sp>
      <p:cxnSp>
        <p:nvCxnSpPr>
          <p:cNvPr id="532" name="Google Shape;532;p15"/>
          <p:cNvCxnSpPr/>
          <p:nvPr/>
        </p:nvCxnSpPr>
        <p:spPr>
          <a:xfrm>
            <a:off x="502920" y="5084064"/>
            <a:ext cx="11183112" cy="0"/>
          </a:xfrm>
          <a:prstGeom prst="straightConnector1">
            <a:avLst/>
          </a:prstGeom>
          <a:noFill/>
          <a:ln cap="flat" cmpd="sng" w="9525">
            <a:solidFill>
              <a:srgbClr val="D3DAE4"/>
            </a:solidFill>
            <a:prstDash val="solid"/>
            <a:round/>
            <a:headEnd len="sm" w="sm" type="none"/>
            <a:tailEnd len="sm" w="sm" type="none"/>
          </a:ln>
        </p:spPr>
      </p:cxnSp>
      <p:sp>
        <p:nvSpPr>
          <p:cNvPr id="533" name="Google Shape;533;p15"/>
          <p:cNvSpPr txBox="1"/>
          <p:nvPr/>
        </p:nvSpPr>
        <p:spPr>
          <a:xfrm>
            <a:off x="502920" y="5157216"/>
            <a:ext cx="11183112"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92F7B"/>
              </a:buClr>
              <a:buSzPts val="1300"/>
              <a:buFont typeface="Calibri"/>
              <a:buNone/>
            </a:pPr>
            <a:r>
              <a:rPr b="1" i="0" lang="en-US" sz="1300" u="none" cap="none" strike="noStrike">
                <a:solidFill>
                  <a:srgbClr val="192F7B"/>
                </a:solidFill>
                <a:latin typeface="Calibri"/>
                <a:ea typeface="Calibri"/>
                <a:cs typeface="Calibri"/>
                <a:sym typeface="Calibri"/>
              </a:rPr>
              <a:t>[7]   </a:t>
            </a:r>
            <a:r>
              <a:rPr b="0" i="0" lang="en-US" sz="1300" u="none" cap="none" strike="noStrike">
                <a:solidFill>
                  <a:srgbClr val="1E2430"/>
                </a:solidFill>
                <a:latin typeface="Calibri"/>
                <a:ea typeface="Calibri"/>
                <a:cs typeface="Calibri"/>
                <a:sym typeface="Calibri"/>
              </a:rPr>
              <a:t>Team AETHER. Gate 0 to Gate 6 working documents and evidence ledger (internal).</a:t>
            </a:r>
            <a:endParaRPr b="0" i="0" sz="1300" u="none" cap="none" strike="noStrike">
              <a:solidFill>
                <a:schemeClr val="dk1"/>
              </a:solidFill>
              <a:latin typeface="Calibri"/>
              <a:ea typeface="Calibri"/>
              <a:cs typeface="Calibri"/>
              <a:sym typeface="Calibri"/>
            </a:endParaRPr>
          </a:p>
        </p:txBody>
      </p:sp>
      <p:sp>
        <p:nvSpPr>
          <p:cNvPr id="534" name="Google Shape;534;p15"/>
          <p:cNvSpPr txBox="1"/>
          <p:nvPr>
            <p:ph idx="4294967295" type="sldNum"/>
          </p:nvPr>
        </p:nvSpPr>
        <p:spPr>
          <a:xfrm>
            <a:off x="11228832" y="6473952"/>
            <a:ext cx="4572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5B6573"/>
                </a:solidFill>
                <a:latin typeface="Calibri"/>
                <a:ea typeface="Calibri"/>
                <a:cs typeface="Calibri"/>
                <a:sym typeface="Calibri"/>
              </a:rPr>
              <a:t>‹#›</a:t>
            </a:fld>
            <a:endParaRPr b="0" i="0" sz="900" u="none" cap="none" strike="noStrike">
              <a:solidFill>
                <a:srgbClr val="5B6573"/>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AETHER Industrial Case">
  <a:themeElements>
    <a:clrScheme name="AETHER Industrial Case">
      <a:dk1>
        <a:srgbClr val="1E2430"/>
      </a:dk1>
      <a:lt1>
        <a:srgbClr val="FFFFFF"/>
      </a:lt1>
      <a:dk2>
        <a:srgbClr val="192F7B"/>
      </a:dk2>
      <a:lt2>
        <a:srgbClr val="F4F6F9"/>
      </a:lt2>
      <a:accent1>
        <a:srgbClr val="192F7B"/>
      </a:accent1>
      <a:accent2>
        <a:srgbClr val="3D6BB3"/>
      </a:accent2>
      <a:accent3>
        <a:srgbClr val="23845A"/>
      </a:accent3>
      <a:accent4>
        <a:srgbClr val="5B6573"/>
      </a:accent4>
      <a:accent5>
        <a:srgbClr val="D98E04"/>
      </a:accent5>
      <a:accent6>
        <a:srgbClr val="B42318"/>
      </a:accent6>
      <a:hlink>
        <a:srgbClr val="192F7B"/>
      </a:hlink>
      <a:folHlink>
        <a:srgbClr val="5B657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ETHER Industrial Case">
  <a:themeElements>
    <a:clrScheme name="AETHER Industrial Case">
      <a:dk1>
        <a:srgbClr val="1E2430"/>
      </a:dk1>
      <a:lt1>
        <a:srgbClr val="FFFFFF"/>
      </a:lt1>
      <a:dk2>
        <a:srgbClr val="192F7B"/>
      </a:dk2>
      <a:lt2>
        <a:srgbClr val="F4F6F9"/>
      </a:lt2>
      <a:accent1>
        <a:srgbClr val="192F7B"/>
      </a:accent1>
      <a:accent2>
        <a:srgbClr val="3D6BB3"/>
      </a:accent2>
      <a:accent3>
        <a:srgbClr val="23845A"/>
      </a:accent3>
      <a:accent4>
        <a:srgbClr val="5B6573"/>
      </a:accent4>
      <a:accent5>
        <a:srgbClr val="D98E04"/>
      </a:accent5>
      <a:accent6>
        <a:srgbClr val="B42318"/>
      </a:accent6>
      <a:hlink>
        <a:srgbClr val="192F7B"/>
      </a:hlink>
      <a:folHlink>
        <a:srgbClr val="5B657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2026-10-03T13:38:41Z</dcterms:created>
  <dc:creator>Team AETHER</dc:creator>
</cp:coreProperties>
</file>